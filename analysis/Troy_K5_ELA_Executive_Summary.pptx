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Troy SD K-5 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CCDDEE"/>
                </a:solidFill>
                <a:latin typeface="Calibri"/>
              </a:rPr>
              <a:t>The Quantitative Case for Curriculum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118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AABBCC"/>
                </a:solidFill>
                <a:latin typeface="Calibri"/>
              </a:rPr>
              <a:t>Pressure-testing Collaborative Literacy + UFLI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22860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Executive Summary — Citations + 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406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Prepared May 2026  •  50-district national benchmark  •  2009-2025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8AACC"/>
                </a:solidFill>
                <a:latin typeface="Calibri"/>
              </a:rPr>
              <a:t>Repo: github.com/akarpo/tsd-k5ela-choice    Live: tsd-k5ela-choice.karpowitsch.org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question — and the one-line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Three independent pieces of evidence converge on the same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07070"/>
                </a:solidFill>
                <a:latin typeface="Calibri"/>
              </a:rPr>
              <a:t>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333333"/>
                </a:solidFill>
                <a:latin typeface="Calibri"/>
              </a:rPr>
              <a:t>Is Collaborative Literacy 3rd Ed. + UFLI Foundations the right K-5 ELA choice for Troy's balanced-literacy → Science of Reading transition?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2121"/>
                </a:solidFill>
                <a:latin typeface="Calibri"/>
              </a:rPr>
              <a:t>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B02121"/>
                </a:solidFill>
                <a:latin typeface="Calibri"/>
              </a:rPr>
              <a:t>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6974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The evidence converges from three independent directions: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11880"/>
            <a:ext cx="3703320" cy="2788920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611880"/>
            <a:ext cx="3703320" cy="54864"/>
          </a:xfrm>
          <a:prstGeom prst="rect">
            <a:avLst/>
          </a:prstGeom>
          <a:solidFill>
            <a:srgbClr val="B0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B02121"/>
                </a:solidFill>
                <a:latin typeface="Calibri"/>
              </a:rPr>
              <a:t>0 of 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333333"/>
                </a:solidFill>
                <a:latin typeface="Calibri"/>
              </a:rPr>
              <a:t>outperformer + peer districts¹ use Collaborative Literacy as their K-5 core.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5532120"/>
            <a:ext cx="2423160" cy="22860"/>
          </a:xfrm>
          <a:prstGeom prst="rect">
            <a:avLst/>
          </a:prstGeom>
          <a:solidFill>
            <a:srgbClr val="B0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62356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333333"/>
                </a:solidFill>
                <a:latin typeface="Calibri"/>
              </a:rPr>
              <a:t>There is no national precedent for the combination Troy is considering.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3611880"/>
            <a:ext cx="3703320" cy="278892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3611880"/>
            <a:ext cx="3703320" cy="5486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794760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1F7A3D"/>
                </a:solidFill>
                <a:latin typeface="Calibri"/>
              </a:rPr>
              <a:t>19 of 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75488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Calibri"/>
              </a:rPr>
              <a:t>Education Scorecard 2026³ ELA-relevant outperformer districts run, supplement, or are transitioning to SoR-aligned curricula.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92040" y="5532120"/>
            <a:ext cx="2423160" cy="2286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562356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Demographic-adjusted gain methodology — Harvard, Stanford, Dartmouth.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Only Wayne County NC stayed in pure balanced literacy.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28431" y="3611880"/>
            <a:ext cx="3703320" cy="278892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28431" y="3611880"/>
            <a:ext cx="3703320" cy="5486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1" y="3794760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1F7A3D"/>
                </a:solidFill>
                <a:latin typeface="Calibri"/>
              </a:rPr>
              <a:t>3 of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1" y="475488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Calibri"/>
              </a:rPr>
              <a:t>of Troy's stronger alternatives have named district adoptions with recovery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68511" y="5532120"/>
            <a:ext cx="2423160" cy="2286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1" y="562356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Amplify CKLA — Marion Co KY³⁰, Fond du Lac WI³³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EL Education — Detroit DPSCD⁴²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Wit &amp; Wisdom — W. Baton Rouge³⁷, Baltimore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First, the honest pre-COVID picture — Troy gained on aggregate, but subgroups were uneven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SEDA cohort-standardized scale (cs): NAEP-anchored grade-level units. +1.0 = one grade above national norm.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Why this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Any argument for change has to start by acknowledging what's true: pre-COVID, Troy was healthy on the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only metric that compares across state tests fairly¹⁻². Calkins UoS didn't break Troy historically.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Pretending otherwise undermines the credibility of the post-COVID case (which IS strong).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5486400" cy="384048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7A3D"/>
                </a:solidFill>
                <a:latin typeface="Calibri"/>
              </a:rPr>
              <a:t>Troy SD 2009 → 2019 on SEDA cs scale²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•  All Students:      +0.486 → +0.747   (+0.26)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•  Asian:             +0.712 → +1.063   (+0.35)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•  White:             +0.450 → +0.609   (+0.16)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•  Black:             −0.070 → −0.160   (−0.09)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•  Hispanic*:         +0.340 → +0.033   (−0.31)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•  Econ Disadv:       −0.210 → +0.078   (+0.29)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•  Not-Econ Disadv:   +0.552 → +0.853   (+0.30)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* Hispanic suppressed pre-2011 (N&lt;10); baseline is 2011.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4924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  <a:latin typeface="Calibri"/>
              </a:rPr>
              <a:t>Aggregate gains went to Asian, White, Not-ECD, and EconDis subgroups. Black + Hispanic subgroups stagnated or slipped slightly — the pre-COVID story was uneven.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377440"/>
            <a:ext cx="5486400" cy="38404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5146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What this rules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80360"/>
            <a:ext cx="51206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•  "Calkins UoS has been failing Troy for a decade."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    Mostly false. Aggregate + affluent gains 2009-2019.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    (Caveat: Black + Hispanic subgroups stagnated.)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•  "This is a long-running trend that COVID exposed."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    False. 2019 was Troy's peak on the aggregate scale.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•  "Troy was on a declining trajectory."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    False. Troy outperformed every MI affluent peer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    on aggregate 2009-2019.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The case for change is NOT retrospective.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The collapse is post-COVID (2019→2025) — and it hit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every subgroup.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post-COVID collapse is the real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Troy's 2019 peak was +0.747. By 2025: +0.387. Lost 16 years of slow gains in 3 years.</a:t>
            </a:r>
          </a:p>
        </p:txBody>
      </p:sp>
      <p:pic>
        <p:nvPicPr>
          <p:cNvPr id="5" name="Picture 4" descr="chart10_troy_2009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7772400" cy="418513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960120"/>
            <a:ext cx="3566160" cy="2697480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05156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02121"/>
                </a:solidFill>
                <a:latin typeface="Calibri"/>
              </a:rPr>
              <a:t>From 2019 peak to 2025¹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371600"/>
            <a:ext cx="32918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All Students    −0.36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Asian           −0.46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White           −0.29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Not-ECD         −0.37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EconDis         −0.25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Black           −0.15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Hispanic        +0.08 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74320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707070"/>
                </a:solidFill>
                <a:latin typeface="Calibri"/>
              </a:rPr>
              <a:t>(grade-level units)</a:t>
            </a:r>
          </a:p>
          <a:p>
            <a:pPr algn="l"/>
            <a:r>
              <a:rPr sz="950" b="0" i="1">
                <a:solidFill>
                  <a:srgbClr val="707070"/>
                </a:solidFill>
                <a:latin typeface="Calibri"/>
              </a:rPr>
              <a:t>† small-N subgroup (~3-4% of Troy)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3749039"/>
            <a:ext cx="3566160" cy="242316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38404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Four straight years of decline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4160520"/>
            <a:ext cx="329184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2022:  +0.605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2023:  +0.526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2024:  +0.390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2025:  +0.387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The 2025 Troy score (+0.387) is BELOW Troy's 2009 score (+0.486).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Sixteen years of slow gains erased in three years — and recovery has not started.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Of 50 demographically-comparable + outperformer districts, Troy ranks 47 of 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Pre-COVID (2017-19 mean) vs Post-COVID (2022-25 mean) on SEDA cohort-standardized RLA scale</a:t>
            </a:r>
          </a:p>
        </p:txBody>
      </p:sp>
      <p:pic>
        <p:nvPicPr>
          <p:cNvPr id="5" name="Picture 4" descr="chart11_seda_pre_post_cov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7498079" cy="539443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046720" y="914400"/>
            <a:ext cx="3931920" cy="54864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1051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02121"/>
                </a:solidFill>
                <a:latin typeface="Calibri"/>
              </a:rPr>
              <a:t>Bottom 5 districts (Δ pre→post)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41732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48  Sikeston R-6         −0.275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47  Detroit DPSCD        −0.259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46  Troy SD              −0.253  ◄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45  Bethlehem Area SD    −0.246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44  West Bloomfield      −0.243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788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7A3D"/>
                </a:solidFill>
                <a:latin typeface="Calibri"/>
              </a:rPr>
              <a:t>Top 5 districts (Δ pre→post)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315468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1  Spring Branch ISD    +0.284  (TX STR³⁶)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2  Palo Alto USD        +0.132  (ESRI³⁵)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3  West Baton Rouge     +0.132  (W&amp;W³⁷)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4  Johnson City TN      +0.121  (TN HQIM³⁹)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5  Frisco ISD           +0.097  (BL)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45720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4937760"/>
            <a:ext cx="3657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Districts that GAINED post-COVID all run structured-literacy cores.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Districts at the bottom either (a) face severe poverty headwinds (Sikeston, Detroit) or (b) are affluent BL districts (Troy, West Bloomfield).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comprehensive view — every district, every curriculum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Curriculum alone doesn't determine recovery. But magnitude of gain correlates with structured literacy.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8686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Of 49 districts with sufficient pre/post-COVID data¹: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13 gained on the SEDA scale  •  36 declined  •  Many SoR-adopters also declined — recovery is not automatic.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65960"/>
            <a:ext cx="3703320" cy="416052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3703320" cy="41148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39112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Big gain   (Δ ≥ +0.10)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F7A3D"/>
                </a:solidFill>
                <a:latin typeface="Calibri"/>
              </a:rPr>
              <a:t>4 districts — ALL 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26080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Spring Branch ISD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92608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+0.284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926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7A3D"/>
                </a:solidFill>
                <a:latin typeface="Calibri"/>
              </a:rPr>
              <a:t>TX STR³⁶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63824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Palo Alto USD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163824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+0.132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16382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7A3D"/>
                </a:solidFill>
                <a:latin typeface="Calibri"/>
              </a:rPr>
              <a:t>ESRI³⁵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01568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West Baton Rouge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401568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+0.132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40156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7A3D"/>
                </a:solidFill>
                <a:latin typeface="Calibri"/>
              </a:rPr>
              <a:t>W&amp;W³⁷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39312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Johnson City TN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639312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+0.121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36393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7A3D"/>
                </a:solidFill>
                <a:latin typeface="Calibri"/>
              </a:rPr>
              <a:t>TN HQIM³⁹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074920"/>
            <a:ext cx="3337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100% of districts in this tier run structured-literacy programs.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Next-strongest gainer outside this tier: Frisco ISD (TX, BL) at +0.097.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1965960"/>
            <a:ext cx="3703320" cy="416052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60" y="1965960"/>
            <a:ext cx="3703320" cy="411480"/>
          </a:xfrm>
          <a:prstGeom prst="rect">
            <a:avLst/>
          </a:prstGeom>
          <a:solidFill>
            <a:srgbClr val="CC6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2039112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Moderate gain   (+0.05 to +0.10)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246888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CC6A11"/>
                </a:solidFill>
                <a:latin typeface="Calibri"/>
              </a:rPr>
              <a:t>6 districts — mixed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2926080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Frisco ISD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292608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+0.097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926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6A11"/>
                </a:solidFill>
                <a:latin typeface="Calibri"/>
              </a:rPr>
              <a:t>BL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3163824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Milpitas USD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163824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+0.090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16382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6A11"/>
                </a:solidFill>
                <a:latin typeface="Calibri"/>
              </a:rPr>
              <a:t>Benchmark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3401568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Issaquah SD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3401568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+0.087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40156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6A11"/>
                </a:solidFill>
                <a:latin typeface="Calibri"/>
              </a:rPr>
              <a:t>Benchmark '24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3639312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Dublin USD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3639312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+0.084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36393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6A11"/>
                </a:solidFill>
                <a:latin typeface="Calibri"/>
              </a:rPr>
              <a:t>Bench+Heggerty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3877056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Coppell ISD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3877056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+0.068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387705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6A11"/>
                </a:solidFill>
                <a:latin typeface="Calibri"/>
              </a:rPr>
              <a:t>BL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4114800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Princeton 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411480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+0.060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411480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6A11"/>
                </a:solidFill>
                <a:latin typeface="Calibri"/>
              </a:rPr>
              <a:t>BL (NJ peer)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4840" y="5074920"/>
            <a:ext cx="3337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Mix of BL, Benchmark-Advance, and recently-adopted structured literacy.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60" y="1965960"/>
            <a:ext cx="3703320" cy="4160520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38160" y="1965960"/>
            <a:ext cx="3703320" cy="411480"/>
          </a:xfrm>
          <a:prstGeom prst="rect">
            <a:avLst/>
          </a:prstGeom>
          <a:solidFill>
            <a:srgbClr val="B0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0" y="2039112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Flat or declined   (Δ &lt; +0.05)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246888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B02121"/>
                </a:solidFill>
                <a:latin typeface="Calibri"/>
              </a:rPr>
              <a:t>39 districts — both types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2926080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Detroit DPSCD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292608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−0.259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35640" y="2926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02121"/>
                </a:solidFill>
                <a:latin typeface="Calibri"/>
              </a:rPr>
              <a:t>EL Ed (SoR)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3163824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Aldine ISD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0" y="3163824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−0.034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35640" y="316382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02121"/>
                </a:solidFill>
                <a:latin typeface="Calibri"/>
              </a:rPr>
              <a:t>CKLA (SoR)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1040" y="3401568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Baltimore PS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3401568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−0.213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35640" y="340156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02121"/>
                </a:solidFill>
                <a:latin typeface="Calibri"/>
              </a:rPr>
              <a:t>W&amp;W (SoR)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3639312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Fond du Lac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0" y="3639312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−0.014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35640" y="36393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02121"/>
                </a:solidFill>
                <a:latin typeface="Calibri"/>
              </a:rPr>
              <a:t>CKLA (SoR)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1040" y="3877056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Seaford SD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58400" y="3877056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−0.180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35640" y="387705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02121"/>
                </a:solidFill>
                <a:latin typeface="Calibri"/>
              </a:rPr>
              <a:t>Bookworms (SoR)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21040" y="4114800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Troy SD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58400" y="411480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−0.253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35640" y="411480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02121"/>
                </a:solidFill>
                <a:latin typeface="Calibri"/>
              </a:rPr>
              <a:t>Calkins UoS (BL)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5074920"/>
            <a:ext cx="3337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36 of 49 had Δ &lt; 0; 3 held flat (Bloomfield Hills, Starkville, Dover). SoR alone is necessary but not sufficient — recovery also needs sustained PD, universal screeners, and a 2-3-year cohort lag (slide 19).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F3A5F"/>
                </a:solidFill>
                <a:latin typeface="Calibri"/>
              </a:rPr>
              <a:t>Honest finding: SoR doesn't guarantee recovery. But the only districts achieving STRONG recovery so far are SoR-aligned.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 second independent benchmark — Education Scorecard 2026 'Districts on the Rise'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Demographic-adjusted gain methodology (Harvard-Stanford-Dartmouth³) — catches outperformers SEDA raw Δ misses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77724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What DOTR measures (different from SEDA raw Δ):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Demographic-adjusted gain ≥ 0.3 grade levels in BOTH 2019–2025 AND 2022–2025, with ≥4 demographically-comparable peer districts in-state.  Detroit DPSCD is a DOTR outperformer despite a SEDA raw Δ decline — it gained more than its demographics predicted.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7498079" cy="438912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74519"/>
            <a:ext cx="7498079" cy="36576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47671"/>
            <a:ext cx="72237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Math + Reading outperformers (17)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31719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East Hartford 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331719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Fundations + Heggerty + Fund. Unl.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331719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7A3D"/>
                </a:solidFill>
                <a:latin typeface="Calibri"/>
              </a:rPr>
              <a:t>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546603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East Chicago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546603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Heggerty + Reading Horizons + coaches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546603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7A3D"/>
                </a:solidFill>
                <a:latin typeface="Calibri"/>
              </a:rPr>
              <a:t>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761487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Marion County KY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2761487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Amplify CKLA + LETRS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761487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7A3D"/>
                </a:solidFill>
                <a:latin typeface="Calibri"/>
              </a:rPr>
              <a:t>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976371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Baltimore City 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2976371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Wit &amp; Wisdom K-8 (2018-)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976371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7A3D"/>
                </a:solidFill>
                <a:latin typeface="Calibri"/>
              </a:rPr>
              <a:t>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191255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Detroit DPSCD MI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191255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EL Education K-5 (2018-)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191255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7A3D"/>
                </a:solidFill>
                <a:latin typeface="Calibri"/>
              </a:rPr>
              <a:t>SoR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406139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Starkville 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3406139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MS HQIM (BL→structured shift)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406139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7A3D"/>
                </a:solidFill>
                <a:latin typeface="Calibri"/>
              </a:rPr>
              <a:t>SoR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621023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Pierre SD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3621023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Open Court + OG + Heggerty + Barton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621023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7A3D"/>
                </a:solidFill>
                <a:latin typeface="Calibri"/>
              </a:rPr>
              <a:t>SoR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835907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Johnson City TN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3835907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TN HQIM (SoR mandate)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835907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7A3D"/>
                </a:solidFill>
                <a:latin typeface="Calibri"/>
              </a:rPr>
              <a:t>SoR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050791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Spring Branch TX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4050791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TX STR framework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050791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7A3D"/>
                </a:solidFill>
                <a:latin typeface="Calibri"/>
              </a:rPr>
              <a:t>SoR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265675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Fond du Lac WI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4265675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Amplify CKLA + DDI + UVA-PLE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265675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7A3D"/>
                </a:solidFill>
                <a:latin typeface="Calibri"/>
              </a:rPr>
              <a:t>SoR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480559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Dover NH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4480559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Knowledge-building shift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4480559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6A11"/>
                </a:solidFill>
                <a:latin typeface="Calibri"/>
              </a:rPr>
              <a:t>SoR-lean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695443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Brandywine 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31720" y="4695443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Explicit phonics K-2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4695443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6A11"/>
                </a:solidFill>
                <a:latin typeface="Calibri"/>
              </a:rPr>
              <a:t>SoR-lean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4910327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Sikeston R-6 MO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31720" y="4910327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Teacher-developed + state LETRS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4910327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6A11"/>
                </a:solidFill>
                <a:latin typeface="Calibri"/>
              </a:rPr>
              <a:t>SoR-lean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5125211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Atlanta APS GA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31720" y="5125211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Benchmark + HMH (Phase 2 SoR)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5125211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6A11"/>
                </a:solidFill>
                <a:latin typeface="Calibri"/>
              </a:rPr>
              <a:t>SoR-trans.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340095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Kuna Joint 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31720" y="5340095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HMH Into Reading planned 2026-27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5340095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SoR-future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5554979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College Comm. IA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31720" y="5554979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MTSS focus (curriculum unclear)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5554979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Unclear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5769863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Wayne County PS NC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31720" y="5769863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Stayed BL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5769863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02121"/>
                </a:solidFill>
                <a:latin typeface="Calibri"/>
              </a:rPr>
              <a:t>BL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01000" y="1874519"/>
            <a:ext cx="3794760" cy="269748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001000" y="1874519"/>
            <a:ext cx="3794760" cy="36576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38160" y="19476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Reading-Only outperformers (3)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38160" y="2331720"/>
            <a:ext cx="36576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Modesto City Elem CA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  Benchmark Adv + UFLI + LETRS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  → SoR-patched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West Baton Rouge LA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  Wit &amp; Wisdom + Wilson Fundations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  → SoR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Roanoke County VA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  W&amp;W + Heggerty + Really Great Rdg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  → SoR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01000" y="4709160"/>
            <a:ext cx="3794760" cy="1508760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38160" y="477316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alibri"/>
              </a:rPr>
              <a:t>Summary across both groups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38160" y="5074920"/>
            <a:ext cx="3657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• 13 districts:  clear SoR-aligned core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• 5 districts:   SoR-leaning / patched / transitioning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• 1 district:    future SoR adoption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• 1 district:    unclear curriculum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• 1 district:    stayed BL  (Wayne County NC)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38160" y="5897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2121"/>
                </a:solidFill>
                <a:latin typeface="Calibri"/>
              </a:rPr>
              <a:t>19 of 20  =  95% SoR-aligned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" y="632764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3A5F"/>
                </a:solidFill>
                <a:latin typeface="Calibri"/>
              </a:rPr>
              <a:t>Two independent methodologies converge: SEDA raw Δ + Education Scorecard demographic-adjusted gain both point at structured literacy.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Of 8 Michigan affluent peers, Troy fell the furthest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Same state, same M-STEP test, similar demographics. Pre-COVID expected vs post-COVID actual (SEDA cs Δ).</a:t>
            </a:r>
          </a:p>
        </p:txBody>
      </p:sp>
      <p:pic>
        <p:nvPicPr>
          <p:cNvPr id="5" name="Picture 4" descr="chart12_mi_peers_2009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0"/>
            <a:ext cx="7406640" cy="54487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89520" y="914400"/>
            <a:ext cx="4434840" cy="557784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96012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Pre→Post COVID Δ  (expected pre-COVID in parens)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280160"/>
            <a:ext cx="4343400" cy="23774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28016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District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280160"/>
            <a:ext cx="78866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onsolas"/>
              </a:rPr>
              <a:t>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8349" y="1280160"/>
            <a:ext cx="78866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onsolas"/>
              </a:rPr>
              <a:t>Asian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47018" y="1280160"/>
            <a:ext cx="78866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onsolas"/>
              </a:rPr>
              <a:t>White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5687" y="1280160"/>
            <a:ext cx="78866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onsolas"/>
              </a:rPr>
              <a:t>Black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1545336"/>
            <a:ext cx="4343400" cy="274320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55448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B02121"/>
                </a:solidFill>
                <a:latin typeface="Calibri"/>
              </a:rPr>
              <a:t>Troy SD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1554480"/>
            <a:ext cx="78866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B02121"/>
                </a:solidFill>
                <a:latin typeface="Consolas"/>
              </a:rPr>
              <a:t>-0.25 (0.73)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8349" y="1554480"/>
            <a:ext cx="78866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B02121"/>
                </a:solidFill>
                <a:latin typeface="Consolas"/>
              </a:rPr>
              <a:t>-0.35 (1.10)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47018" y="1554480"/>
            <a:ext cx="78866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B02121"/>
                </a:solidFill>
                <a:latin typeface="Consolas"/>
              </a:rPr>
              <a:t>-0.23 (0.59)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35687" y="1554480"/>
            <a:ext cx="78866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B02121"/>
                </a:solidFill>
                <a:latin typeface="Consolas"/>
              </a:rPr>
              <a:t>-0.27 (-0.05)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1828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West Bloomfield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828800"/>
            <a:ext cx="78866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B02121"/>
                </a:solidFill>
                <a:latin typeface="Consolas"/>
              </a:rPr>
              <a:t>-0.24 (0.17)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58349" y="1828800"/>
            <a:ext cx="78866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333333"/>
                </a:solidFill>
                <a:latin typeface="Consolas"/>
              </a:rPr>
              <a:t>+0.07 (0.43)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47018" y="1828800"/>
            <a:ext cx="78866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333333"/>
                </a:solidFill>
                <a:latin typeface="Consolas"/>
              </a:rPr>
              <a:t>-0.12 (0.38)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35687" y="1828800"/>
            <a:ext cx="78866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B02121"/>
                </a:solidFill>
                <a:latin typeface="Consolas"/>
              </a:rPr>
              <a:t>-0.27 (-0.28)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1031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Rochester CSD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2103120"/>
            <a:ext cx="78866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B02121"/>
                </a:solidFill>
                <a:latin typeface="Consolas"/>
              </a:rPr>
              <a:t>-0.21 (0.56)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58349" y="2103120"/>
            <a:ext cx="78866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B02121"/>
                </a:solidFill>
                <a:latin typeface="Consolas"/>
              </a:rPr>
              <a:t>-0.17 (0.76)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47018" y="2103120"/>
            <a:ext cx="78866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B02121"/>
                </a:solidFill>
                <a:latin typeface="Consolas"/>
              </a:rPr>
              <a:t>-0.23 (0.57)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35687" y="2103120"/>
            <a:ext cx="78866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B02121"/>
                </a:solidFill>
                <a:latin typeface="Consolas"/>
              </a:rPr>
              <a:t>-0.34 (0.07)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23774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Novi CSD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2377440"/>
            <a:ext cx="78866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333333"/>
                </a:solidFill>
                <a:latin typeface="Consolas"/>
              </a:rPr>
              <a:t>-0.10 (0.57)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8349" y="2377440"/>
            <a:ext cx="78866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333333"/>
                </a:solidFill>
                <a:latin typeface="Consolas"/>
              </a:rPr>
              <a:t>-0.03 (0.73)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47018" y="2377440"/>
            <a:ext cx="78866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B02121"/>
                </a:solidFill>
                <a:latin typeface="Consolas"/>
              </a:rPr>
              <a:t>-0.23 (0.59)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35687" y="2377440"/>
            <a:ext cx="78866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B02121"/>
                </a:solidFill>
                <a:latin typeface="Consolas"/>
              </a:rPr>
              <a:t>-0.34 (-0.08)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26517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Northville 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2651760"/>
            <a:ext cx="78866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333333"/>
                </a:solidFill>
                <a:latin typeface="Consolas"/>
              </a:rPr>
              <a:t>-0.09 (0.71)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8349" y="2651760"/>
            <a:ext cx="78866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B02121"/>
                </a:solidFill>
                <a:latin typeface="Consolas"/>
              </a:rPr>
              <a:t>-0.28 (1.17)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47018" y="2651760"/>
            <a:ext cx="78866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333333"/>
                </a:solidFill>
                <a:latin typeface="Consolas"/>
              </a:rPr>
              <a:t>-0.08 (0.65)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35687" y="2651760"/>
            <a:ext cx="78866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333333"/>
                </a:solidFill>
                <a:latin typeface="Consolas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292608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Birmingham 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2926080"/>
            <a:ext cx="78866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333333"/>
                </a:solidFill>
                <a:latin typeface="Consolas"/>
              </a:rPr>
              <a:t>-0.02 (0.54)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58349" y="2926080"/>
            <a:ext cx="78866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333333"/>
                </a:solidFill>
                <a:latin typeface="Consolas"/>
              </a:rPr>
              <a:t>-0.10 (0.93)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47018" y="2926080"/>
            <a:ext cx="78866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333333"/>
                </a:solidFill>
                <a:latin typeface="Consolas"/>
              </a:rPr>
              <a:t>-0.02 (0.59)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35687" y="2926080"/>
            <a:ext cx="78866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333333"/>
                </a:solidFill>
                <a:latin typeface="Consolas"/>
              </a:rPr>
              <a:t>-0.06 (0.07)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32004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Bloomfield Hills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3200400"/>
            <a:ext cx="78866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333333"/>
                </a:solidFill>
                <a:latin typeface="Consolas"/>
              </a:rPr>
              <a:t>+0.03 (0.47)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58349" y="3200400"/>
            <a:ext cx="78866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333333"/>
                </a:solidFill>
                <a:latin typeface="Consolas"/>
              </a:rPr>
              <a:t>-0.02 (0.78)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47018" y="3200400"/>
            <a:ext cx="78866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333333"/>
                </a:solidFill>
                <a:latin typeface="Consolas"/>
              </a:rPr>
              <a:t>+0.08 (0.46)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35687" y="3200400"/>
            <a:ext cx="78866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B02121"/>
                </a:solidFill>
                <a:latin typeface="Consolas"/>
              </a:rPr>
              <a:t>-0.45 (0.00)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35240" y="3611880"/>
            <a:ext cx="4343400" cy="23774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80960" y="361188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District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69680" y="3611880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onsolas"/>
              </a:rPr>
              <a:t>Hisp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21240" y="3611880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onsolas"/>
              </a:rPr>
              <a:t>EconDis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3611880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onsolas"/>
              </a:rPr>
              <a:t>Not-ECD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35240" y="3877056"/>
            <a:ext cx="4343400" cy="274320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80960" y="38862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B02121"/>
                </a:solidFill>
                <a:latin typeface="Calibri"/>
              </a:rPr>
              <a:t>Troy 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69680" y="38862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333333"/>
                </a:solidFill>
                <a:latin typeface="Consolas"/>
              </a:rPr>
              <a:t>-0.03 (0.16)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21240" y="38862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333333"/>
                </a:solidFill>
                <a:latin typeface="Consolas"/>
              </a:rPr>
              <a:t>-0.15 (0.01)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0" y="38862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B02121"/>
                </a:solidFill>
                <a:latin typeface="Consolas"/>
              </a:rPr>
              <a:t>-0.25 (0.85)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80960" y="4160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West Bloomfield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69680" y="416052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B02121"/>
                </a:solidFill>
                <a:latin typeface="Consolas"/>
              </a:rPr>
              <a:t>-0.21 (-0.09)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21240" y="416052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B02121"/>
                </a:solidFill>
                <a:latin typeface="Consolas"/>
              </a:rPr>
              <a:t>-0.25 (-0.28)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0" y="416052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B02121"/>
                </a:solidFill>
                <a:latin typeface="Consolas"/>
              </a:rPr>
              <a:t>-0.20 (0.41)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80960" y="44348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Rochester CSD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69680" y="443484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333333"/>
                </a:solidFill>
                <a:latin typeface="Consolas"/>
              </a:rPr>
              <a:t>-0.11 (0.23)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21240" y="443484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B02121"/>
                </a:solidFill>
                <a:latin typeface="Consolas"/>
              </a:rPr>
              <a:t>-0.16 (-0.08)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972800" y="443484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B02121"/>
                </a:solidFill>
                <a:latin typeface="Consolas"/>
              </a:rPr>
              <a:t>-0.21 (0.64)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80960" y="47091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Novi CSD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69680" y="470916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1F7A3D"/>
                </a:solidFill>
                <a:latin typeface="Consolas"/>
              </a:rPr>
              <a:t>+0.16 (0.16)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21240" y="470916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B02121"/>
                </a:solidFill>
                <a:latin typeface="Consolas"/>
              </a:rPr>
              <a:t>-0.24 (-0.07)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72800" y="470916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333333"/>
                </a:solidFill>
                <a:latin typeface="Consolas"/>
              </a:rPr>
              <a:t>-0.05 (0.62)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80960" y="498348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Northville PS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498348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1F7A3D"/>
                </a:solidFill>
                <a:latin typeface="Consolas"/>
              </a:rPr>
              <a:t>+0.23 (0.29)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21240" y="498348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333333"/>
                </a:solidFill>
                <a:latin typeface="Consolas"/>
              </a:rPr>
              <a:t>+0.02 (-0.04)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972800" y="498348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333333"/>
                </a:solidFill>
                <a:latin typeface="Consolas"/>
              </a:rPr>
              <a:t>-0.08 (0.76)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80960" y="5257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Birmingham PS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69680" y="52578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333333"/>
                </a:solidFill>
                <a:latin typeface="Consolas"/>
              </a:rPr>
              <a:t>-0.08 (0.58)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21240" y="52578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333333"/>
                </a:solidFill>
                <a:latin typeface="Consolas"/>
              </a:rPr>
              <a:t>+0.03 (-0.02)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972800" y="52578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333333"/>
                </a:solidFill>
                <a:latin typeface="Consolas"/>
              </a:rPr>
              <a:t>-0.01 (0.59)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80960" y="55321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Bloomfield Hills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869680" y="553212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333333"/>
                </a:solidFill>
                <a:latin typeface="Consolas"/>
              </a:rPr>
              <a:t>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21240" y="553212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333333"/>
                </a:solidFill>
                <a:latin typeface="Consolas"/>
              </a:rPr>
              <a:t>+0.01 (-0.21)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72800" y="553212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333333"/>
                </a:solidFill>
                <a:latin typeface="Consolas"/>
              </a:rPr>
              <a:t>+0.04 (0.54)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576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Students-with-Disabilities subgroup tells the same story — only louder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MI School Data M-STEP %Adv+Prof¹⁰ (different metric from SEDA cs scale — direct MDE source for Troy SWD)</a:t>
            </a:r>
          </a:p>
        </p:txBody>
      </p:sp>
      <p:pic>
        <p:nvPicPr>
          <p:cNvPr id="5" name="Picture 4" descr="chart_swd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772400" cy="33680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83879" y="914400"/>
            <a:ext cx="3931920" cy="2743200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987552"/>
            <a:ext cx="3520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alibri"/>
              </a:rPr>
              <a:t>Pre→Post-COVID Δ  (M-STEP %Adv+Prof)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371600"/>
            <a:ext cx="868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07070"/>
                </a:solidFill>
                <a:latin typeface="Calibri"/>
              </a:rPr>
              <a:t>Grade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1371600"/>
            <a:ext cx="868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02121"/>
                </a:solidFill>
                <a:latin typeface="Calibri"/>
              </a:rPr>
              <a:t>Troy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1371600"/>
            <a:ext cx="868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F3A5F"/>
                </a:solidFill>
                <a:latin typeface="Calibri"/>
              </a:rPr>
              <a:t>Peer-7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1371600"/>
            <a:ext cx="868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07070"/>
                </a:solidFill>
                <a:latin typeface="Calibri"/>
              </a:rPr>
              <a:t>Gap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6760" y="1664208"/>
            <a:ext cx="3520440" cy="18288"/>
          </a:xfrm>
          <a:prstGeom prst="rect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78308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alibri"/>
              </a:rPr>
              <a:t>Grade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178308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B02121"/>
                </a:solidFill>
                <a:latin typeface="Consolas"/>
              </a:rPr>
              <a:t>−11.6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178308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1F3A5F"/>
                </a:solidFill>
                <a:latin typeface="Consolas"/>
              </a:rPr>
              <a:t>−3.8 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178308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B02121"/>
                </a:solidFill>
                <a:latin typeface="Consolas"/>
              </a:rPr>
              <a:t>−7.9 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11226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Grade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11226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B02121"/>
                </a:solidFill>
                <a:latin typeface="Consolas"/>
              </a:rPr>
              <a:t>−1.6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211226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1F3A5F"/>
                </a:solidFill>
                <a:latin typeface="Consolas"/>
              </a:rPr>
              <a:t>−0.1 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211226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33333"/>
                </a:solidFill>
                <a:latin typeface="Consolas"/>
              </a:rPr>
              <a:t>−1.5 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44144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alibri"/>
              </a:rPr>
              <a:t>Grade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44144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B02121"/>
                </a:solidFill>
                <a:latin typeface="Consolas"/>
              </a:rPr>
              <a:t>−4.6 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244144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1F3A5F"/>
                </a:solidFill>
                <a:latin typeface="Consolas"/>
              </a:rPr>
              <a:t>+0.7 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244144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B02121"/>
                </a:solidFill>
                <a:latin typeface="Consolas"/>
              </a:rPr>
              <a:t>−5.3 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788920"/>
            <a:ext cx="3520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B02121"/>
                </a:solidFill>
                <a:latin typeface="Calibri"/>
              </a:rPr>
              <a:t>G3: Troy SWD fell 3× faster than peers.</a:t>
            </a:r>
          </a:p>
          <a:p>
            <a:pPr algn="l"/>
            <a:r>
              <a:rPr sz="1000" b="0" i="1">
                <a:solidFill>
                  <a:srgbClr val="B02121"/>
                </a:solidFill>
                <a:latin typeface="Calibri"/>
              </a:rPr>
              <a:t>G5: Peers gained; Troy fell.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3429000"/>
            <a:ext cx="3931920" cy="265176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493008"/>
            <a:ext cx="3520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Why this matters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79476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•  Troy SWD G3: 37% pre-COVID → 25% today.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   Peer-7 SWD G3: 35% → 31% (held much better).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•  Pre-COVID Troy SWD ≈ Peer-7 SWD.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   Post-COVID Troy SWD sits 4–7pp BELOW peers.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•  SoR is engineered for struggling readers.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   The students who benefit MOST from SoR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   are falling FASTEST at Troy vs. same-state peers.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•  Refutes "regression-to-mean" — SWD students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   aren't high-achievers regressing.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199632"/>
            <a:ext cx="1143000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245352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Two independent sources converge: SEDA cs scale (49 districts) and MDE M-STEP %prof (Troy subgroups) both say the SoR-relevant subgroups are falling fastest.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10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subgroup data refutes the three common defenses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Each common defense of Troy's current trajectory is testable on the SEDA scale¹. Each fails the test.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640080" cy="1645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051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"It's the ESL/ELL composition."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0876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If true: Hispanic and EL subgroups should be hit hardest.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Data: Troy Hispanic Δ = −0.031. Rank 12 of 39 — best of Troy's subgroups¹.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REFUTED. The Hispanic subgroup is the most resilient at Troy.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640080" cy="1645920"/>
          </a:xfrm>
          <a:prstGeom prst="rect">
            <a:avLst/>
          </a:prstGeom>
          <a:solidFill>
            <a:srgbClr val="CC6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3375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8803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"It's the disadvantaged students."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3756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If true: EconDis subgroup should be hit harder than Not-ECD.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Data: Troy EconDis Δ = −0.147 (rank 32/47). Troy Not-ECD Δ = −0.252 (rank 42/46)¹.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REFUTED. Not-ECD declined MORE than EconDis.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63440"/>
            <a:ext cx="640080" cy="1645920"/>
          </a:xfrm>
          <a:prstGeom prst="rect">
            <a:avLst/>
          </a:prstGeom>
          <a:solidFill>
            <a:srgbClr val="B0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1663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709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"It's a demographic / COVID story."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16636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If true: Affluent students with home-literacy environments should be PROTECTED.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Data: Troy Asian Δ = −0.347 (34/35), White Δ = −0.231 (44/46) — the affluent subgroups dropped MOST¹.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REFUTED. Affluence provides no protection at Troy. This points at instruction.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11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Asian subgroup: Troy ranks 34 of 35 districts on post-COVID 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Of 35 districts with Asian-subgroup data in SEDA 2025.1, only Bethlehem Area SD lost more ground.</a:t>
            </a:r>
          </a:p>
        </p:txBody>
      </p:sp>
      <p:pic>
        <p:nvPicPr>
          <p:cNvPr id="5" name="Picture 4" descr="chart17_asian_subgroup_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5835535" cy="5349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0" y="914400"/>
            <a:ext cx="5486400" cy="534924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0515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7A3D"/>
                </a:solidFill>
                <a:latin typeface="Calibri"/>
              </a:rPr>
              <a:t>Asian subgroup top 5 (gainers)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417320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Spring Branch ISD    +0.717  (TX STR³⁶)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Atlanta APS          +0.390  (SoR PD)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Milpitas USD         +0.281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Johnson City TN      +0.277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Palo Alto USD        +0.269  (ESRI³⁵)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9718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02121"/>
                </a:solidFill>
                <a:latin typeface="Calibri"/>
              </a:rPr>
              <a:t>Asian subgroup bottom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3337560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Bethlehem Area SD    −0.426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Troy SD              −0.347  ◄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Northville PS        −0.285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Wayne County PS      −0.264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Modesto City Elem    −0.257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49377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Direct affluent-peer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530352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Palo Alto (Troy's closest demographic match by Asian %) exited Calkins UoS in 2021 via ESRI³⁵.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Result: +0.269 grade-level gain on Asian subgroup. Direct evidence the shift works.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12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Not-Econ-Disadvantaged subgroup: Troy ranks 42 of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Troy's affluent students dropped −0.252 grade levels post-COVID — more than 90% of districts in our universe.</a:t>
            </a:r>
          </a:p>
        </p:txBody>
      </p:sp>
      <p:pic>
        <p:nvPicPr>
          <p:cNvPr id="5" name="Picture 4" descr="chart16_troy_notecd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7772400" cy="418513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914400"/>
            <a:ext cx="3566160" cy="54864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0515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7A3D"/>
                </a:solidFill>
                <a:latin typeface="Calibri"/>
              </a:rPr>
              <a:t>Not-ECD top 5 (recovery)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41732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West Baton Rouge    +0.315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Spring Branch       +0.193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Palo Alto USD       +0.138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Frisco ISD          +0.133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Issaquah SD         +0.124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9260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alibri"/>
              </a:rPr>
              <a:t>Not-ECD bottom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329184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Bethlehem Area      −0.326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Wayne County PS     −0.302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Seaford SD          −0.301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Brandywine SD       −0.267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Troy SD             −0.252  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48463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Why this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521208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These are the families with the most home-literacy resources. If Troy's curriculum design were sound, these are the kids who should recover first. They're recovering last.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13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CKLA-adopting districts on the MDE-approved list are leapfrogging their 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Marion County KY and Fond du Lac WI both adopted Amplify CKLA. Both gained vs their state averages while Troy lost ground.</a:t>
            </a:r>
          </a:p>
        </p:txBody>
      </p:sp>
      <p:pic>
        <p:nvPicPr>
          <p:cNvPr id="5" name="Picture 4" descr="chart19_ckla_cohort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7772400" cy="3886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914400"/>
            <a:ext cx="3566160" cy="269748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0515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7A3D"/>
                </a:solidFill>
                <a:latin typeface="Calibri"/>
              </a:rPr>
              <a:t>State-relative gain after CKLA¹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417320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Marion County KY: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  Pre-CKLA vs state    +0.02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  Post-CKLA vs state   +0.19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  Δ vs state           +0.17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Fond du Lac WI: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  Pre-CKLA vs state    −0.02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  Post-CKLA vs state   +0.10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  Δ vs state           +0.12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3749039"/>
            <a:ext cx="3566160" cy="2697480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38862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02121"/>
                </a:solidFill>
                <a:latin typeface="Calibri"/>
              </a:rPr>
              <a:t>Troy on the same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4251960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Troy SD MI (Calkins UoS):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  Pre-COVID vs state   +0.79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  2025 vs state        +0.67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  Δ vs state           −0.11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Troy is losing ~0.11 grade levels relative to MI state.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The two CKLA peers gained +0.12 and +0.17 relative to their states.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14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How they did it — Marion County KY and Fond du Lac WI playbooks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Both districts adopted Amplify CKLA (Tier-1 on the MI MDE Section 35m approved list¹⁸)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5577840" cy="539496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058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7A3D"/>
                </a:solidFill>
                <a:latin typeface="Calibri"/>
              </a:rPr>
              <a:t>Marion County KY — Chris Brady, Supt.³⁰,³²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Calibri"/>
              </a:rPr>
              <a:t>~2,937 students  •  61% econ-disadvantaged  •  83% White, 11% Hispanic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Curriculum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21408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Amplify CKLA K-5 + Amplify ELA 6-8 (single-vendor vertical alignment). District-wide rollout in 2022-23, aligned with KY Read to Succeed Act of 2022.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0662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Teacher PD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99232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LETRS Volumes 1 &amp; 2 via Kentucky Reading Academies³¹ (state-paid, no cost to district) — 44 teachers AND administrators trained since 2022. Principals went through LETRS WITH teachers so they can evaluate foundational instruction in the same vocabulary.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844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Coaching restructure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77056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Coaches moved from building-based to content-driven, operating in 6-9 WEEK CYCLES with teachers on standards-aligned instruction and diagnostic data. The single most unusual structural choice — most rural KY districts kept building-based coaching.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6227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54880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Full district-wide rollout, NOT a pilot. Tech use reduced to reclaim student-teacher engagement time. G3-7 ELA proficient +10pp 2021-22 → 2024-25.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34009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Result on SEDA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632704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Pre-CKLA: −0.01 vs KY state. 2024-25: +0.19 vs state. +0.17 grade-level state-relative gain in 3 years. Marion County MS jumped 221→57 in KY state rank.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914400"/>
            <a:ext cx="5577840" cy="539496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0058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7A3D"/>
                </a:solidFill>
                <a:latin typeface="Calibri"/>
              </a:rPr>
              <a:t>Fond du Lac WI — Matt Steinbarth, Supt.³³,³⁴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371600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Calibri"/>
              </a:rPr>
              <a:t>~6,457 students  •  49.5% econ-disadvantaged  •  59% White, 21% Hispanic, 9% Black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8288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Curriculum 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121408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Amplify CKLA K-5 + Amplify ELA 6-8 + Bridges Math + TCI Social Studies + Mystery Science (K-8 coherent stack). Adoption aligned with August 2022 Strategic Plan.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70662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Leadership development partnership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999232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Partnered with the UVA Darden Partnership for Leaders in Education (UVA-PLE)³⁴. Single biggest differentiator: CKLA embedded in a multi-year leadership and instructional-redesign program, NOT adopted as a standalone literacy textbook.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5844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Teacher PD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877056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Weekly Data-Driven Instruction (DDI) cycles trained via UVA-PLE. ~$20M ESSER funds deployed for curriculum + after-school + classroom libraries + AVID. WI Act 20 (2023) added a state legal forcing function³⁸.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46227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754880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Jumped from 375th to 175th of 421 WI districts. "Exceeds Expectations" on 2024-25 WI report card — first time since 2016-17. Highest reading growth of all 421 WI districts 2022-2024.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34009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Leadership transition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632704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Supt Fleig led the redesign 2022-2025; retired May 2025. Board promoted CAO Matt Steinbarth (25-yr district insider) 7-0 to protect continuity. Credit the turnaround to Fleig + Steinbarth + UVA-PLE.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15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Recovery is possible — and it tracks with curriculum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Four districts gained post-COVID. All four run structured-literacy programs.</a:t>
            </a:r>
          </a:p>
        </p:txBody>
      </p:sp>
      <p:pic>
        <p:nvPicPr>
          <p:cNvPr id="5" name="Picture 4" descr="chart14_subgroup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7772400" cy="503501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914400"/>
            <a:ext cx="3566160" cy="132588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9601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7A3D"/>
                </a:solidFill>
                <a:latin typeface="Calibri"/>
              </a:rPr>
              <a:t>Spring Branch ISD (TX)³⁶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2344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onsolas"/>
              </a:rPr>
              <a:t>+0.284 overall / +0.717 Asian / +0.193 Not-ECD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5544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TX STR-aligned framework, K paraprofessionals trained in evidence-based instruction.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2331720"/>
            <a:ext cx="3566160" cy="132588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23774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7A3D"/>
                </a:solidFill>
                <a:latin typeface="Calibri"/>
              </a:rPr>
              <a:t>Palo Alto USD (CA)³⁵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6517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onsolas"/>
              </a:rPr>
              <a:t>+0.132 overall / +0.269 Asian / +0.138 Not-ECD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9718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Exited Calkins Units of Study in 2021 via Every Student Reads Initiative. Direct Troy parallel.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3749040"/>
            <a:ext cx="3566160" cy="132588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37947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7A3D"/>
                </a:solidFill>
                <a:latin typeface="Calibri"/>
              </a:rPr>
              <a:t>West Baton Rouge (LA)³⁷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069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onsolas"/>
              </a:rPr>
              <a:t>+0.132 overall / +0.315 Not-ECD / +0.242 White / +0.079 Black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3891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Wit &amp; Wisdom + Wilson Fundations K-3. K-3 literacy 57% → 68% in single year.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5166360"/>
            <a:ext cx="3566160" cy="132588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5212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7A3D"/>
                </a:solidFill>
                <a:latin typeface="Calibri"/>
              </a:rPr>
              <a:t>Johnson City TN³⁹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54864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onsolas"/>
              </a:rPr>
              <a:t>+0.121 overall / +0.277 Asian / +0.165 White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58064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Tennessee HQIM SoR mandate. +22pp above TN state on G4 ELA in 2025.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16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Long Beach USD — the natural experiment is now empirically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Same district, same Carl Cohn-era leadership culture, same demographics. Only the curriculum changed.</a:t>
            </a:r>
          </a:p>
        </p:txBody>
      </p:sp>
      <p:pic>
        <p:nvPicPr>
          <p:cNvPr id="5" name="Picture 4" descr="chart13_post_covid_re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7772400" cy="50394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914400"/>
            <a:ext cx="3566160" cy="27432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0515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Long Beach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417320"/>
            <a:ext cx="32918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1992-2002 (Cohn era):  Open Court basal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→ Broad Prize 2003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2010s drift:  Teachers College Units of Study (Calkins)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→ same program Troy adopted 2014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Pre/Post-COVID Δ:  −0.076 grade levels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3794760"/>
            <a:ext cx="3566160" cy="2606040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3931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02121"/>
                </a:solidFill>
                <a:latin typeface="Calibri"/>
              </a:rPr>
              <a:t>Why this matters for Troy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429768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Long Beach is the closest thing to a controlled trial against Calkins UoS in U.S. K-5 ELA data.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Same district. Same insider supt tradition. Same demographics. The pre-COVID period worked.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Post-COVID, the Calkins-derived core failed to support recovery — same pattern as Troy.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17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Why balanced literacy fails when school and home reading routines both break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 plain-English causal story that's consistent with every subgroup finding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657600" cy="5212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How Calkins UoS works²⁰,²³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33832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Workshop-model, student-led discovery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Leveled-text independent reading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Comprehension strategies (predict, infer, etc.)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Minimal explicit phonics in core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Relies on rich home language environment to fill gaps in explicit instruction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Reading-aloud, book access, parent-supported reading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005840"/>
            <a:ext cx="3657600" cy="5212080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1430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02121"/>
                </a:solidFill>
                <a:latin typeface="Calibri"/>
              </a:rPr>
              <a:t>What COVID broke²¹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508760"/>
            <a:ext cx="33832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Classroom delivery — interrupted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Home reading routines — disrupted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Book access at home — limited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Parent time for reading — fragmented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Balanced literacy assumed BOTH school AND home would teach reading — when home routines broke down, school's part alone wasn't designed to do the whole job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Most-affluent students had the MOST home reading support to lose, so they fell furthest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05840"/>
            <a:ext cx="3657600" cy="521208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1430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7A3D"/>
                </a:solidFill>
                <a:latin typeface="Calibri"/>
              </a:rPr>
              <a:t>Why SoR districts recovered²²,²⁵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508760"/>
            <a:ext cx="33832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Explicit phonics scope and sequence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Decodable texts at K-2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Knowledge-building core that doesn't assume background knowledge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Cohesive sequence — same content in every classroom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Doesn't depend on home support — designed to teach reading in school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When classroom delivery returned, the curriculum was still intact and could rebuild 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18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Tested hypothesis — does SoR help only early grades, not later ones?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If the 'BL for later grades' hypothesis were correct, BL districts should hold up at G5. They don't.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640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The hypothesis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333333"/>
                </a:solidFill>
                <a:latin typeface="Calibri"/>
              </a:rPr>
              <a:t>"Maybe SoR helps for K-2 phonics, but balanced literacy still has a role at G3-G5 where comprehension + rich text matter more." — pedagogically plausible. Testable on this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5669280" cy="420624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7A3D"/>
                </a:solidFill>
                <a:latin typeface="Calibri"/>
              </a:rPr>
              <a:t>Mean SEDA Δ by grade × curriculum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Type              G3 Δ      G4 Δ      G5 Δ      n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─────────────────────────────────────────────────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SoR-clear         −0.088   −0.117   −0.065    21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SoR-recent/lean   +0.031   −0.011   −0.036     5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Mixed/Benchmark   +0.113   +0.133   +0.062     3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Balanced lit.     −0.102   −0.107   −0.083    15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Reading: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• BL districts decline at EVERY grade — they don't hold up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  better at G5. They decline less, but still decline.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• SoR-clear shows its SMALLEST decline at G5, not G3.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• SoR-recent adopters (Bellevue, Issaquah, Lake Wash.,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  Modesto, College Comm.) actually GAINED at G3 (+0.031)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  — cohort effect from new-K students reaching G3 in '24-25.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691640"/>
            <a:ext cx="5623560" cy="420624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783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7A3D"/>
                </a:solidFill>
                <a:latin typeface="Calibri"/>
              </a:rPr>
              <a:t>Top 5 G5 gainers — 100% SoR-aligned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9456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1  Spring Branch ISD    +0.284   TX STR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2  Johnson City TN      +0.221   TN HQIM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3  West Baton Rouge     +0.207   W&amp;W + Fundations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4  Steubenville City    +0.176   Success for All (25 yr)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5  Starkville-Oktibbeha +0.126   MS HQIM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Top 5 G3 gainers (for comparison):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1  Palo Alto USD        +0.205   SoR (ESRI)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2  West Baton Rouge     +0.142   SoR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3  Milpitas USD         +0.099   Mixed/Benchmark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4  Issaquah SD          +0.087   SoR-recent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5  College Community    +0.075   SoR-recent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The strongest G5 gainers are EXCLUSIVELY SoR.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The strongest G3 gainers are 4/5 SoR + 1 mixed.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989320"/>
            <a:ext cx="11430000" cy="384048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035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2121"/>
                </a:solidFill>
                <a:latin typeface="Calibri"/>
              </a:rPr>
              <a:t>Confounders this data can't resolve: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603504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Cohort effects (G5 had K 5 yrs ago); cross-grade scale differences; COVID hit early grades hardest (K-1 missed foundational year); small SoR-recent/Mixed 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19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Curriculum verdict — Troy's options on the MI Section 35m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Ranked by evidence strength + alignment with recovery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52144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0584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Curriculum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0058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EdReports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0058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Recovery proof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0058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Comp.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10058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Grade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25880"/>
            <a:ext cx="115214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4173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3A5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Amplify CKLA 3rd 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4173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All Green¹⁴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4173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Aldine⁴¹ G4+11pp; Fond du Lac #1 WI³³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4173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Single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14173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7A3D"/>
                </a:solidFill>
                <a:latin typeface="Calibri"/>
              </a:rPr>
              <a:t>A+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709928"/>
            <a:ext cx="11521440" cy="38404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8013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3A5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180136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EL Education K-5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18013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All Green¹⁴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80136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Detroit DPSCD⁴²; NYC Reads Dist 11⁴³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18013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Single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18013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7A3D"/>
                </a:solidFill>
                <a:latin typeface="Calibri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093976"/>
            <a:ext cx="115214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1854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3A5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218541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Wit &amp; Wisdom + Fundations + Geodes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218541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All Green¹⁴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18541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West Baton Rouge³⁷; Baltimore W&amp;W since 2018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218541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2-3 vendor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218541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7A3D"/>
                </a:solidFill>
                <a:latin typeface="Calibri"/>
              </a:rPr>
              <a:t>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478024"/>
            <a:ext cx="11521440" cy="38404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5694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3A5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256946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UFLI Foundations (component)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256946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Not reviewed¹⁴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256946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RRQ 2025 ES &gt;1.0 SD²⁴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256946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Supplement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256946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7A3D"/>
                </a:solidFill>
                <a:latin typeface="Calibri"/>
              </a:rPr>
              <a:t>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2862072"/>
            <a:ext cx="115214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2953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3A5F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295351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Really Great Reading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29535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196/198¹⁴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295351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NYC Reads foundational core⁴³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29535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Supplement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2953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7A3D"/>
                </a:solidFill>
                <a:latin typeface="Calibri"/>
              </a:rPr>
              <a:t>A−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246120"/>
            <a:ext cx="11521440" cy="38404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3375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3A5F"/>
                </a:solidFill>
                <a:latin typeface="Calibri"/>
              </a:rPr>
              <a:t>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33375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(…)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33375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33375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0" y="33375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0" y="33375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707070"/>
                </a:solidFill>
                <a:latin typeface="Calibri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630168"/>
            <a:ext cx="11521440" cy="384048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72160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3A5F"/>
                </a:solidFill>
                <a:latin typeface="Calibri"/>
              </a:rPr>
              <a:t>11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372160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33333"/>
                </a:solidFill>
                <a:latin typeface="Calibri"/>
              </a:rPr>
              <a:t>Collaborative Literacy 3rd Ed. + UFLI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372160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Calibri"/>
              </a:rPr>
              <a:t>2016 ed.: Partial¹⁴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372160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Calibri"/>
              </a:rPr>
              <a:t>Zero of 50 outperformers use it¹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0" y="372160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Calibri"/>
              </a:rPr>
              <a:t>2-vendor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55680" y="372160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B02121"/>
                </a:solidFill>
                <a:latin typeface="Calibri"/>
              </a:rPr>
              <a:t>B / B−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014216"/>
            <a:ext cx="11521440" cy="38404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0565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3A5F"/>
                </a:solidFill>
                <a:latin typeface="Calibri"/>
              </a:rPr>
              <a:t>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" y="410565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HMH Into Reading 2025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89120" y="410565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All Green (v1.0)¹⁴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2240" y="410565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Contested by APM Reports²¹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0" y="410565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Single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55680" y="410565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707070"/>
                </a:solidFill>
                <a:latin typeface="Calibri"/>
              </a:rPr>
              <a:t>B−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" y="49377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02121"/>
                </a:solidFill>
                <a:latin typeface="Calibri"/>
              </a:rPr>
              <a:t>Collab Lit + UFLI is the weakest comprehensive option on the Section 35m list for a district moving OUT of balanced literacy.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5349240"/>
            <a:ext cx="11430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Of 50 districts in the post-COVID national benchmark, zero use Collaborative Literacy as their K-5 core.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Of the 4 districts that GAINED on the SEDA scale 2017-19 → 2022-25, all four use structured literacy.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Of Troy's stronger alternatives — CKLA, EL Education, Wit &amp; Wisdom — each has direct post-COVID recovery evidence.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20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Recommendation — three paths ranked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Each leg of the evidence base points the same direction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37160" cy="123444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7A3D"/>
                </a:solidFill>
                <a:latin typeface="Calibri"/>
              </a:rPr>
              <a:t>RECOMMENDED PRIMARY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527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Calibri"/>
              </a:rPr>
              <a:t>Amplify CKLA 3rd Edition K-5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Single vendor, integrated foundations + knowledge.  All-green EdReports (first ELA program to earn it).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Marion County KY³⁰: +10pp G3-7 ELA 2021-25 with CKLA + LETRS.  Fond du Lac WI³³: #1 reading growth statewide.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137160" cy="123444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7A3D"/>
                </a:solidFill>
                <a:latin typeface="Calibri"/>
              </a:rPr>
              <a:t>STRONG ALTERNATIVE — BEST OF BREED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786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Calibri"/>
              </a:rPr>
              <a:t>Wit &amp; Wisdom + Wilson Fundations K-3 + Geodes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West Baton Rouge LA³⁷: K-3 literacy 57%→68% in ONE year. Best Not-ECD recovery (+0.315) in our universe.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Roanoke County VA³: closest demographic peer to Troy. Baltimore City: longest urban track record (since 2018).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11880"/>
            <a:ext cx="137160" cy="1234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3A5F"/>
                </a:solidFill>
                <a:latin typeface="Calibri"/>
              </a:rPr>
              <a:t>HONORABLE MENTION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044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Calibri"/>
              </a:rPr>
              <a:t>EL Education K-5 (+ phonics supplement)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Direct in-state Michigan validator: Detroit DPSCD⁴² adopted 2018, outpaced state.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NYC Reads natural experiment⁴³: District 11 (EL Education) outperformed both Into Reading and Wit &amp; Wisdom.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37760"/>
            <a:ext cx="137160" cy="1234440"/>
          </a:xfrm>
          <a:prstGeom prst="rect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834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07070"/>
                </a:solidFill>
                <a:latin typeface="Calibri"/>
              </a:rPr>
              <a:t>IF TEACHER BUY-IN OR LOCAL POLITICS BLOCKS A CLEAN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3036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Calibri"/>
              </a:rPr>
              <a:t>The least-bad fallback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2356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Keep Collab Lit as a transitional core; drop Making Meaning in G3-5; substitute a knowledge-building supplement.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Use SIPPS for Tier-2 only and UFLI as Tier-1 K-2 phonics (avoid duplication). Commit to a 2-3 year sunset review.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21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Curriculum is necessary but not sufficient — and what to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Five execution factors + the real-time peer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Five execution factors in every winning district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411480" cy="685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258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Calibri"/>
              </a:rPr>
              <a:t>Stack, don't bolt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5506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Knowledge core + systematic phonics + teacher PD as ONE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411480" cy="685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031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Calibri"/>
              </a:rPr>
              <a:t>60+ hours structured PD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3230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LETRS most-cited³¹ (3 of 20 DOTRs); brand varies; depth doesn't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411480" cy="685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8803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Calibri"/>
              </a:rPr>
              <a:t>Universal screeners + MTSS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20954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MDE-approved K-3 screeners: mCLASS/DIBELS 8, Amira, MAP Reading Fluency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411480" cy="685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9476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657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Calibri"/>
              </a:rPr>
              <a:t>Plan for a 2-3 year lag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98678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Bethlehem K-change 2015 → G3 bounce 2018²⁶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34840"/>
            <a:ext cx="411480" cy="685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4348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Calibri"/>
              </a:rPr>
              <a:t>Fidelity is the binding constraint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76402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NYC Phase 1 conf 55% vs Phase 2 38%⁴³ = real outcome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9144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Track these districts in real 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1325880"/>
            <a:ext cx="137160" cy="68580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1325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Lake Washington WA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16002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Board adoption Spring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8288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1F7A3D"/>
                </a:solidFill>
                <a:latin typeface="Calibri"/>
              </a:rPr>
              <a:t>→ Closest demographic peer mid-shift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2103120"/>
            <a:ext cx="137160" cy="68580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2103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Bellevue SD WA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23774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Year 2 of ARC Core + UFLI + Heggerty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26060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1F7A3D"/>
                </a:solidFill>
                <a:latin typeface="Calibri"/>
              </a:rPr>
              <a:t>→ Year-2 SBA fall 2026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2880360"/>
            <a:ext cx="137160" cy="68580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0" y="2880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Issaquah SD WA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31546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First post-Benchmark Advance SBA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33832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1F7A3D"/>
                </a:solidFill>
                <a:latin typeface="Calibri"/>
              </a:rPr>
              <a:t>→ Fall 2026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0" y="3657600"/>
            <a:ext cx="137160" cy="68580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3657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Palo Alto USD 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9319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Year 5 post-ESRI CAASPP trend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4160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1F7A3D"/>
                </a:solidFill>
                <a:latin typeface="Calibri"/>
              </a:rPr>
              <a:t>→ Annual CAASPP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0" y="4434840"/>
            <a:ext cx="137160" cy="68580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0" y="44348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Fond du Lac WI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47091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Continued CKLA + DDI trajectory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49377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1F7A3D"/>
                </a:solidFill>
                <a:latin typeface="Calibri"/>
              </a:rPr>
              <a:t>→ WI Forward fall 2026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32320" y="5212080"/>
            <a:ext cx="137160" cy="68580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0" y="5212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Aldine ISD TX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54864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Watch G5+G6 STAAR 2026 (full post-CKLA cohort)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57150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1F7A3D"/>
                </a:solidFill>
                <a:latin typeface="Calibri"/>
              </a:rPr>
              <a:t>→ TEA TAPR fall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22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Appendix —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Datasets, metrics, time windows, district universe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Primary 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SEDA cohort-standardized score (cs): NAEP-anchored grade-level units. 0.0 = at-grade national norm; +1.0 = one grade above national norm.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This is the only metric that is genuinely cross-state comparable in absolute terms — it normalizes M-STEP, CAASPP, STAAR, LEAP, MAAP, TCAP, NJSLA, SBA, OST against a common NAEP-anchored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Time windows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Pre-COVID baseline:  2017-2019 (3-year mean)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Post-COVID window:  2022-2025 (4-year mean)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Δ = post − pre (units: grade levels)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2020 and 2021 omitted from SEDA — state tests were canceled or partially administered nationwide. This is the SEDA team's standard recovery-window convention.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Grade pooling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G3-G5 ELA only. Pooled within district × year, weighted by tested-student count per grade. Math excluded (this analysis is about ELA).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960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District universe — 50 targeted, 49 with valid SEDA 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32588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Troy SD + 7 MI affluent peers    (8)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   (Bloomfield Hills, Birmingham, Northville, Novi, Rochester, Walled Lake, West Bloomfield)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4 CA workbook peers + 4 CA outperformers    (8)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   (Palo Alto, Milpitas, Walnut Valley, Dublin + Modesto, Sanger, Garden Grove, Long Beach)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6 TX districts    (6)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   (Aldine, Brownsville, Coppell, Plano, Frisco, Spring Branch)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3 NJ peers + 3 WA SoR-shift peers    (6)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   (WW-Plainsboro, Millburn, Princeton + Bellevue, Issaquah, Lake Washington)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Steubenville (OH gold standard) + Detroit DPSCD (MI in-state)    (2)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15 additional Education Scorecard 2026 DOTR districts    (15)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   (CT, DE, GA, IA, ID, IN, KY, MD, MO, MS, NC, NH, SD, TN, WI — Detroit + Spring Branch already counted)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2 DOTR Reading-Only adds    (2)   (West Baton Rouge LA, Roanoke County VA — Modesto already in CA)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3 sustained / early-SoR comparators    (3)   (Seaford DE, Valley Stream 30 NY, Bethlehem PA)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8521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3A5F"/>
                </a:solidFill>
                <a:latin typeface="Calibri"/>
              </a:rPr>
              <a:t>Counts referenced elsewhere in the deck: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0807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333333"/>
                </a:solidFill>
                <a:latin typeface="Calibri"/>
              </a:rPr>
              <a:t>20 = ELA-relevant DOTR districts (17 Math+Reading + 3 Reading-only).  28 = predecessor state-test analysis (raw % proficient on M-STEP/CAASPP/STAAR/etc., before SEDA expansion) — see reports/quantitative_analysis.md.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23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Appendix — Troy vs. 504 level-matched peers: post-COVID decline (SEDA 2025.1)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Pre-COVID baseline ±0.25 of Troy, enrollment ≥150/grade-year, complete 2017-2025 data</a:t>
            </a:r>
          </a:p>
        </p:txBody>
      </p:sp>
      <p:pic>
        <p:nvPicPr>
          <p:cNvPr id="5" name="Picture 4" descr="chart_seda_ela_pe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7589520" cy="3794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0" y="91440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Key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37160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B02121"/>
                </a:solidFill>
                <a:latin typeface="Calibri"/>
              </a:rPr>
              <a:t>504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37160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level-matched peer districts nationwide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05740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B02121"/>
                </a:solidFill>
                <a:latin typeface="Calibri"/>
              </a:rPr>
              <a:t>81 / 504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05740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Troy's Δ rank (16th percentile) — bottom sixth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74320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B02121"/>
                </a:solidFill>
                <a:latin typeface="Calibri"/>
              </a:rPr>
              <a:t>-0.252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74320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Troy's post-COVID Δ (grade levels vs national norm)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42900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B02121"/>
                </a:solidFill>
                <a:latin typeface="Calibri"/>
              </a:rPr>
              <a:t>-0.107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42900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Peer median Δ — Troy underperforms by 0.145 grade levels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11480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Subgroup Δ ranks (post − pre COVID)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48056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All Students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4480560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B02121"/>
                </a:solidFill>
                <a:latin typeface="Calibri"/>
              </a:rPr>
              <a:t>424 / 504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44805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B02121"/>
                </a:solidFill>
                <a:latin typeface="Calibri"/>
              </a:rPr>
              <a:t>84th pct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718304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Asian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4718304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B02121"/>
                </a:solidFill>
                <a:latin typeface="Calibri"/>
              </a:rPr>
              <a:t>243 / 265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471830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B02121"/>
                </a:solidFill>
                <a:latin typeface="Calibri"/>
              </a:rPr>
              <a:t>92nd pct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956048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White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4956048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B02121"/>
                </a:solidFill>
                <a:latin typeface="Calibri"/>
              </a:rPr>
              <a:t>401 / 496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495604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B02121"/>
                </a:solidFill>
                <a:latin typeface="Calibri"/>
              </a:rPr>
              <a:t>81st pct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193792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Black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5193792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B02121"/>
                </a:solidFill>
                <a:latin typeface="Calibri"/>
              </a:rPr>
              <a:t>114 / 156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519379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B02121"/>
                </a:solidFill>
                <a:latin typeface="Calibri"/>
              </a:rPr>
              <a:t>73rd pct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431536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Hispanic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5431536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F7A3D"/>
                </a:solidFill>
                <a:latin typeface="Calibri"/>
              </a:rPr>
              <a:t>99 / 321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543153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1F7A3D"/>
                </a:solidFill>
                <a:latin typeface="Calibri"/>
              </a:rPr>
              <a:t>31st pct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66928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Econ Disadv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5669280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333333"/>
                </a:solidFill>
                <a:latin typeface="Calibri"/>
              </a:rPr>
              <a:t>208 / 444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56692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333333"/>
                </a:solidFill>
                <a:latin typeface="Calibri"/>
              </a:rPr>
              <a:t>47th pct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5907024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Not Econ Disadv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5907024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B02121"/>
                </a:solidFill>
                <a:latin typeface="Calibri"/>
              </a:rPr>
              <a:t>428 / 495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590702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B02121"/>
                </a:solidFill>
                <a:latin typeface="Calibri"/>
              </a:rPr>
              <a:t>86th pct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62179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707070"/>
                </a:solidFill>
                <a:latin typeface="Calibri"/>
              </a:rPr>
              <a:t>Peers derived independently from Math (44% overlap). Troy ELA baseline</a:t>
            </a:r>
          </a:p>
          <a:p>
            <a:pPr algn="l"/>
            <a:r>
              <a:rPr sz="850" b="0" i="1">
                <a:solidFill>
                  <a:srgbClr val="707070"/>
                </a:solidFill>
                <a:latin typeface="Calibri"/>
              </a:rPr>
              <a:t>(+0.729) lower than Math (+0.937) — different peer universe.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24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Appendix — Troy dropped from top-third to bottom 40% on the ELA leaderboard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Absolute performance level among 504 peers — not just change, but where Troy sits now</a:t>
            </a:r>
          </a:p>
        </p:txBody>
      </p:sp>
      <p:pic>
        <p:nvPicPr>
          <p:cNvPr id="5" name="Picture 4" descr="chart_seda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5669280" cy="4157472"/>
          </a:xfrm>
          <a:prstGeom prst="rect">
            <a:avLst/>
          </a:prstGeom>
        </p:spPr>
      </p:pic>
      <p:pic>
        <p:nvPicPr>
          <p:cNvPr id="6" name="Picture 5" descr="chart_seda_rank_sh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68680"/>
            <a:ext cx="5760720" cy="42245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5120640"/>
            <a:ext cx="11612880" cy="15544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166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Every subgroup: pre-COVID rank → post-COVID rank (among 504 level-matched peers, 1 = highest)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406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Subgroup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54406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Pre 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54406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Post Rank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54406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Shift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54406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Pre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54406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Post 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54406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6928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All Students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566928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171 / 504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66928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313 / 504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566928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B02121"/>
                </a:solidFill>
                <a:latin typeface="Calibri"/>
              </a:rPr>
              <a:t>▼ 142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66928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+0.729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566928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+0.476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566928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-0.252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85216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Asian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585216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106 / 284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85216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221 / 294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585216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B02121"/>
                </a:solidFill>
                <a:latin typeface="Calibri"/>
              </a:rPr>
              <a:t>▼ 115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585216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+1.089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85216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+0.753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585216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-0.336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03504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White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603504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373 / 503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03504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432 / 497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603504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B02121"/>
                </a:solidFill>
                <a:latin typeface="Calibri"/>
              </a:rPr>
              <a:t>▼ 59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603504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+0.592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03504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+0.362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603504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-0.230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Black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621792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124 / 175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621792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147 / 179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621792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alibri"/>
              </a:rPr>
              <a:t>▼ 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621792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-0.054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621792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-0.324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621792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-0.270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0080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Hispanic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77440" y="640080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230 / 331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640080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197 / 376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720" y="640080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F7A3D"/>
                </a:solidFill>
                <a:latin typeface="Calibri"/>
              </a:rPr>
              <a:t>▲ 33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640080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+0.160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40080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+0.127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640080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-0.033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58368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Not Econ Disadv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77440" y="658368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155 / 503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0" y="658368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325 / 495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0720" y="658368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B02121"/>
                </a:solidFill>
                <a:latin typeface="Calibri"/>
              </a:rPr>
              <a:t>▼ 170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0" y="658368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+0.846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658368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+0.595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658368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-0.251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76656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Econ Disadv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77440" y="676656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313 / 449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0" y="676656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318 / 461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60720" y="676656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alibri"/>
              </a:rPr>
              <a:t>▼ 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32320" y="676656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+0.012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0" y="676656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-0.133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41280" y="676656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-0.145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25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References (1 of 5) — Primary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Each cited claim in the deck is anchored to one of these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926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91440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Stanford Education Data Archive 2025.1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11556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Reardon, S. F., et al. (2026). SEDA v2025.1. https://edopportunity.org/trends/data/downloads/  •  Coverage 2009-2025; cohort-standardized scale anchored to NAEP.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807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32588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SEDA 6.0 (geographic district file)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52704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Reardon, S. F., et al. (2026). SEDA v6.0. https://edopportunity.org/opportunity/data/downloads/  •  Coverage 2009-2019; used to validate pre-COVID baseline.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3736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79222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73736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Education Scorecard 2026 "Districts on the Rise"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93852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Harvard / Stanford / Dartmouth. https://educationscorecard.org/districts-on-the-rise/  •  17 demographically-adjusted post-COVID outperformer districts.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14884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2037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14884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Troy achievement workbook (8 districts)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35000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tsd-achievement.karpowitsch.org master workbook  •  G3-G7 × subgroup × year, 2019-2025, 5,497 demographic cells.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56032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61518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56032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CAASPP Smarter Balanced Research 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276148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https://caaspp-elpac.ets.org/caaspp/ResearchFileListSB  •  CA district-level ELA, 2019-2025; used for Modesto, Sanger, Garden Grove, Long Beach.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7180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02666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297180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Texas TAPR / TEA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17296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https://rptsvr1.tea.texas.gov/perfreport/tapr/  •  STAAR reading G3-G5 for Aldine, Brownsville, Spring Branch, Plano, Frisco, Coppell.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38328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4381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338328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Louisiana DOE LEAP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358444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https://doe.louisiana.gov/students/assessments/  •  West Baton Rouge Parish 2022-2025 LEAP Mastery+.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79476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84962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379476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Mississippi DOE MAAP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399592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https://reports.mdek12.org/  •  Starkville-Oktibbeha 2019-2025 (via tpcref.org compilation).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20624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2611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20624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Tennessee Department of Education TCAP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440740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https://www.tn.gov/education/  •  Johnson City Schools 2019-2025 district assessment files.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61772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67258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461772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Michigan School Data CEPI / M-STEP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81888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https://www.mischooldata.org/  •  Troy SD trajectory + statewide G3-G5 averages.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02920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08406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502920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Ohio Department of Education / OST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523036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education.ohio.gov  •  Steubenville City Schools + statewide G3-G5 OST averages.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44068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54955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544068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Washington OSPI Smarter Balanced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564184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https://washingtonstatereportcard.ospi.k12.wa.us/  •  Bellevue / Issaquah / Lake Washington SBA.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85216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590702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" y="585216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Oakland County 115 — MI affluent peer 2025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605332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https://oaklandcounty115.com/2025/09/14/test-results-show-reading-proficiency-among-third-and-fourth-graders-across-oakland-county/  •  G3+G4 ELA 2025 head-to-head.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26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References (2 of 5) — Curriculum evidence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EdReports / Reading League / ESSA / WWC / MDE / Knowledge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0292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9601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EdReports.org curriculum reviews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0700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https://edreports.org/  •  Green/Yellow/Red gateway ratings: Text Quality / Building Knowledge / Foundational Skills / Usability. v2.0 rubric (2024-25) explicitly assesses SoR alignment.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45920"/>
            <a:ext cx="50292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The Reading League — Curriculum Navigation 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3852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https://www.thereadingleague.org/curriculum-navigation-reports/  •  SoR-only evaluation: "red flag practices" (three-cueing, leveled-text decoding, lack of phoneme-grapheme systematicity).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50292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5603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4231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Evidence for ESSA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6700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https://www.evidenceforessa.org/  •  ESSA tiers (Strong, Moderate, Promising, Rationale) for K-5 ELA programs. Used for 95 Phonics (ESSA Strong), IMSE OG+ (Promising), etc.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08960"/>
            <a:ext cx="50292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2918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1546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What Works Clearinghouse / 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40156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https://ies.ed.gov/ncee/wwc/  •  Federal evidence registry. Reviewed Orton-Gillingham-based interventions; found insufficient qualifying studies.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40480"/>
            <a:ext cx="50292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0233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886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Michigan MDE Section 35m Tier-1 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13308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https://www.michigan.gov/mde/services/academic-standards/literacy/literacy-grants/section-35m  •  State-approved K-5 evidence-based ELA curricula (Dec 2025 release).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572000"/>
            <a:ext cx="50292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754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6177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Knowledge Matters Campaign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86460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https://knowledgematterscampaign.org/  •  Recognized knowledge-building K-5 ELA programs: CKLA, EL Education, Wit &amp; Wisdom, ARC Core, Bookworms, Fishtank.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27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References (3 of 5) — Science of Reading research &amp; journalism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Independent scholarly + investigative sources cited in mechanism slide and curriculum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91440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Emily Hanford / APM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14300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"Sold a Story" podcast series + investigations. https://features.apmreports.org/sold-a-story/  •  Documented Calkins UoS / F&amp;P / Reading Recovery critiques.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727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46304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APM Reports — EdReports &amp; SoR (March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69164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https://www.apmreports.org/story/2025/03/06/edreports-reading-curriculum-reviews-science-of-reading  •  Investigation of EdReports all-green ratings on basal programs (Wonders, myView, Into Reading).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2140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01168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Natalie Wexler — The Knowledge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24028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Avery (2019). https://nataliewexler.com/the-knowledge-gap/  •  Framework that comprehension depends on background knowledge built via coherent content sequence.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56032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6700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56032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Tim Shanahan — Shanahan on Literacy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78892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https://www.shanahanonliteracy.com/  •  Reading research and instructional practice. Strategy instruction critique cited in mechanism slide.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10896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2186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10896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Mark Seidenberg — Language at the Speed of 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33756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Basic Books (2017). https://seidenbergreading.net/  •  Cognitive science of reading; critique of balanced literacy.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5760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76732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65760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Lane et al. (2025) — UFLI Foundations RRQ study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88620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Reading Research Quarterly. https://ila.onlinelibrary.wiley.com/doi/10.1002/rrq.607  •  ES &gt; 1.0 SD on early-literacy outcomes; districtwide Florida pilot.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20624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3159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20624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Karin Chenoweth — Districts That Succeed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43484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Harvard Education Press (2021)  •  Sustained-outperformer district case studies (Steubenville, Seaford, Lane OK, etc.).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75488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486460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475488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Success for All Foundation — Steubenville case study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98348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https://www.successforall.org/wp-content/uploads/2025/05/CS_Steubenville-1.pdf  •  25-year SFA implementation; 93-100% G3 reading proficient.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30352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4132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30352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The 74 Million — Steubenville coverage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53212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https://www.the74million.org/article/why-steubenville-ohio-might-be-the-best-school-district-in-america/  •  Independent journalism on Steubenville.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85216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9618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585216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Karen Vaites — Southern Surge analysis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608076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https://www.karenvaites.org/p/the-southern-surge-understanding  •  Mississippi / Louisiana / Tennessee NAEP gains tied to SoR adoption.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28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References (4 of 5) — District case-study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Specific districts cited in the deck: adoption +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926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91440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Kentucky Teacher — Marion County coverage (May 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11556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https://www.kentuckyteacher.org/news/2026/05/kentucky-ranks-among-nations-best-for-student-recovery-5th-in-reading-8th-in-mathematics/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807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32588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Kentucky Reading Academies / Lexia LETRS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52704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https://www.lexialearning.com/kentucky-letrs  •  https://www.education.ky.gov/curriculum/EarlyLiteracy/Pages/ky_reading_Academies.aspx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3736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79222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73736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Education Scorecard PDFs — case studies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93852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Marion County: https://educationscorecard.org/wp-content/uploads/2026/05/KY_Marion-County_Case-Study.pdf  •  20 DOTR district PDFs in /research/escorecard_pdfs/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14884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2037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14884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Fond du Lac SD — Strategic Plan + Studer Education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35000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https://www.fonddulac.k12.wi.us/page/strategic-plan  •  Aug 2022 strategic plan; CKLA + Amplify ELA + Bridges + TCI + Mystery Science stack.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56032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61518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56032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UVA-PLE / Darden Partnership for Leaders in Education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276148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https://www.darden.virginia.edu/uva-ple/  •  Leadership and instructional-redesign partnership underlying Fond du Lac's turnaround.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7180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02666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297180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Palo Alto USD — Every Student Reads Initiative (ESRI)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17296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https://www.pausd.org/learning/esri  •  Exited Calkins UoS 2021; mandatory Orton-Gillingham K-3 training.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38328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4381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338328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Spring Branch ISD — Texas STR framework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358444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https://www.springbranchisd.com/studentsfamilies/literacy  •  TX Science of Teaching Reading state mandate.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79476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84962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379476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West Baton Rouge / LA DOE Wit &amp; Wisdom adoption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399592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https://doe.louisiana.gov/docs/default-source/curricular-resources/great-minds-pbc---wit-wisdom-with-fundations-and-geodes-ela-grades-k-3-(-2023).pdf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20624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2611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20624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WI Act 20 / Wisconsin Reads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440740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https://dpi.wi.gov/wi-reads/curriculum  •  State science-of-reading mandate (2023) with approved curriculum list.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61772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67258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461772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Tennessee Department of Education — Reading 360 + HQIM mandate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81888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https://www.tn.gov/education/reading-360.html  •  State SoR PD (60 hours) + approved K-5 curriculum list.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02920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08406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502920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EdWeek — "Inside the Long Beach Way" (2007)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523036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https://www.edweek.org/leadership/inside-the-long-beach-way/2007/09  •  Carl Cohn era Open Court tradition documented.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44068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54955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544068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Amplify — Aldine ISD CKLA adoption (Jul 2020)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564184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https://amplify.com/news/aldine-isd-adopts-amplifys-integrated-early-literacy-suite-supports-students-in-learning-to-read-confidently-by-third-grade/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85216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590702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" y="585216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Detroit DPSCD + EL Education — Skillman Foundation grant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605332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https://www.skillman.org/blog/standardswork-receives-grant-to-support-implementation-of-transformative-literacy-curriculum-in-detroit-public-schools/  •  https://www.detroitk12.org/academics/core-curriculum/english-language-arts-and-literacy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626364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63185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" y="626364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NYC Reads — Chalkbeat / EdWeek / K-12 Dive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" y="646480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Chalkbeat: https://www.chalkbeat.org/newyork/2025/07/07/nyc-reads-solves-screener-data-eric-adams-school-curriculum-mandate/  •  EdWeek: Phase 1 vs Phase 2 confidence data (Jul 2025).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29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References (5 of 5) — Project artifacts + how to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Every claim is reproducible from the public GitHub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onsolas"/>
              </a:rPr>
              <a:t>github.com/akarpo/tsd-k5ela-choice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852160" cy="50292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280160"/>
            <a:ext cx="5486400" cy="50292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7A3D"/>
                </a:solidFill>
                <a:latin typeface="Calibri"/>
              </a:rPr>
              <a:t>Web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README.md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173736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Project README + slide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75104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index.html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197510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Vanilla-JS slide viewer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12848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slides/*.png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40" y="221284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28 rendered slide PNGs (144 DPI)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450592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deck/Troy_K5_ELA_Executive_Summary.pptx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245059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Source PowerPoint deck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8254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7A3D"/>
                </a:solidFill>
                <a:latin typeface="Calibri"/>
              </a:rPr>
              <a:t>Reproducibility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145536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analysis/extract_seda_subset.py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314553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SEDA 2025.1 → 50-district subset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38328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analysis/compute_deltas.py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40" y="338328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Pre/post-COVID Δ matrix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621024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analysis/build_deck.py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40" y="362102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Builds the .pptx deck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858768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docs/REPRODUCIBILITY.md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40" y="385876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How to reproduce in 3 commands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096512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docs/METHODOLOGY.md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40" y="409651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Metrics, time windows, district universe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334256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docs/DISTRICT_UNIVERSE.md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40" y="433425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All 50 districts with NCES LEA IDs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1417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7A3D"/>
                </a:solidFill>
                <a:latin typeface="Calibri"/>
              </a:rPr>
              <a:t>Processed data (data/)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173736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seda_2025_pooled.json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173736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SEDA cs G3-G5 pooled by year × subgroup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1975104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seda_2025_state.json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197510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State-level SEDA averages by year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2212848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seda_subgroup_delta.csv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221284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Pre/post-COVID Δ per subgroup × district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2450592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master_dataset.csv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245059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2,544 rows: dist × year × grade × subgroup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2688336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seda_2009_2025_extract.csv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268833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Raw SEDA 2025.1 extract (50 dists × G3-G5)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292608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troy_swd_ela.csv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292608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SWD M-STEP %prof, G3-G5 2015-25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30098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7A3D"/>
                </a:solidFill>
                <a:latin typeface="Calibri"/>
              </a:rPr>
              <a:t>Supporting reports (reports/)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3621024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synthesis.md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362102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Master synthesis report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3858768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quantitative_analysis.md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960" y="385876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28-district state-test analysis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400" y="4096512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education_scorecard_2026_dotr.md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409651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20 DOTR outperformer case studies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4334256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curriculum_evaluations.md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60" y="433425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14 Section 35m curricula evaluated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9400" y="457200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collab_lit_ufli_pressure_test.md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457200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Collab Lit + UFLI critique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07070"/>
                </a:solidFill>
                <a:latin typeface="Calibri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