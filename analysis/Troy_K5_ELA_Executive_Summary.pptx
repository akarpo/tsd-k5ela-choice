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506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MDE-approved K-3 screeners: mCLASS/DIBELS 8, Amira, MAP Reading Fluency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vs. 504 level-matched peers: post-COVID decline (SEDA 2025.1)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2019 → 2025 change analysis  •  Pre-COVID baseline ±0.25 of Troy, enrollment ≥150/grade-year</a:t>
            </a:r>
          </a:p>
        </p:txBody>
      </p:sp>
      <p:pic>
        <p:nvPicPr>
          <p:cNvPr id="5" name="Picture 4" descr="chart_seda_ela_p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7589520" cy="3761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9144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504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level-matched peer districts nationwide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0574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81 / 504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574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Δ rank (16th percentile) — bottom sixth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432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Troy's post-COVID Δ (grade levels vs national norm)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2900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02121"/>
                </a:solidFill>
                <a:latin typeface="Calibri"/>
              </a:rPr>
              <a:t>-0.107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Peer median Δ — Troy underperforms by 0.145 grade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Subgroup Δ ranks — higher rank = worse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48056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All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448056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424 / 504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44805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84th pct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1830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Asian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71830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243 / 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471830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92nd pct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95604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95604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401 / 496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9560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81st pct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93792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519379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114 / 156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519379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73rd pct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5431536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543153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F7A3D"/>
                </a:solidFill>
                <a:latin typeface="Calibri"/>
              </a:rPr>
              <a:t>99 / 321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543153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F7A3D"/>
                </a:solidFill>
                <a:latin typeface="Calibri"/>
              </a:rPr>
              <a:t>31st pct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66928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Econ Disadv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566928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333333"/>
                </a:solidFill>
                <a:latin typeface="Calibri"/>
              </a:rPr>
              <a:t>208 / 444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66928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333333"/>
                </a:solidFill>
                <a:latin typeface="Calibri"/>
              </a:rPr>
              <a:t>47th pct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5907024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Not Econ Disadv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590702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B02121"/>
                </a:solidFill>
                <a:latin typeface="Calibri"/>
              </a:rPr>
              <a:t>428 / 495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5907024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02121"/>
                </a:solidFill>
                <a:latin typeface="Calibri"/>
              </a:rPr>
              <a:t>86th pct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6217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Peers derived independently from Math (44% overlap). Troy ELA baseline</a:t>
            </a:r>
          </a:p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(+0.729) lower than Math (+0.937) — different peer universe.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Troy slid from top 3% to top 11% nationally in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Year-by-year SEDA national ranking (all U.S. districts) + absolute level among 504 level-matched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4754880" cy="42062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National K-5 ELA ranking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SEDA 2025.1 cs scale — all U.S. districts with G3-G5 ELA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4572000" cy="2743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36776"/>
            <a:ext cx="868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Year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36776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636776"/>
            <a:ext cx="868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63677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Percentile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29384"/>
            <a:ext cx="4572000" cy="3657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947672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1947672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+0.747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1947672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380 / 12,241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94767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Top 3.1%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331720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33172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+0.605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2331720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604 / 10,588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33172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33333"/>
                </a:solidFill>
                <a:latin typeface="Calibri"/>
              </a:rPr>
              <a:t>Top 5.7%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2715768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+0.526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2715768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740 / 10,632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271576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33333"/>
                </a:solidFill>
                <a:latin typeface="Calibri"/>
              </a:rPr>
              <a:t>Top 7.0%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099816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099816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02121"/>
                </a:solidFill>
                <a:latin typeface="Consolas"/>
              </a:rPr>
              <a:t>+0.390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099816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02121"/>
                </a:solidFill>
                <a:latin typeface="Consolas"/>
              </a:rPr>
              <a:t>1,106 / 10,457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309981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Top 10.6%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483864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3483864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02121"/>
                </a:solidFill>
                <a:latin typeface="Consolas"/>
              </a:rPr>
              <a:t>+0.387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3483864"/>
            <a:ext cx="868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02121"/>
                </a:solidFill>
                <a:latin typeface="Consolas"/>
              </a:rPr>
              <a:t>969 / 8,921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348386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Top 10.9%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85876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B02121"/>
                </a:solidFill>
                <a:latin typeface="Calibri"/>
              </a:rPr>
              <a:t>Dropped ~600 places in 4 years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187952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Troy went from top 3% nationally to the edge of the top decile.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Score declined −0.360 grade levels (nearly half a grade).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2025 rank ticks up slightly only because fewer districts reported.</a:t>
            </a:r>
          </a:p>
        </p:txBody>
      </p:sp>
      <p:pic>
        <p:nvPicPr>
          <p:cNvPr id="36" name="Picture 35" descr="chart_sed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868680"/>
            <a:ext cx="6675120" cy="489508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274320" y="5166360"/>
            <a:ext cx="11612880" cy="12344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212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Among 504 level-matched peers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44068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Pre-COVID rank: 171 / 504  (top third)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Post-COVID rank: 313 / 504  (bottom 40%)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150 districts leapfrogged Troy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52120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Michigan affluent peers — all declined, Troy fell furthest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Byron Center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546811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▲ 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Spring Lake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546811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▲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E. Grand Rapids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546811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  <a:latin typeface="Calibri"/>
              </a:rPr>
              <a:t>▼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Birmingham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546811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▼ 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5788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578815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▼ 142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80" y="5788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Novi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578815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▼ 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5788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Rochester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72600" y="578815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▼ 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155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6187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8424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3055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5176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5292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697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99923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2044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2160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5661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6791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8912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4348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73659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257800"/>
            <a:ext cx="50292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4589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035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605272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441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29844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8132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682496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282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68249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86537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066544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112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06654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24942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450592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4963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45059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63347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834640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880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83464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01752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218688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264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21868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40156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602736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6484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60273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78561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986784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032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398678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16966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370832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4165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37083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553712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754880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48006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475488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4937760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138928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1846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13892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32180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522976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5686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52297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705856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5907024"/>
            <a:ext cx="50292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952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590702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089904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