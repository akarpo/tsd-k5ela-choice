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Pre-COVID expected vs post-COVID actual (SEDA cs Δ).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0"/>
            <a:ext cx="7406640" cy="54487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914400"/>
            <a:ext cx="4434840" cy="5577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9601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Pre→Post COVID Δ  (expected pre-COVID in parens)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28016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8349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Asian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7018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687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Black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54533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554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(0.73)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8349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-0.35 (1.10)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7018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5687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(-0.05)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(0.17)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8349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+0.07 (0.43)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7018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-0.12 (0.38)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5687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(-0.28)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(0.56)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8349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-0.17 (0.76)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47018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5687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(0.07)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3774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(0.57)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49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7018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35687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(-0.08)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651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-0.09 (0.71)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8349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-0.28 (1.17)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7018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(0.65)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5687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260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8349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(0.93)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7018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35687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-0.06 (0.07)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2004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(0.47)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58349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018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+0.08 (0.46)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5687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-0.45 (0.00)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361188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6118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Hisp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EconDis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Not-ECD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35240" y="387705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0" y="3886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(0.16)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2124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-0.15 (0.01)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(0.85)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0" y="4160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(-0.09)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124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(-0.28)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-0.20 (0.41)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4434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-0.11 (0.23)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-0.16 (-0.08)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(0.64)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0" y="4709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+0.16 (0.16)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124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(-0.07)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-0.05 (0.62)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4983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+0.23 (0.29)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2124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+0.02 (-0.04)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(0.76)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80960" y="5257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(0.58)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2124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(-0.02)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-0.01 (0.59)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5532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2124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+0.01 (-0.21)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+0.04 (0.54)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3368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931920" cy="27432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(M-STEP %Adv+Prof)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Troy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Calibri"/>
              </a:rPr>
              <a:t>Peer-7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−3.8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−7.9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B02121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−0.1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−1.5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+0.7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−5.3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8892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G3: Troy SWD fell 3× faster than peers.</a:t>
            </a:r>
          </a:p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G5: Peers gained; Troy fell.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429000"/>
            <a:ext cx="3931920" cy="2651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4930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3520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37% pre-COVID → 25%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Peer-7 SWD G3: 35% → 31% (held much better).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 Troy SWD ≈ Peer-7 SWD.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Post-COVID Troy SWD sits 4–7pp BELOW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 falling FASTEST at Troy vs. same-state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"regression-to-mean" — SWD students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aren't high-achievers regressing.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506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MDE-approved K-3 screeners: mCLASS/DIBELS 8, Amira, MAP Reading Fluency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vs. 504 level-matched peers: post-COVID decline (SEDA 2025.1)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2019 → 2025 change analysis  •  Pre-COVID baseline ±0.25 of Troy, enrollment ≥150/grade-year</a:t>
            </a:r>
          </a:p>
        </p:txBody>
      </p:sp>
      <p:pic>
        <p:nvPicPr>
          <p:cNvPr id="5" name="Picture 4" descr="chart_seda_ela_p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7589520" cy="37616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9144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Key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504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level-matched peer districts nationwide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0574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81 / 504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574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Δ rank (16th percentile) — bottom sixth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7432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post-COVID Δ (grade levels vs national norm)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290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4290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Peer median Δ — Troy underperforms by 0.145 grade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Subgroup Δ ranks — higher rank = worse decline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48056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448056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424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44805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84th pct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1830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71830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243 / 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47183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92nd pct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95604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956048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401 / 496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49560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81st pct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93792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519379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114 / 156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51937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73rd pct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431536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543153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7A3D"/>
                </a:solidFill>
                <a:latin typeface="Calibri"/>
              </a:rPr>
              <a:t>99 / 321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543153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F7A3D"/>
                </a:solidFill>
                <a:latin typeface="Calibri"/>
              </a:rPr>
              <a:t>31st pct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66928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566928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alibri"/>
              </a:rPr>
              <a:t>208 / 444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566928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333333"/>
                </a:solidFill>
                <a:latin typeface="Calibri"/>
              </a:rPr>
              <a:t>47th pct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90702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590702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428 / 495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590702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86th pct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62179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Peers derived independently from Math (44% overlap). Troy ELA baseline</a:t>
            </a:r>
          </a:p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(+0.729) lower than Math (+0.937) — different peer universe.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slid from top 3% to top 11% nationally in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Year-by-year SEDA national ranking (all U.S. districts) + absolute level among 504 level-matched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4754880" cy="42062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National K-5 ELA ranking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6187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SEDA 2025.1 cs scale — all U.S. districts with G3-G5 ELA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4572000" cy="2743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36776"/>
            <a:ext cx="868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Year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36776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636776"/>
            <a:ext cx="868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63677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Percentile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29384"/>
            <a:ext cx="4572000" cy="3657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947672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1947672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+0.747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1947672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380 / 12,241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94767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Top 3.1%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331720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331720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+0.605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2331720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604 / 10,588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33172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33333"/>
                </a:solidFill>
                <a:latin typeface="Calibri"/>
              </a:rPr>
              <a:t>Top 5.7%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2023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2715768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+0.526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2715768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740 / 10,632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271576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33333"/>
                </a:solidFill>
                <a:latin typeface="Calibri"/>
              </a:rPr>
              <a:t>Top 7.0%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099816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3099816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02121"/>
                </a:solidFill>
                <a:latin typeface="Consolas"/>
              </a:rPr>
              <a:t>+0.390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099816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02121"/>
                </a:solidFill>
                <a:latin typeface="Consolas"/>
              </a:rPr>
              <a:t>1,106 / 10,457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309981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Top 10.6%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483864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3483864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02121"/>
                </a:solidFill>
                <a:latin typeface="Consolas"/>
              </a:rPr>
              <a:t>+0.387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3483864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02121"/>
                </a:solidFill>
                <a:latin typeface="Consolas"/>
              </a:rPr>
              <a:t>969 / 8,921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348386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Top 10.9%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611880"/>
            <a:ext cx="4572000" cy="36576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749039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02121"/>
                </a:solidFill>
                <a:latin typeface="Calibri"/>
              </a:rPr>
              <a:t>Dropped ~600 places in 4 years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114800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 went from top 3% nationally to the edge of the top decile.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Score declined −0.360 grade levels (nearly half a grade).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2025 rank ticks up slightly only because fewer districts reported.</a:t>
            </a:r>
          </a:p>
        </p:txBody>
      </p:sp>
      <p:pic>
        <p:nvPicPr>
          <p:cNvPr id="37" name="Picture 36" descr="chart_sed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868680"/>
            <a:ext cx="6675120" cy="4895088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274320" y="5166360"/>
            <a:ext cx="11612880" cy="12344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212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Among 504 level-matched peers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44068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Pre-COVID rank: 171 / 504  (top third)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Post-COVID rank: 313 / 504  (bottom 40%)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150 districts leapfrogged Troy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52120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Michigan affluent peers — all declined, Troy fell furthest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Byron Center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546811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▲ 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22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Spring Lake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546811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▲ 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E. Grand Rapids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72600" y="546811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  <a:latin typeface="Calibri"/>
              </a:rPr>
              <a:t>▼ 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Birmingham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546811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▼ 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788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72200" y="578815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▼ 142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5788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Novi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578815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▼ 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5788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Rochester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578815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▼ 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6187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8424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8288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3055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5176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5292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697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99923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2044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2160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5661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6791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8912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9028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4348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7365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25780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45896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3035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60527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441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2984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48132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682496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282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68249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86537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066544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112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06654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24942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450592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4963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450592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633472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834640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880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83464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01752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218688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264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21868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40156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602736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6484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60273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78561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986784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032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398678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16966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370832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4165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370832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553712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754880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48006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475488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493776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138928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1846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13892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32180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522976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5686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52297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570585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5907024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5952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590702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08990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