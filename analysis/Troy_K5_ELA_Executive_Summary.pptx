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vs. 504 level-matched peers: post-COVID decline (SEDA 2025.1)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2019 → 2025 change analysis  •  Pre-COVID baseline ±0.25 of Troy, enrollment ≥150/grade-year</a:t>
            </a:r>
          </a:p>
        </p:txBody>
      </p:sp>
      <p:pic>
        <p:nvPicPr>
          <p:cNvPr id="5" name="Picture 4" descr="chart_seda_ela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58952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914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504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level-matched peer districts nationwide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574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Δ rank (16th percentile) — bottom sixth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432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post-COVID Δ (grade levels vs national norm)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290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Peer median Δ — Troy underperforms by 0.145 grade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Subgroup Δ ranks — higher rank = worse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48056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48056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424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4805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84th 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1830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71830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243 / 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7183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92nd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5604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95604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401 / 496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9560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81st pct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93792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519379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114 / 156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1937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73rd pct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431536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543153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7A3D"/>
                </a:solidFill>
                <a:latin typeface="Calibri"/>
              </a:rPr>
              <a:t>99 / 321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43153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F7A3D"/>
                </a:solidFill>
                <a:latin typeface="Calibri"/>
              </a:rPr>
              <a:t>31st pct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66928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566928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alibri"/>
              </a:rPr>
              <a:t>208 / 444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66928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33333"/>
                </a:solidFill>
                <a:latin typeface="Calibri"/>
              </a:rPr>
              <a:t>47th pct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90702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59070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428 / 495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59070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86th pct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6217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Peers derived independently from Math (44% overlap). Troy ELA baseline</a:t>
            </a:r>
          </a:p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(+0.729) lower than Math (+0.937) — different peer universe.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dropped from top-third to bottom 40% on the ELA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Absolute performance level among 504 peers — not just change, but where Troy sits now</a:t>
            </a:r>
          </a:p>
        </p:txBody>
      </p:sp>
      <p:pic>
        <p:nvPicPr>
          <p:cNvPr id="5" name="Picture 4" descr="chart_s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669280" cy="4157472"/>
          </a:xfrm>
          <a:prstGeom prst="rect">
            <a:avLst/>
          </a:prstGeom>
        </p:spPr>
      </p:pic>
      <p:pic>
        <p:nvPicPr>
          <p:cNvPr id="6" name="Picture 5" descr="chart_seda_rank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68680"/>
            <a:ext cx="5760720" cy="4224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120640"/>
            <a:ext cx="11612880" cy="1554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Every subgroup: pre-COVID rank → post-COVID rank (among 504 level-matched peers, 1 = highest)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171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504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+0.476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106 / 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221 / 294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+1.089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373 / 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432 / 497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+0.362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124 / 175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147 / 179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230 / 331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197 / 376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F7A3D"/>
                </a:solidFill>
                <a:latin typeface="Calibri"/>
              </a:rPr>
              <a:t>▲ 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155 / 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325 / 495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+0.846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744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449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318 / 461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+0.012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