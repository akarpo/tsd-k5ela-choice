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image" Target="../media/image12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011680"/>
            <a:ext cx="10698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4400" b="1" i="0">
                <a:solidFill>
                  <a:srgbClr val="FFFFFF"/>
                </a:solidFill>
                <a:latin typeface="Calibri"/>
              </a:rPr>
              <a:t>Troy SD K-5 ELA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834640"/>
            <a:ext cx="106984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800" b="0" i="0">
                <a:solidFill>
                  <a:srgbClr val="CCDDEE"/>
                </a:solidFill>
                <a:latin typeface="Calibri"/>
              </a:rPr>
              <a:t>The Quantitative Case for Curriculum Change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611880"/>
            <a:ext cx="106984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0" i="0">
                <a:solidFill>
                  <a:srgbClr val="AABBCC"/>
                </a:solidFill>
                <a:latin typeface="Calibri"/>
              </a:rPr>
              <a:t>Pressure-testing Collaborative Literacy + UFLI Foundations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4937760"/>
            <a:ext cx="2286000" cy="365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507492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Calibri"/>
              </a:rPr>
              <a:t>Executive Summary — Citations + Appendix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5440680"/>
            <a:ext cx="10698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AABBCC"/>
                </a:solidFill>
                <a:latin typeface="Calibri"/>
              </a:rPr>
              <a:t>Prepared May 2026  •  50-district national benchmark  •  2009-2025 coverage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5760720"/>
            <a:ext cx="10698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8AACC"/>
                </a:solidFill>
                <a:latin typeface="Calibri"/>
              </a:rPr>
              <a:t>Repo: github.com/akarpo/tsd-k5ela-choice    Live: tsd-k5ela-choice.karpowitsch.org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The question — and the one-line answer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75488"/>
            <a:ext cx="114300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CDDEE"/>
                </a:solidFill>
                <a:latin typeface="Calibri"/>
              </a:rPr>
              <a:t>Three independent pieces of evidence converge on the same answer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09728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707070"/>
                </a:solidFill>
                <a:latin typeface="Calibri"/>
              </a:rPr>
              <a:t>QUESTION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207008"/>
            <a:ext cx="112471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333333"/>
                </a:solidFill>
                <a:latin typeface="Calibri"/>
              </a:rPr>
              <a:t>Is Collaborative Literacy 3rd Ed. + UFLI Foundations the right K-5 ELA choice for Troy's balanced-literacy → Science of Reading transition?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057400"/>
            <a:ext cx="18288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B02121"/>
                </a:solidFill>
                <a:latin typeface="Calibri"/>
              </a:rPr>
              <a:t>ANSWER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331720"/>
            <a:ext cx="27432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6400" b="1" i="0">
                <a:solidFill>
                  <a:srgbClr val="B02121"/>
                </a:solidFill>
                <a:latin typeface="Calibri"/>
              </a:rPr>
              <a:t>No.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560320" y="2697480"/>
            <a:ext cx="91440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333333"/>
                </a:solidFill>
                <a:latin typeface="Calibri"/>
              </a:rPr>
              <a:t>The evidence converges from three independent directions: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3611880"/>
            <a:ext cx="3703320" cy="2788920"/>
          </a:xfrm>
          <a:prstGeom prst="rect">
            <a:avLst/>
          </a:prstGeom>
          <a:solidFill>
            <a:srgbClr val="FC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57200" y="3611880"/>
            <a:ext cx="3703320" cy="54864"/>
          </a:xfrm>
          <a:prstGeom prst="rect">
            <a:avLst/>
          </a:prstGeom>
          <a:solidFill>
            <a:srgbClr val="B021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3794760"/>
            <a:ext cx="333756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5200" b="1" i="0">
                <a:solidFill>
                  <a:srgbClr val="B02121"/>
                </a:solidFill>
                <a:latin typeface="Calibri"/>
              </a:rPr>
              <a:t>0 of 50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4754880"/>
            <a:ext cx="333756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50" b="1" i="0">
                <a:solidFill>
                  <a:srgbClr val="333333"/>
                </a:solidFill>
                <a:latin typeface="Calibri"/>
              </a:rPr>
              <a:t>outperformer + peer districts¹ use Collaborative Literacy as their K-5 core.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97280" y="5532120"/>
            <a:ext cx="2423160" cy="22860"/>
          </a:xfrm>
          <a:prstGeom prst="rect">
            <a:avLst/>
          </a:prstGeom>
          <a:solidFill>
            <a:srgbClr val="B021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5623560"/>
            <a:ext cx="333756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0" i="1">
                <a:solidFill>
                  <a:srgbClr val="333333"/>
                </a:solidFill>
                <a:latin typeface="Calibri"/>
              </a:rPr>
              <a:t>There is no national precedent for the combination Troy is considering.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251960" y="3611880"/>
            <a:ext cx="3703320" cy="2788920"/>
          </a:xfrm>
          <a:prstGeom prst="rect">
            <a:avLst/>
          </a:prstGeom>
          <a:solidFill>
            <a:srgbClr val="E6F4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251960" y="3611880"/>
            <a:ext cx="3703320" cy="54864"/>
          </a:xfrm>
          <a:prstGeom prst="rect">
            <a:avLst/>
          </a:prstGeom>
          <a:solidFill>
            <a:srgbClr val="1F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434840" y="3794760"/>
            <a:ext cx="333756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4800" b="1" i="0">
                <a:solidFill>
                  <a:srgbClr val="1F7A3D"/>
                </a:solidFill>
                <a:latin typeface="Calibri"/>
              </a:rPr>
              <a:t>19 of 20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34840" y="4754880"/>
            <a:ext cx="333756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1" i="0">
                <a:solidFill>
                  <a:srgbClr val="333333"/>
                </a:solidFill>
                <a:latin typeface="Calibri"/>
              </a:rPr>
              <a:t>Education Scorecard 2026³ ELA-relevant outperformer districts run, supplement, or are transitioning to SoR-aligned curricula.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892040" y="5532120"/>
            <a:ext cx="2423160" cy="22860"/>
          </a:xfrm>
          <a:prstGeom prst="rect">
            <a:avLst/>
          </a:prstGeom>
          <a:solidFill>
            <a:srgbClr val="1F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434840" y="5623560"/>
            <a:ext cx="333756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 i="0">
                <a:solidFill>
                  <a:srgbClr val="333333"/>
                </a:solidFill>
                <a:latin typeface="Calibri"/>
              </a:rPr>
              <a:t>Demographic-adjusted gain methodology — Harvard, Stanford, Dartmouth.</a:t>
            </a:r>
          </a:p>
          <a:p>
            <a:pPr algn="ctr"/>
            <a:r>
              <a:rPr sz="100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 algn="ctr"/>
            <a:r>
              <a:rPr sz="1000" b="0" i="0">
                <a:solidFill>
                  <a:srgbClr val="333333"/>
                </a:solidFill>
                <a:latin typeface="Calibri"/>
              </a:rPr>
              <a:t>Only Wayne County NC stayed in pure balanced literacy.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028431" y="3611880"/>
            <a:ext cx="3703320" cy="2788920"/>
          </a:xfrm>
          <a:prstGeom prst="rect">
            <a:avLst/>
          </a:prstGeom>
          <a:solidFill>
            <a:srgbClr val="E6F4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028431" y="3611880"/>
            <a:ext cx="3703320" cy="54864"/>
          </a:xfrm>
          <a:prstGeom prst="rect">
            <a:avLst/>
          </a:prstGeom>
          <a:solidFill>
            <a:srgbClr val="1F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11311" y="3794760"/>
            <a:ext cx="333756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5200" b="1" i="0">
                <a:solidFill>
                  <a:srgbClr val="1F7A3D"/>
                </a:solidFill>
                <a:latin typeface="Calibri"/>
              </a:rPr>
              <a:t>3 of 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11311" y="4754880"/>
            <a:ext cx="333756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1" i="0">
                <a:solidFill>
                  <a:srgbClr val="333333"/>
                </a:solidFill>
                <a:latin typeface="Calibri"/>
              </a:rPr>
              <a:t>of Troy's stronger alternatives have named district adoptions with recovery evidence.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668511" y="5532120"/>
            <a:ext cx="2423160" cy="22860"/>
          </a:xfrm>
          <a:prstGeom prst="rect">
            <a:avLst/>
          </a:prstGeom>
          <a:solidFill>
            <a:srgbClr val="1F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11311" y="5623560"/>
            <a:ext cx="333756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 i="0">
                <a:solidFill>
                  <a:srgbClr val="333333"/>
                </a:solidFill>
                <a:latin typeface="Consolas"/>
              </a:rPr>
              <a:t>Amplify CKLA — Marion Co KY³⁰, Fond du Lac WI³³</a:t>
            </a:r>
          </a:p>
          <a:p>
            <a:pPr algn="ctr"/>
            <a:r>
              <a:rPr sz="1000" b="0" i="0">
                <a:solidFill>
                  <a:srgbClr val="333333"/>
                </a:solidFill>
                <a:latin typeface="Consolas"/>
              </a:rPr>
              <a:t>EL Education — Detroit DPSCD⁴²</a:t>
            </a:r>
          </a:p>
          <a:p>
            <a:pPr algn="ctr"/>
            <a:r>
              <a:rPr sz="1000" b="0" i="0">
                <a:solidFill>
                  <a:srgbClr val="333333"/>
                </a:solidFill>
                <a:latin typeface="Consolas"/>
              </a:rPr>
              <a:t>Wit &amp; Wisdom — W. Baton Rouge³⁷, Baltimore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5760" y="6601968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707070"/>
                </a:solidFill>
                <a:latin typeface="Calibri"/>
              </a:rPr>
              <a:t>Troy SD K-5 ELA — Executive Summary  •  github.com/akarpo/tsd-k5ela-choice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515600" y="6601968"/>
            <a:ext cx="13716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0" i="0">
                <a:solidFill>
                  <a:srgbClr val="707070"/>
                </a:solidFill>
                <a:latin typeface="Calibri"/>
              </a:rPr>
              <a:t>2 / 29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First, the honest pre-COVID picture — Troy gained on aggregate, but subgroups were uneven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75488"/>
            <a:ext cx="114300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CDDEE"/>
                </a:solidFill>
                <a:latin typeface="Calibri"/>
              </a:rPr>
              <a:t>SEDA cohort-standardized scale (cs): NAEP-anchored grade-level units. +1.0 = one grade above national norm.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6012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F3A5F"/>
                </a:solidFill>
                <a:latin typeface="Calibri"/>
              </a:rPr>
              <a:t>Why this matters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280160"/>
            <a:ext cx="112471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333333"/>
                </a:solidFill>
                <a:latin typeface="Calibri"/>
              </a:rPr>
              <a:t>Any argument for change has to start by acknowledging what's true: pre-COVID, Troy was healthy on the</a:t>
            </a:r>
          </a:p>
          <a:p>
            <a:pPr algn="l"/>
            <a:r>
              <a:rPr sz="1200" b="0" i="0">
                <a:solidFill>
                  <a:srgbClr val="333333"/>
                </a:solidFill>
                <a:latin typeface="Calibri"/>
              </a:rPr>
              <a:t>only metric that compares across state tests fairly¹⁻². Calkins UoS didn't break Troy historically.</a:t>
            </a:r>
          </a:p>
          <a:p>
            <a:pPr algn="l"/>
            <a:r>
              <a:rPr sz="1200" b="0" i="0">
                <a:solidFill>
                  <a:srgbClr val="333333"/>
                </a:solidFill>
                <a:latin typeface="Calibri"/>
              </a:rPr>
              <a:t>Pretending otherwise undermines the credibility of the post-COVID case (which IS strong).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377440"/>
            <a:ext cx="5486400" cy="3840480"/>
          </a:xfrm>
          <a:prstGeom prst="rect">
            <a:avLst/>
          </a:prstGeom>
          <a:solidFill>
            <a:srgbClr val="E6F4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2514600"/>
            <a:ext cx="51206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F7A3D"/>
                </a:solidFill>
                <a:latin typeface="Calibri"/>
              </a:rPr>
              <a:t>Troy SD 2009 → 2019 on SEDA cs scale²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880360"/>
            <a:ext cx="5120640" cy="274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333333"/>
                </a:solidFill>
                <a:latin typeface="Consolas"/>
              </a:rPr>
              <a:t>•  All Students:      +0.486 → +0.747   (+0.26)</a:t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onsolas"/>
              </a:rPr>
              <a:t>•  Asian:             +0.712 → +1.063   (+0.35)</a:t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onsolas"/>
              </a:rPr>
              <a:t>•  White:             +0.450 → +0.609   (+0.16)</a:t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onsolas"/>
              </a:rPr>
              <a:t>•  Black:             −0.070 → −0.160   (−0.09)</a:t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onsolas"/>
              </a:rPr>
              <a:t>•  Hispanic*:         +0.340 → +0.033   (−0.31)</a:t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onsolas"/>
              </a:rPr>
              <a:t>•  Econ Disadv:       −0.210 → +0.078   (+0.29)</a:t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onsolas"/>
              </a:rPr>
              <a:t>•  Not-Econ Disadv:   +0.552 → +0.853   (+0.30)</a:t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onsolas"/>
              </a:rPr>
              <a:t/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onsolas"/>
              </a:rPr>
              <a:t>* Hispanic suppressed pre-2011 (N&lt;10); baseline is 2011.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5349240"/>
            <a:ext cx="512064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1">
                <a:solidFill>
                  <a:srgbClr val="333333"/>
                </a:solidFill>
                <a:latin typeface="Calibri"/>
              </a:rPr>
              <a:t>Aggregate gains went to Asian, White, Not-ECD, and EconDis subgroups. Black + Hispanic subgroups stagnated or slipped slightly — the pre-COVID story was uneven.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17920" y="2377440"/>
            <a:ext cx="5486400" cy="3840480"/>
          </a:xfrm>
          <a:prstGeom prst="rect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0" y="2514600"/>
            <a:ext cx="51206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F3A5F"/>
                </a:solidFill>
                <a:latin typeface="Calibri"/>
              </a:rPr>
              <a:t>What this rules out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0" y="2880360"/>
            <a:ext cx="5120640" cy="3200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333333"/>
                </a:solidFill>
                <a:latin typeface="Calibri"/>
              </a:rPr>
              <a:t>•  "Calkins UoS has been failing Troy for a decade."</a:t>
            </a:r>
          </a:p>
          <a:p>
            <a:pPr algn="l"/>
            <a:r>
              <a:rPr sz="1200" b="0" i="0">
                <a:solidFill>
                  <a:srgbClr val="333333"/>
                </a:solidFill>
                <a:latin typeface="Calibri"/>
              </a:rPr>
              <a:t>    Mostly false. Aggregate + affluent gains 2009-2019.</a:t>
            </a:r>
          </a:p>
          <a:p>
            <a:pPr algn="l"/>
            <a:r>
              <a:rPr sz="1200" b="0" i="0">
                <a:solidFill>
                  <a:srgbClr val="333333"/>
                </a:solidFill>
                <a:latin typeface="Calibri"/>
              </a:rPr>
              <a:t>    (Caveat: Black + Hispanic subgroups stagnated.)</a:t>
            </a:r>
          </a:p>
          <a:p>
            <a:pPr algn="l"/>
            <a:r>
              <a:rPr sz="120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 algn="l"/>
            <a:r>
              <a:rPr sz="1200" b="0" i="0">
                <a:solidFill>
                  <a:srgbClr val="333333"/>
                </a:solidFill>
                <a:latin typeface="Calibri"/>
              </a:rPr>
              <a:t>•  "This is a long-running trend that COVID exposed."</a:t>
            </a:r>
          </a:p>
          <a:p>
            <a:pPr algn="l"/>
            <a:r>
              <a:rPr sz="1200" b="0" i="0">
                <a:solidFill>
                  <a:srgbClr val="333333"/>
                </a:solidFill>
                <a:latin typeface="Calibri"/>
              </a:rPr>
              <a:t>    False. 2019 was Troy's peak on the aggregate scale.</a:t>
            </a:r>
          </a:p>
          <a:p>
            <a:pPr algn="l"/>
            <a:r>
              <a:rPr sz="120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 algn="l"/>
            <a:r>
              <a:rPr sz="1200" b="0" i="0">
                <a:solidFill>
                  <a:srgbClr val="333333"/>
                </a:solidFill>
                <a:latin typeface="Calibri"/>
              </a:rPr>
              <a:t>•  "Troy was on a declining trajectory."</a:t>
            </a:r>
          </a:p>
          <a:p>
            <a:pPr algn="l"/>
            <a:r>
              <a:rPr sz="1200" b="0" i="0">
                <a:solidFill>
                  <a:srgbClr val="333333"/>
                </a:solidFill>
                <a:latin typeface="Calibri"/>
              </a:rPr>
              <a:t>    False. Troy outperformed every MI affluent peer</a:t>
            </a:r>
          </a:p>
          <a:p>
            <a:pPr algn="l"/>
            <a:r>
              <a:rPr sz="1200" b="0" i="0">
                <a:solidFill>
                  <a:srgbClr val="333333"/>
                </a:solidFill>
                <a:latin typeface="Calibri"/>
              </a:rPr>
              <a:t>    on aggregate 2009-2019.</a:t>
            </a:r>
          </a:p>
          <a:p>
            <a:pPr algn="l"/>
            <a:r>
              <a:rPr sz="120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 algn="l"/>
            <a:r>
              <a:rPr sz="1200" b="0" i="0">
                <a:solidFill>
                  <a:srgbClr val="333333"/>
                </a:solidFill>
                <a:latin typeface="Calibri"/>
              </a:rPr>
              <a:t>The case for change is NOT retrospective.</a:t>
            </a:r>
          </a:p>
          <a:p>
            <a:pPr algn="l"/>
            <a:r>
              <a:rPr sz="1200" b="0" i="0">
                <a:solidFill>
                  <a:srgbClr val="333333"/>
                </a:solidFill>
                <a:latin typeface="Calibri"/>
              </a:rPr>
              <a:t>The collapse is post-COVID (2019→2025) — and it hit</a:t>
            </a:r>
          </a:p>
          <a:p>
            <a:pPr algn="l"/>
            <a:r>
              <a:rPr sz="1200" b="0" i="0">
                <a:solidFill>
                  <a:srgbClr val="333333"/>
                </a:solidFill>
                <a:latin typeface="Calibri"/>
              </a:rPr>
              <a:t>every subgroup.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6601968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707070"/>
                </a:solidFill>
                <a:latin typeface="Calibri"/>
              </a:rPr>
              <a:t>Troy SD K-5 ELA — Executive Summary  •  github.com/akarpo/tsd-k5ela-choice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15600" y="6601968"/>
            <a:ext cx="13716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0" i="0">
                <a:solidFill>
                  <a:srgbClr val="707070"/>
                </a:solidFill>
                <a:latin typeface="Calibri"/>
              </a:rPr>
              <a:t>3 / 29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The post-COVID collapse is the real signal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75488"/>
            <a:ext cx="114300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CDDEE"/>
                </a:solidFill>
                <a:latin typeface="Calibri"/>
              </a:rPr>
              <a:t>Troy's 2019 peak was +0.747. By 2025: +0.387. Lost 16 years of slow gains in 3 years.</a:t>
            </a:r>
          </a:p>
        </p:txBody>
      </p:sp>
      <p:pic>
        <p:nvPicPr>
          <p:cNvPr id="5" name="Picture 4" descr="chart10_troy_2009_202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914400"/>
            <a:ext cx="7772400" cy="418513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8321040" y="960120"/>
            <a:ext cx="3566160" cy="2697480"/>
          </a:xfrm>
          <a:prstGeom prst="rect">
            <a:avLst/>
          </a:prstGeom>
          <a:solidFill>
            <a:srgbClr val="FC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458200" y="1051560"/>
            <a:ext cx="329184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B02121"/>
                </a:solidFill>
                <a:latin typeface="Calibri"/>
              </a:rPr>
              <a:t>From 2019 peak to 2025¹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58200" y="1371600"/>
            <a:ext cx="3291840" cy="1325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333333"/>
                </a:solidFill>
                <a:latin typeface="Consolas"/>
              </a:rPr>
              <a:t>All Students    −0.36</a:t>
            </a:r>
          </a:p>
          <a:p>
            <a:pPr algn="l"/>
            <a:r>
              <a:rPr sz="1200" b="0" i="0">
                <a:solidFill>
                  <a:srgbClr val="333333"/>
                </a:solidFill>
                <a:latin typeface="Consolas"/>
              </a:rPr>
              <a:t>Asian           −0.46</a:t>
            </a:r>
          </a:p>
          <a:p>
            <a:pPr algn="l"/>
            <a:r>
              <a:rPr sz="1200" b="0" i="0">
                <a:solidFill>
                  <a:srgbClr val="333333"/>
                </a:solidFill>
                <a:latin typeface="Consolas"/>
              </a:rPr>
              <a:t>White           −0.29</a:t>
            </a:r>
          </a:p>
          <a:p>
            <a:pPr algn="l"/>
            <a:r>
              <a:rPr sz="1200" b="0" i="0">
                <a:solidFill>
                  <a:srgbClr val="333333"/>
                </a:solidFill>
                <a:latin typeface="Consolas"/>
              </a:rPr>
              <a:t>Not-ECD         −0.37</a:t>
            </a:r>
          </a:p>
          <a:p>
            <a:pPr algn="l"/>
            <a:r>
              <a:rPr sz="1200" b="0" i="0">
                <a:solidFill>
                  <a:srgbClr val="333333"/>
                </a:solidFill>
                <a:latin typeface="Consolas"/>
              </a:rPr>
              <a:t>EconDis         −0.25</a:t>
            </a:r>
          </a:p>
          <a:p>
            <a:pPr algn="l"/>
            <a:r>
              <a:rPr sz="1200" b="0" i="0">
                <a:solidFill>
                  <a:srgbClr val="333333"/>
                </a:solidFill>
                <a:latin typeface="Consolas"/>
              </a:rPr>
              <a:t>Black           −0.15</a:t>
            </a:r>
          </a:p>
          <a:p>
            <a:pPr algn="l"/>
            <a:r>
              <a:rPr sz="1200" b="0" i="0">
                <a:solidFill>
                  <a:srgbClr val="333333"/>
                </a:solidFill>
                <a:latin typeface="Consolas"/>
              </a:rPr>
              <a:t>Hispanic        +0.08 †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58200" y="2743200"/>
            <a:ext cx="329184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1">
                <a:solidFill>
                  <a:srgbClr val="707070"/>
                </a:solidFill>
                <a:latin typeface="Calibri"/>
              </a:rPr>
              <a:t>(grade-level units)</a:t>
            </a:r>
          </a:p>
          <a:p>
            <a:pPr algn="l"/>
            <a:r>
              <a:rPr sz="950" b="0" i="1">
                <a:solidFill>
                  <a:srgbClr val="707070"/>
                </a:solidFill>
                <a:latin typeface="Calibri"/>
              </a:rPr>
              <a:t>† small-N subgroup (~3-4% of Troy)</a:t>
            </a:r>
          </a:p>
        </p:txBody>
      </p:sp>
      <p:sp>
        <p:nvSpPr>
          <p:cNvPr id="10" name="Rectangle 9"/>
          <p:cNvSpPr/>
          <p:nvPr/>
        </p:nvSpPr>
        <p:spPr>
          <a:xfrm>
            <a:off x="8321040" y="3749039"/>
            <a:ext cx="3566160" cy="2423160"/>
          </a:xfrm>
          <a:prstGeom prst="rect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458200" y="3840480"/>
            <a:ext cx="329184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F3A5F"/>
                </a:solidFill>
                <a:latin typeface="Calibri"/>
              </a:rPr>
              <a:t>Four straight years of decline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58200" y="4160520"/>
            <a:ext cx="3291840" cy="187451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333333"/>
                </a:solidFill>
                <a:latin typeface="Calibri"/>
              </a:rPr>
              <a:t>2022:  +0.605</a:t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alibri"/>
              </a:rPr>
              <a:t>2023:  +0.526</a:t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alibri"/>
              </a:rPr>
              <a:t>2024:  +0.390</a:t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alibri"/>
              </a:rPr>
              <a:t>2025:  +0.387</a:t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alibri"/>
              </a:rPr>
              <a:t>The 2025 Troy score (+0.387) is BELOW Troy's 2009 score (+0.486).</a:t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alibri"/>
              </a:rPr>
              <a:t>Sixteen years of slow gains erased in three years — and recovery has not started.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601968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707070"/>
                </a:solidFill>
                <a:latin typeface="Calibri"/>
              </a:rPr>
              <a:t>Troy SD K-5 ELA — Executive Summary  •  github.com/akarpo/tsd-k5ela-choice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15600" y="6601968"/>
            <a:ext cx="13716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0" i="0">
                <a:solidFill>
                  <a:srgbClr val="707070"/>
                </a:solidFill>
                <a:latin typeface="Calibri"/>
              </a:rPr>
              <a:t>4 / 29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Of 50 demographically-comparable + outperformer districts, Troy ranks 47 of 49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75488"/>
            <a:ext cx="114300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CDDEE"/>
                </a:solidFill>
                <a:latin typeface="Calibri"/>
              </a:rPr>
              <a:t>Pre-COVID (2017-19 mean) vs Post-COVID (2022-25 mean) on SEDA cohort-standardized RLA scale</a:t>
            </a:r>
          </a:p>
        </p:txBody>
      </p:sp>
      <p:pic>
        <p:nvPicPr>
          <p:cNvPr id="5" name="Picture 4" descr="chart11_seda_pre_post_covi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868680"/>
            <a:ext cx="7498079" cy="539443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8046720" y="914400"/>
            <a:ext cx="3931920" cy="5486400"/>
          </a:xfrm>
          <a:prstGeom prst="rect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83879" y="1051560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B02121"/>
                </a:solidFill>
                <a:latin typeface="Calibri"/>
              </a:rPr>
              <a:t>Bottom 5 districts (Δ pre→post)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183879" y="1417320"/>
            <a:ext cx="365760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333333"/>
                </a:solidFill>
                <a:latin typeface="Consolas"/>
              </a:rPr>
              <a:t>48  Sikeston R-6         −0.275</a:t>
            </a:r>
          </a:p>
          <a:p>
            <a:pPr algn="l"/>
            <a:r>
              <a:rPr sz="1050" b="0" i="0">
                <a:solidFill>
                  <a:srgbClr val="333333"/>
                </a:solidFill>
                <a:latin typeface="Consolas"/>
              </a:rPr>
              <a:t>47  Detroit DPSCD        −0.259</a:t>
            </a:r>
          </a:p>
          <a:p>
            <a:pPr algn="l"/>
            <a:r>
              <a:rPr sz="1050" b="0" i="0">
                <a:solidFill>
                  <a:srgbClr val="333333"/>
                </a:solidFill>
                <a:latin typeface="Consolas"/>
              </a:rPr>
              <a:t>46  Troy SD              −0.253  ◄</a:t>
            </a:r>
          </a:p>
          <a:p>
            <a:pPr algn="l"/>
            <a:r>
              <a:rPr sz="1050" b="0" i="0">
                <a:solidFill>
                  <a:srgbClr val="333333"/>
                </a:solidFill>
                <a:latin typeface="Consolas"/>
              </a:rPr>
              <a:t>45  Bethlehem Area SD    −0.246</a:t>
            </a:r>
          </a:p>
          <a:p>
            <a:pPr algn="l"/>
            <a:r>
              <a:rPr sz="1050" b="0" i="0">
                <a:solidFill>
                  <a:srgbClr val="333333"/>
                </a:solidFill>
                <a:latin typeface="Consolas"/>
              </a:rPr>
              <a:t>44  West Bloomfield      −0.243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83879" y="2788920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F7A3D"/>
                </a:solidFill>
                <a:latin typeface="Calibri"/>
              </a:rPr>
              <a:t>Top 5 districts (Δ pre→post)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183879" y="3154680"/>
            <a:ext cx="365760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333333"/>
                </a:solidFill>
                <a:latin typeface="Consolas"/>
              </a:rPr>
              <a:t>1  Spring Branch ISD    +0.284  (TX STR³⁶)</a:t>
            </a:r>
          </a:p>
          <a:p>
            <a:pPr algn="l"/>
            <a:r>
              <a:rPr sz="1050" b="0" i="0">
                <a:solidFill>
                  <a:srgbClr val="333333"/>
                </a:solidFill>
                <a:latin typeface="Consolas"/>
              </a:rPr>
              <a:t>2  Palo Alto USD        +0.132  (ESRI³⁵)</a:t>
            </a:r>
          </a:p>
          <a:p>
            <a:pPr algn="l"/>
            <a:r>
              <a:rPr sz="1050" b="0" i="0">
                <a:solidFill>
                  <a:srgbClr val="333333"/>
                </a:solidFill>
                <a:latin typeface="Consolas"/>
              </a:rPr>
              <a:t>3  West Baton Rouge     +0.132  (W&amp;W³⁷)</a:t>
            </a:r>
          </a:p>
          <a:p>
            <a:pPr algn="l"/>
            <a:r>
              <a:rPr sz="1050" b="0" i="0">
                <a:solidFill>
                  <a:srgbClr val="333333"/>
                </a:solidFill>
                <a:latin typeface="Consolas"/>
              </a:rPr>
              <a:t>4  Johnson City TN      +0.121  (TN HQIM³⁹)</a:t>
            </a:r>
          </a:p>
          <a:p>
            <a:pPr algn="l"/>
            <a:r>
              <a:rPr sz="1050" b="0" i="0">
                <a:solidFill>
                  <a:srgbClr val="333333"/>
                </a:solidFill>
                <a:latin typeface="Consolas"/>
              </a:rPr>
              <a:t>5  Frisco ISD           +0.097  (BL)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183879" y="4572000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F3A5F"/>
                </a:solidFill>
                <a:latin typeface="Calibri"/>
              </a:rPr>
              <a:t>Pattern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83879" y="4937760"/>
            <a:ext cx="3657600" cy="1645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333333"/>
                </a:solidFill>
                <a:latin typeface="Calibri"/>
              </a:rPr>
              <a:t>Districts that GAINED post-COVID all run structured-literacy cores.</a:t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alibri"/>
              </a:rPr>
              <a:t>Districts at the bottom either (a) face severe poverty headwinds (Sikeston, Detroit) or (b) are affluent BL districts (Troy, West Bloomfield).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601968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707070"/>
                </a:solidFill>
                <a:latin typeface="Calibri"/>
              </a:rPr>
              <a:t>Troy SD K-5 ELA — Executive Summary  •  github.com/akarpo/tsd-k5ela-choice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15600" y="6601968"/>
            <a:ext cx="13716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0" i="0">
                <a:solidFill>
                  <a:srgbClr val="707070"/>
                </a:solidFill>
                <a:latin typeface="Calibri"/>
              </a:rPr>
              <a:t>5 / 29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The comprehensive view — every district, every curriculum type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75488"/>
            <a:ext cx="114300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CDDEE"/>
                </a:solidFill>
                <a:latin typeface="Calibri"/>
              </a:rPr>
              <a:t>Curriculum alone doesn't determine recovery. But magnitude of gain correlates with structured literacy.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914400"/>
            <a:ext cx="11430000" cy="868680"/>
          </a:xfrm>
          <a:prstGeom prst="rect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0584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F3A5F"/>
                </a:solidFill>
                <a:latin typeface="Calibri"/>
              </a:rPr>
              <a:t>Of 49 districts with sufficient pre/post-COVID data¹: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32588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333333"/>
                </a:solidFill>
                <a:latin typeface="Calibri"/>
              </a:rPr>
              <a:t>13 gained on the SEDA scale  •  36 declined  •  Many SoR-adopters also declined — recovery is not automatic.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1965960"/>
            <a:ext cx="3703320" cy="4160520"/>
          </a:xfrm>
          <a:prstGeom prst="rect">
            <a:avLst/>
          </a:prstGeom>
          <a:solidFill>
            <a:srgbClr val="E6F4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65760" y="1965960"/>
            <a:ext cx="3703320" cy="411480"/>
          </a:xfrm>
          <a:prstGeom prst="rect">
            <a:avLst/>
          </a:prstGeom>
          <a:solidFill>
            <a:srgbClr val="1F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2039112"/>
            <a:ext cx="333756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Big gain   (Δ ≥ +0.10)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2468880"/>
            <a:ext cx="33375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1F7A3D"/>
                </a:solidFill>
                <a:latin typeface="Calibri"/>
              </a:rPr>
              <a:t>4 districts — ALL SoR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2926080"/>
            <a:ext cx="16916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333333"/>
                </a:solidFill>
                <a:latin typeface="Calibri"/>
              </a:rPr>
              <a:t>Spring Branch ISD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286000" y="2926080"/>
            <a:ext cx="7772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333333"/>
                </a:solidFill>
                <a:latin typeface="Consolas"/>
              </a:rPr>
              <a:t>+0.284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063240" y="2926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F7A3D"/>
                </a:solidFill>
                <a:latin typeface="Calibri"/>
              </a:rPr>
              <a:t>TX STR³⁶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3163824"/>
            <a:ext cx="16916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333333"/>
                </a:solidFill>
                <a:latin typeface="Calibri"/>
              </a:rPr>
              <a:t>Palo Alto USD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286000" y="3163824"/>
            <a:ext cx="7772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333333"/>
                </a:solidFill>
                <a:latin typeface="Consolas"/>
              </a:rPr>
              <a:t>+0.132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063240" y="3163824"/>
            <a:ext cx="9144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F7A3D"/>
                </a:solidFill>
                <a:latin typeface="Calibri"/>
              </a:rPr>
              <a:t>ESRI³⁵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3401568"/>
            <a:ext cx="16916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333333"/>
                </a:solidFill>
                <a:latin typeface="Calibri"/>
              </a:rPr>
              <a:t>West Baton Rouge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286000" y="3401568"/>
            <a:ext cx="7772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333333"/>
                </a:solidFill>
                <a:latin typeface="Consolas"/>
              </a:rPr>
              <a:t>+0.132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063240" y="3401568"/>
            <a:ext cx="9144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F7A3D"/>
                </a:solidFill>
                <a:latin typeface="Calibri"/>
              </a:rPr>
              <a:t>W&amp;W³⁷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3639312"/>
            <a:ext cx="16916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333333"/>
                </a:solidFill>
                <a:latin typeface="Calibri"/>
              </a:rPr>
              <a:t>Johnson City TN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286000" y="3639312"/>
            <a:ext cx="7772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333333"/>
                </a:solidFill>
                <a:latin typeface="Consolas"/>
              </a:rPr>
              <a:t>+0.121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063240" y="3639312"/>
            <a:ext cx="9144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F7A3D"/>
                </a:solidFill>
                <a:latin typeface="Calibri"/>
              </a:rPr>
              <a:t>TN HQIM³⁹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5074920"/>
            <a:ext cx="333756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333333"/>
                </a:solidFill>
                <a:latin typeface="Calibri"/>
              </a:rPr>
              <a:t>100% of districts in this tier run structured-literacy programs.</a:t>
            </a:r>
          </a:p>
          <a:p>
            <a:pPr algn="l"/>
            <a:r>
              <a:rPr sz="95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 algn="l"/>
            <a:r>
              <a:rPr sz="950" b="0" i="0">
                <a:solidFill>
                  <a:srgbClr val="333333"/>
                </a:solidFill>
                <a:latin typeface="Calibri"/>
              </a:rPr>
              <a:t>Next-strongest gainer outside this tier: Frisco ISD (TX, BL) at +0.097.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51960" y="1965960"/>
            <a:ext cx="3703320" cy="4160520"/>
          </a:xfrm>
          <a:prstGeom prst="rect">
            <a:avLst/>
          </a:prstGeom>
          <a:solidFill>
            <a:srgbClr val="FFF4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251960" y="1965960"/>
            <a:ext cx="3703320" cy="411480"/>
          </a:xfrm>
          <a:prstGeom prst="rect">
            <a:avLst/>
          </a:prstGeom>
          <a:solidFill>
            <a:srgbClr val="CC6A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434840" y="2039112"/>
            <a:ext cx="333756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Moderate gain   (+0.05 to +0.10)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434840" y="2468880"/>
            <a:ext cx="33375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CC6A11"/>
                </a:solidFill>
                <a:latin typeface="Calibri"/>
              </a:rPr>
              <a:t>6 districts — mixed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434840" y="2926080"/>
            <a:ext cx="16916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333333"/>
                </a:solidFill>
                <a:latin typeface="Calibri"/>
              </a:rPr>
              <a:t>Frisco ISD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172200" y="2926080"/>
            <a:ext cx="7772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333333"/>
                </a:solidFill>
                <a:latin typeface="Consolas"/>
              </a:rPr>
              <a:t>+0.097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949440" y="2926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CC6A11"/>
                </a:solidFill>
                <a:latin typeface="Calibri"/>
              </a:rPr>
              <a:t>BL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434840" y="3163824"/>
            <a:ext cx="16916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333333"/>
                </a:solidFill>
                <a:latin typeface="Calibri"/>
              </a:rPr>
              <a:t>Milpitas USD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172200" y="3163824"/>
            <a:ext cx="7772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333333"/>
                </a:solidFill>
                <a:latin typeface="Consolas"/>
              </a:rPr>
              <a:t>+0.090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949440" y="3163824"/>
            <a:ext cx="9144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CC6A11"/>
                </a:solidFill>
                <a:latin typeface="Calibri"/>
              </a:rPr>
              <a:t>Benchmark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434840" y="3401568"/>
            <a:ext cx="16916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333333"/>
                </a:solidFill>
                <a:latin typeface="Calibri"/>
              </a:rPr>
              <a:t>Issaquah SD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172200" y="3401568"/>
            <a:ext cx="7772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333333"/>
                </a:solidFill>
                <a:latin typeface="Consolas"/>
              </a:rPr>
              <a:t>+0.087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949440" y="3401568"/>
            <a:ext cx="9144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CC6A11"/>
                </a:solidFill>
                <a:latin typeface="Calibri"/>
              </a:rPr>
              <a:t>Benchmark '24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434840" y="3639312"/>
            <a:ext cx="16916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333333"/>
                </a:solidFill>
                <a:latin typeface="Calibri"/>
              </a:rPr>
              <a:t>Dublin USD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172200" y="3639312"/>
            <a:ext cx="7772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333333"/>
                </a:solidFill>
                <a:latin typeface="Consolas"/>
              </a:rPr>
              <a:t>+0.084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949440" y="3639312"/>
            <a:ext cx="9144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CC6A11"/>
                </a:solidFill>
                <a:latin typeface="Calibri"/>
              </a:rPr>
              <a:t>Bench+Heggerty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434840" y="3877056"/>
            <a:ext cx="16916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333333"/>
                </a:solidFill>
                <a:latin typeface="Calibri"/>
              </a:rPr>
              <a:t>Coppell ISD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172200" y="3877056"/>
            <a:ext cx="7772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333333"/>
                </a:solidFill>
                <a:latin typeface="Consolas"/>
              </a:rPr>
              <a:t>+0.068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949440" y="3877056"/>
            <a:ext cx="9144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CC6A11"/>
                </a:solidFill>
                <a:latin typeface="Calibri"/>
              </a:rPr>
              <a:t>BL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434840" y="4114800"/>
            <a:ext cx="16916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333333"/>
                </a:solidFill>
                <a:latin typeface="Calibri"/>
              </a:rPr>
              <a:t>Princeton PS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172200" y="4114800"/>
            <a:ext cx="7772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333333"/>
                </a:solidFill>
                <a:latin typeface="Consolas"/>
              </a:rPr>
              <a:t>+0.060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949440" y="411480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CC6A11"/>
                </a:solidFill>
                <a:latin typeface="Calibri"/>
              </a:rPr>
              <a:t>BL (NJ peer)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434840" y="5074920"/>
            <a:ext cx="333756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333333"/>
                </a:solidFill>
                <a:latin typeface="Calibri"/>
              </a:rPr>
              <a:t>Mix of BL, Benchmark-Advance, and recently-adopted structured literacy.</a:t>
            </a:r>
          </a:p>
        </p:txBody>
      </p:sp>
      <p:sp>
        <p:nvSpPr>
          <p:cNvPr id="48" name="Rectangle 47"/>
          <p:cNvSpPr/>
          <p:nvPr/>
        </p:nvSpPr>
        <p:spPr>
          <a:xfrm>
            <a:off x="8138160" y="1965960"/>
            <a:ext cx="3703320" cy="4160520"/>
          </a:xfrm>
          <a:prstGeom prst="rect">
            <a:avLst/>
          </a:prstGeom>
          <a:solidFill>
            <a:srgbClr val="FC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8138160" y="1965960"/>
            <a:ext cx="3703320" cy="411480"/>
          </a:xfrm>
          <a:prstGeom prst="rect">
            <a:avLst/>
          </a:prstGeom>
          <a:solidFill>
            <a:srgbClr val="B021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8321040" y="2039112"/>
            <a:ext cx="333756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Flat or declined   (Δ &lt; +0.05)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321040" y="2468880"/>
            <a:ext cx="33375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B02121"/>
                </a:solidFill>
                <a:latin typeface="Calibri"/>
              </a:rPr>
              <a:t>39 districts — both types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321040" y="2926080"/>
            <a:ext cx="16916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333333"/>
                </a:solidFill>
                <a:latin typeface="Calibri"/>
              </a:rPr>
              <a:t>Detroit DPSCD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0058400" y="2926080"/>
            <a:ext cx="7772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333333"/>
                </a:solidFill>
                <a:latin typeface="Consolas"/>
              </a:rPr>
              <a:t>−0.259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0835640" y="2926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B02121"/>
                </a:solidFill>
                <a:latin typeface="Calibri"/>
              </a:rPr>
              <a:t>EL Ed (SoR)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321040" y="3163824"/>
            <a:ext cx="16916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333333"/>
                </a:solidFill>
                <a:latin typeface="Calibri"/>
              </a:rPr>
              <a:t>Aldine ISD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0058400" y="3163824"/>
            <a:ext cx="7772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333333"/>
                </a:solidFill>
                <a:latin typeface="Consolas"/>
              </a:rPr>
              <a:t>−0.034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0835640" y="3163824"/>
            <a:ext cx="9144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B02121"/>
                </a:solidFill>
                <a:latin typeface="Calibri"/>
              </a:rPr>
              <a:t>CKLA (SoR)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8321040" y="3401568"/>
            <a:ext cx="16916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333333"/>
                </a:solidFill>
                <a:latin typeface="Calibri"/>
              </a:rPr>
              <a:t>Baltimore PS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0058400" y="3401568"/>
            <a:ext cx="7772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333333"/>
                </a:solidFill>
                <a:latin typeface="Consolas"/>
              </a:rPr>
              <a:t>−0.213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0835640" y="3401568"/>
            <a:ext cx="9144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B02121"/>
                </a:solidFill>
                <a:latin typeface="Calibri"/>
              </a:rPr>
              <a:t>W&amp;W (SoR)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321040" y="3639312"/>
            <a:ext cx="16916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333333"/>
                </a:solidFill>
                <a:latin typeface="Calibri"/>
              </a:rPr>
              <a:t>Fond du Lac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0058400" y="3639312"/>
            <a:ext cx="7772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333333"/>
                </a:solidFill>
                <a:latin typeface="Consolas"/>
              </a:rPr>
              <a:t>−0.014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0835640" y="3639312"/>
            <a:ext cx="9144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B02121"/>
                </a:solidFill>
                <a:latin typeface="Calibri"/>
              </a:rPr>
              <a:t>CKLA (SoR)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8321040" y="3877056"/>
            <a:ext cx="16916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333333"/>
                </a:solidFill>
                <a:latin typeface="Calibri"/>
              </a:rPr>
              <a:t>Seaford SD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0058400" y="3877056"/>
            <a:ext cx="7772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333333"/>
                </a:solidFill>
                <a:latin typeface="Consolas"/>
              </a:rPr>
              <a:t>−0.180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0835640" y="3877056"/>
            <a:ext cx="9144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B02121"/>
                </a:solidFill>
                <a:latin typeface="Calibri"/>
              </a:rPr>
              <a:t>Bookworms (SoR)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8321040" y="4114800"/>
            <a:ext cx="16916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333333"/>
                </a:solidFill>
                <a:latin typeface="Calibri"/>
              </a:rPr>
              <a:t>Troy SD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0058400" y="4114800"/>
            <a:ext cx="7772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333333"/>
                </a:solidFill>
                <a:latin typeface="Consolas"/>
              </a:rPr>
              <a:t>−0.253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0835640" y="411480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B02121"/>
                </a:solidFill>
                <a:latin typeface="Calibri"/>
              </a:rPr>
              <a:t>Calkins UoS (BL)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8321040" y="5074920"/>
            <a:ext cx="333756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333333"/>
                </a:solidFill>
                <a:latin typeface="Calibri"/>
              </a:rPr>
              <a:t>36 of 49 had Δ &lt; 0; 3 held flat (Bloomfield Hills, Starkville, Dover). SoR alone is necessary but not sufficient — recovery also needs sustained PD, universal screeners, and a 2-3-year cohort lag (slide 19).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365760" y="6263640"/>
            <a:ext cx="11430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50" b="1" i="0">
                <a:solidFill>
                  <a:srgbClr val="1F3A5F"/>
                </a:solidFill>
                <a:latin typeface="Calibri"/>
              </a:rPr>
              <a:t>Honest finding: SoR doesn't guarantee recovery. But the only districts achieving STRONG recovery so far are SoR-aligned.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65760" y="6601968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707070"/>
                </a:solidFill>
                <a:latin typeface="Calibri"/>
              </a:rPr>
              <a:t>Troy SD K-5 ELA — Executive Summary  •  github.com/akarpo/tsd-k5ela-choice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0515600" y="6601968"/>
            <a:ext cx="13716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0" i="0">
                <a:solidFill>
                  <a:srgbClr val="707070"/>
                </a:solidFill>
                <a:latin typeface="Calibri"/>
              </a:rPr>
              <a:t>6 / 29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A second independent benchmark — Education Scorecard 2026 'Districts on the Rise'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75488"/>
            <a:ext cx="114300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CDDEE"/>
                </a:solidFill>
                <a:latin typeface="Calibri"/>
              </a:rPr>
              <a:t>Demographic-adjusted gain methodology (Harvard-Stanford-Dartmouth³) — catches outperformers SEDA raw Δ misses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914400"/>
            <a:ext cx="11430000" cy="777240"/>
          </a:xfrm>
          <a:prstGeom prst="rect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0584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F3A5F"/>
                </a:solidFill>
                <a:latin typeface="Calibri"/>
              </a:rPr>
              <a:t>What DOTR measures (different from SEDA raw Δ):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32588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333333"/>
                </a:solidFill>
                <a:latin typeface="Calibri"/>
              </a:rPr>
              <a:t>Demographic-adjusted gain ≥ 0.3 grade levels in BOTH 2019–2025 AND 2022–2025, with ≥4 demographically-comparable peer districts in-state.  Detroit DPSCD is a DOTR outperformer despite a SEDA raw Δ decline — it gained more than its demographics predicted.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1874519"/>
            <a:ext cx="7498079" cy="4389120"/>
          </a:xfrm>
          <a:prstGeom prst="rect">
            <a:avLst/>
          </a:prstGeom>
          <a:solidFill>
            <a:srgbClr val="E6F4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65760" y="1874519"/>
            <a:ext cx="7498079" cy="365760"/>
          </a:xfrm>
          <a:prstGeom prst="rect">
            <a:avLst/>
          </a:prstGeom>
          <a:solidFill>
            <a:srgbClr val="1F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1947671"/>
            <a:ext cx="72237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Calibri"/>
              </a:rPr>
              <a:t>Math + Reading outperformers (17)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2331719"/>
            <a:ext cx="1828800" cy="214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F3A5F"/>
                </a:solidFill>
                <a:latin typeface="Calibri"/>
              </a:rPr>
              <a:t>East Hartford CT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31720" y="2331719"/>
            <a:ext cx="4434840" cy="214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333333"/>
                </a:solidFill>
                <a:latin typeface="Calibri"/>
              </a:rPr>
              <a:t>Fundations + Heggerty + Fund. Unl.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66560" y="2331719"/>
            <a:ext cx="1051560" cy="214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F7A3D"/>
                </a:solidFill>
                <a:latin typeface="Calibri"/>
              </a:rPr>
              <a:t>SoR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2546603"/>
            <a:ext cx="1828800" cy="214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F3A5F"/>
                </a:solidFill>
                <a:latin typeface="Calibri"/>
              </a:rPr>
              <a:t>East Chicago IN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331720" y="2546603"/>
            <a:ext cx="4434840" cy="214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333333"/>
                </a:solidFill>
                <a:latin typeface="Calibri"/>
              </a:rPr>
              <a:t>Heggerty + Reading Horizons + coaches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66560" y="2546603"/>
            <a:ext cx="1051560" cy="214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F7A3D"/>
                </a:solidFill>
                <a:latin typeface="Calibri"/>
              </a:rPr>
              <a:t>SoR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2761487"/>
            <a:ext cx="1828800" cy="214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F3A5F"/>
                </a:solidFill>
                <a:latin typeface="Calibri"/>
              </a:rPr>
              <a:t>Marion County KY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331720" y="2761487"/>
            <a:ext cx="4434840" cy="214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333333"/>
                </a:solidFill>
                <a:latin typeface="Calibri"/>
              </a:rPr>
              <a:t>Amplify CKLA + LETRS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766560" y="2761487"/>
            <a:ext cx="1051560" cy="214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F7A3D"/>
                </a:solidFill>
                <a:latin typeface="Calibri"/>
              </a:rPr>
              <a:t>SoR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" y="2976371"/>
            <a:ext cx="1828800" cy="214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F3A5F"/>
                </a:solidFill>
                <a:latin typeface="Calibri"/>
              </a:rPr>
              <a:t>Baltimore City MD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331720" y="2976371"/>
            <a:ext cx="4434840" cy="214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333333"/>
                </a:solidFill>
                <a:latin typeface="Calibri"/>
              </a:rPr>
              <a:t>Wit &amp; Wisdom K-8 (2018-)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766560" y="2976371"/>
            <a:ext cx="1051560" cy="214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F7A3D"/>
                </a:solidFill>
                <a:latin typeface="Calibri"/>
              </a:rPr>
              <a:t>SoR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2920" y="3191255"/>
            <a:ext cx="1828800" cy="214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F3A5F"/>
                </a:solidFill>
                <a:latin typeface="Calibri"/>
              </a:rPr>
              <a:t>Detroit DPSCD MI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331720" y="3191255"/>
            <a:ext cx="4434840" cy="214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333333"/>
                </a:solidFill>
                <a:latin typeface="Calibri"/>
              </a:rPr>
              <a:t>EL Education K-5 (2018-)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766560" y="3191255"/>
            <a:ext cx="1051560" cy="214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F7A3D"/>
                </a:solidFill>
                <a:latin typeface="Calibri"/>
              </a:rPr>
              <a:t>SoR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2920" y="3406139"/>
            <a:ext cx="1828800" cy="214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F3A5F"/>
                </a:solidFill>
                <a:latin typeface="Calibri"/>
              </a:rPr>
              <a:t>Starkville MS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331720" y="3406139"/>
            <a:ext cx="4434840" cy="214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333333"/>
                </a:solidFill>
                <a:latin typeface="Calibri"/>
              </a:rPr>
              <a:t>MS HQIM (BL→structured shift)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766560" y="3406139"/>
            <a:ext cx="1051560" cy="214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F7A3D"/>
                </a:solidFill>
                <a:latin typeface="Calibri"/>
              </a:rPr>
              <a:t>SoR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02920" y="3621023"/>
            <a:ext cx="1828800" cy="214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F3A5F"/>
                </a:solidFill>
                <a:latin typeface="Calibri"/>
              </a:rPr>
              <a:t>Pierre SD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331720" y="3621023"/>
            <a:ext cx="4434840" cy="214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333333"/>
                </a:solidFill>
                <a:latin typeface="Calibri"/>
              </a:rPr>
              <a:t>Open Court + OG + Heggerty + Barton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766560" y="3621023"/>
            <a:ext cx="1051560" cy="214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F7A3D"/>
                </a:solidFill>
                <a:latin typeface="Calibri"/>
              </a:rPr>
              <a:t>SoR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02920" y="3835907"/>
            <a:ext cx="1828800" cy="214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F3A5F"/>
                </a:solidFill>
                <a:latin typeface="Calibri"/>
              </a:rPr>
              <a:t>Johnson City TN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331720" y="3835907"/>
            <a:ext cx="4434840" cy="214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333333"/>
                </a:solidFill>
                <a:latin typeface="Calibri"/>
              </a:rPr>
              <a:t>TN HQIM (SoR mandate)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766560" y="3835907"/>
            <a:ext cx="1051560" cy="214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F7A3D"/>
                </a:solidFill>
                <a:latin typeface="Calibri"/>
              </a:rPr>
              <a:t>SoR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02920" y="4050791"/>
            <a:ext cx="1828800" cy="214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F3A5F"/>
                </a:solidFill>
                <a:latin typeface="Calibri"/>
              </a:rPr>
              <a:t>Spring Branch TX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31720" y="4050791"/>
            <a:ext cx="4434840" cy="214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333333"/>
                </a:solidFill>
                <a:latin typeface="Calibri"/>
              </a:rPr>
              <a:t>TX STR framework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766560" y="4050791"/>
            <a:ext cx="1051560" cy="214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F7A3D"/>
                </a:solidFill>
                <a:latin typeface="Calibri"/>
              </a:rPr>
              <a:t>SoR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02920" y="4265675"/>
            <a:ext cx="1828800" cy="214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F3A5F"/>
                </a:solidFill>
                <a:latin typeface="Calibri"/>
              </a:rPr>
              <a:t>Fond du Lac WI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331720" y="4265675"/>
            <a:ext cx="4434840" cy="214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333333"/>
                </a:solidFill>
                <a:latin typeface="Calibri"/>
              </a:rPr>
              <a:t>Amplify CKLA + DDI + UVA-PLE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766560" y="4265675"/>
            <a:ext cx="1051560" cy="214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F7A3D"/>
                </a:solidFill>
                <a:latin typeface="Calibri"/>
              </a:rPr>
              <a:t>SoR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02920" y="4480559"/>
            <a:ext cx="1828800" cy="214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F3A5F"/>
                </a:solidFill>
                <a:latin typeface="Calibri"/>
              </a:rPr>
              <a:t>Dover NH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331720" y="4480559"/>
            <a:ext cx="4434840" cy="214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333333"/>
                </a:solidFill>
                <a:latin typeface="Calibri"/>
              </a:rPr>
              <a:t>Knowledge-building shift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766560" y="4480559"/>
            <a:ext cx="1051560" cy="214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CC6A11"/>
                </a:solidFill>
                <a:latin typeface="Calibri"/>
              </a:rPr>
              <a:t>SoR-lean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02920" y="4695443"/>
            <a:ext cx="1828800" cy="214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F3A5F"/>
                </a:solidFill>
                <a:latin typeface="Calibri"/>
              </a:rPr>
              <a:t>Brandywine DE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331720" y="4695443"/>
            <a:ext cx="4434840" cy="214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333333"/>
                </a:solidFill>
                <a:latin typeface="Calibri"/>
              </a:rPr>
              <a:t>Explicit phonics K-2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766560" y="4695443"/>
            <a:ext cx="1051560" cy="214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CC6A11"/>
                </a:solidFill>
                <a:latin typeface="Calibri"/>
              </a:rPr>
              <a:t>SoR-lean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02920" y="4910327"/>
            <a:ext cx="1828800" cy="214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F3A5F"/>
                </a:solidFill>
                <a:latin typeface="Calibri"/>
              </a:rPr>
              <a:t>Sikeston R-6 MO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2331720" y="4910327"/>
            <a:ext cx="4434840" cy="214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333333"/>
                </a:solidFill>
                <a:latin typeface="Calibri"/>
              </a:rPr>
              <a:t>Teacher-developed + state LETRS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766560" y="4910327"/>
            <a:ext cx="1051560" cy="214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CC6A11"/>
                </a:solidFill>
                <a:latin typeface="Calibri"/>
              </a:rPr>
              <a:t>SoR-lean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02920" y="5125211"/>
            <a:ext cx="1828800" cy="214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F3A5F"/>
                </a:solidFill>
                <a:latin typeface="Calibri"/>
              </a:rPr>
              <a:t>Atlanta APS GA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2331720" y="5125211"/>
            <a:ext cx="4434840" cy="214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333333"/>
                </a:solidFill>
                <a:latin typeface="Calibri"/>
              </a:rPr>
              <a:t>Benchmark + HMH (Phase 2 SoR)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766560" y="5125211"/>
            <a:ext cx="1051560" cy="214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CC6A11"/>
                </a:solidFill>
                <a:latin typeface="Calibri"/>
              </a:rPr>
              <a:t>SoR-trans.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02920" y="5340095"/>
            <a:ext cx="1828800" cy="214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F3A5F"/>
                </a:solidFill>
                <a:latin typeface="Calibri"/>
              </a:rPr>
              <a:t>Kuna Joint ID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2331720" y="5340095"/>
            <a:ext cx="4434840" cy="214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333333"/>
                </a:solidFill>
                <a:latin typeface="Calibri"/>
              </a:rPr>
              <a:t>HMH Into Reading planned 2026-27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766560" y="5340095"/>
            <a:ext cx="1051560" cy="214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F3A5F"/>
                </a:solidFill>
                <a:latin typeface="Calibri"/>
              </a:rPr>
              <a:t>SoR-future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502920" y="5554979"/>
            <a:ext cx="1828800" cy="214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F3A5F"/>
                </a:solidFill>
                <a:latin typeface="Calibri"/>
              </a:rPr>
              <a:t>College Comm. IA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31720" y="5554979"/>
            <a:ext cx="4434840" cy="214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333333"/>
                </a:solidFill>
                <a:latin typeface="Calibri"/>
              </a:rPr>
              <a:t>MTSS focus (curriculum unclear)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766560" y="5554979"/>
            <a:ext cx="1051560" cy="214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F3A5F"/>
                </a:solidFill>
                <a:latin typeface="Calibri"/>
              </a:rPr>
              <a:t>Unclear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02920" y="5769863"/>
            <a:ext cx="1828800" cy="214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F3A5F"/>
                </a:solidFill>
                <a:latin typeface="Calibri"/>
              </a:rPr>
              <a:t>Wayne County PS NC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2331720" y="5769863"/>
            <a:ext cx="4434840" cy="214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333333"/>
                </a:solidFill>
                <a:latin typeface="Calibri"/>
              </a:rPr>
              <a:t>Stayed BL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6766560" y="5769863"/>
            <a:ext cx="1051560" cy="214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B02121"/>
                </a:solidFill>
                <a:latin typeface="Calibri"/>
              </a:rPr>
              <a:t>BL</a:t>
            </a:r>
          </a:p>
        </p:txBody>
      </p:sp>
      <p:sp>
        <p:nvSpPr>
          <p:cNvPr id="62" name="Rectangle 61"/>
          <p:cNvSpPr/>
          <p:nvPr/>
        </p:nvSpPr>
        <p:spPr>
          <a:xfrm>
            <a:off x="8001000" y="1874519"/>
            <a:ext cx="3794760" cy="2697480"/>
          </a:xfrm>
          <a:prstGeom prst="rect">
            <a:avLst/>
          </a:prstGeom>
          <a:solidFill>
            <a:srgbClr val="E6F4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8001000" y="1874519"/>
            <a:ext cx="3794760" cy="365760"/>
          </a:xfrm>
          <a:prstGeom prst="rect">
            <a:avLst/>
          </a:prstGeom>
          <a:solidFill>
            <a:srgbClr val="1F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8138160" y="1947672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Calibri"/>
              </a:rPr>
              <a:t>Reading-Only outperformers (3)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8138160" y="2331720"/>
            <a:ext cx="3657600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333333"/>
                </a:solidFill>
                <a:latin typeface="Calibri"/>
              </a:rPr>
              <a:t>Modesto City Elem CA</a:t>
            </a:r>
          </a:p>
          <a:p>
            <a:pPr algn="l"/>
            <a:r>
              <a:rPr sz="950" b="0" i="0">
                <a:solidFill>
                  <a:srgbClr val="333333"/>
                </a:solidFill>
                <a:latin typeface="Calibri"/>
              </a:rPr>
              <a:t>  Benchmark Adv + UFLI + LETRS</a:t>
            </a:r>
          </a:p>
          <a:p>
            <a:pPr algn="l"/>
            <a:r>
              <a:rPr sz="950" b="0" i="0">
                <a:solidFill>
                  <a:srgbClr val="333333"/>
                </a:solidFill>
                <a:latin typeface="Calibri"/>
              </a:rPr>
              <a:t>  → SoR-patched</a:t>
            </a:r>
          </a:p>
          <a:p>
            <a:pPr algn="l"/>
            <a:r>
              <a:rPr sz="95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 algn="l"/>
            <a:r>
              <a:rPr sz="950" b="0" i="0">
                <a:solidFill>
                  <a:srgbClr val="333333"/>
                </a:solidFill>
                <a:latin typeface="Calibri"/>
              </a:rPr>
              <a:t>West Baton Rouge LA</a:t>
            </a:r>
          </a:p>
          <a:p>
            <a:pPr algn="l"/>
            <a:r>
              <a:rPr sz="950" b="0" i="0">
                <a:solidFill>
                  <a:srgbClr val="333333"/>
                </a:solidFill>
                <a:latin typeface="Calibri"/>
              </a:rPr>
              <a:t>  Wit &amp; Wisdom + Wilson Fundations</a:t>
            </a:r>
          </a:p>
          <a:p>
            <a:pPr algn="l"/>
            <a:r>
              <a:rPr sz="950" b="0" i="0">
                <a:solidFill>
                  <a:srgbClr val="333333"/>
                </a:solidFill>
                <a:latin typeface="Calibri"/>
              </a:rPr>
              <a:t>  → SoR</a:t>
            </a:r>
          </a:p>
          <a:p>
            <a:pPr algn="l"/>
            <a:r>
              <a:rPr sz="95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 algn="l"/>
            <a:r>
              <a:rPr sz="950" b="0" i="0">
                <a:solidFill>
                  <a:srgbClr val="333333"/>
                </a:solidFill>
                <a:latin typeface="Calibri"/>
              </a:rPr>
              <a:t>Roanoke County VA</a:t>
            </a:r>
          </a:p>
          <a:p>
            <a:pPr algn="l"/>
            <a:r>
              <a:rPr sz="950" b="0" i="0">
                <a:solidFill>
                  <a:srgbClr val="333333"/>
                </a:solidFill>
                <a:latin typeface="Calibri"/>
              </a:rPr>
              <a:t>  W&amp;W + Heggerty + Really Great Rdg</a:t>
            </a:r>
          </a:p>
          <a:p>
            <a:pPr algn="l"/>
            <a:r>
              <a:rPr sz="950" b="0" i="0">
                <a:solidFill>
                  <a:srgbClr val="333333"/>
                </a:solidFill>
                <a:latin typeface="Calibri"/>
              </a:rPr>
              <a:t>  → SoR</a:t>
            </a:r>
          </a:p>
        </p:txBody>
      </p:sp>
      <p:sp>
        <p:nvSpPr>
          <p:cNvPr id="66" name="Rectangle 65"/>
          <p:cNvSpPr/>
          <p:nvPr/>
        </p:nvSpPr>
        <p:spPr>
          <a:xfrm>
            <a:off x="8001000" y="4709160"/>
            <a:ext cx="3794760" cy="1508760"/>
          </a:xfrm>
          <a:prstGeom prst="rect">
            <a:avLst/>
          </a:prstGeom>
          <a:solidFill>
            <a:srgbClr val="FC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8138160" y="4773168"/>
            <a:ext cx="36576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B02121"/>
                </a:solidFill>
                <a:latin typeface="Calibri"/>
              </a:rPr>
              <a:t>Summary across both groups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8138160" y="5074920"/>
            <a:ext cx="365760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333333"/>
                </a:solidFill>
                <a:latin typeface="Calibri"/>
              </a:rPr>
              <a:t>• 13 districts:  clear SoR-aligned core</a:t>
            </a:r>
          </a:p>
          <a:p>
            <a:pPr algn="l"/>
            <a:r>
              <a:rPr sz="1000" b="0" i="0">
                <a:solidFill>
                  <a:srgbClr val="333333"/>
                </a:solidFill>
                <a:latin typeface="Calibri"/>
              </a:rPr>
              <a:t>• 5 districts:   SoR-leaning / patched / transitioning</a:t>
            </a:r>
          </a:p>
          <a:p>
            <a:pPr algn="l"/>
            <a:r>
              <a:rPr sz="1000" b="0" i="0">
                <a:solidFill>
                  <a:srgbClr val="333333"/>
                </a:solidFill>
                <a:latin typeface="Calibri"/>
              </a:rPr>
              <a:t>• 1 district:    future SoR adoption</a:t>
            </a:r>
          </a:p>
          <a:p>
            <a:pPr algn="l"/>
            <a:r>
              <a:rPr sz="1000" b="0" i="0">
                <a:solidFill>
                  <a:srgbClr val="333333"/>
                </a:solidFill>
                <a:latin typeface="Calibri"/>
              </a:rPr>
              <a:t>• 1 district:    unclear curriculum</a:t>
            </a:r>
          </a:p>
          <a:p>
            <a:pPr algn="l"/>
            <a:r>
              <a:rPr sz="1000" b="0" i="0">
                <a:solidFill>
                  <a:srgbClr val="333333"/>
                </a:solidFill>
                <a:latin typeface="Calibri"/>
              </a:rPr>
              <a:t>• 1 district:    stayed BL  (Wayne County NC)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8138160" y="58978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B02121"/>
                </a:solidFill>
                <a:latin typeface="Calibri"/>
              </a:rPr>
              <a:t>19 of 20  =  95% SoR-aligned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365760" y="6327648"/>
            <a:ext cx="11430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1F3A5F"/>
                </a:solidFill>
                <a:latin typeface="Calibri"/>
              </a:rPr>
              <a:t>Two independent methodologies converge: SEDA raw Δ + Education Scorecard demographic-adjusted gain both point at structured literacy.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365760" y="6601968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707070"/>
                </a:solidFill>
                <a:latin typeface="Calibri"/>
              </a:rPr>
              <a:t>Troy SD K-5 ELA — Executive Summary  •  github.com/akarpo/tsd-k5ela-choice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0515600" y="6601968"/>
            <a:ext cx="13716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0" i="0">
                <a:solidFill>
                  <a:srgbClr val="707070"/>
                </a:solidFill>
                <a:latin typeface="Calibri"/>
              </a:rPr>
              <a:t>7 / 29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Of 8 Michigan affluent peers, Troy fell the furthest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75488"/>
            <a:ext cx="114300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CDDEE"/>
                </a:solidFill>
                <a:latin typeface="Calibri"/>
              </a:rPr>
              <a:t>Same state, same M-STEP test, similar demographics. Pre-COVID expected vs post-COVID actual (SEDA cs Δ).</a:t>
            </a:r>
          </a:p>
        </p:txBody>
      </p:sp>
      <p:pic>
        <p:nvPicPr>
          <p:cNvPr id="5" name="Picture 4" descr="chart12_mi_peers_2009_202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" y="914400"/>
            <a:ext cx="7406640" cy="5448764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7589520" y="914400"/>
            <a:ext cx="4434840" cy="5577840"/>
          </a:xfrm>
          <a:prstGeom prst="rect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80960" y="960120"/>
            <a:ext cx="4206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F3A5F"/>
                </a:solidFill>
                <a:latin typeface="Calibri"/>
              </a:rPr>
              <a:t>Pre→Post COVID Δ  (expected pre-COVID in parens)</a:t>
            </a:r>
          </a:p>
        </p:txBody>
      </p:sp>
      <p:sp>
        <p:nvSpPr>
          <p:cNvPr id="8" name="Rectangle 7"/>
          <p:cNvSpPr/>
          <p:nvPr/>
        </p:nvSpPr>
        <p:spPr>
          <a:xfrm>
            <a:off x="7635240" y="1280160"/>
            <a:ext cx="4343400" cy="237744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680960" y="1280160"/>
            <a:ext cx="118872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50" b="1" i="0">
                <a:solidFill>
                  <a:srgbClr val="FFFFFF"/>
                </a:solidFill>
                <a:latin typeface="Calibri"/>
              </a:rPr>
              <a:t>District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869680" y="1280160"/>
            <a:ext cx="788669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50" b="1" i="0">
                <a:solidFill>
                  <a:srgbClr val="FFFFFF"/>
                </a:solidFill>
                <a:latin typeface="Consolas"/>
              </a:rPr>
              <a:t>All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58349" y="1280160"/>
            <a:ext cx="788669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50" b="1" i="0">
                <a:solidFill>
                  <a:srgbClr val="FFFFFF"/>
                </a:solidFill>
                <a:latin typeface="Consolas"/>
              </a:rPr>
              <a:t>Asian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447018" y="1280160"/>
            <a:ext cx="788669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50" b="1" i="0">
                <a:solidFill>
                  <a:srgbClr val="FFFFFF"/>
                </a:solidFill>
                <a:latin typeface="Consolas"/>
              </a:rPr>
              <a:t>White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235687" y="1280160"/>
            <a:ext cx="788669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50" b="1" i="0">
                <a:solidFill>
                  <a:srgbClr val="FFFFFF"/>
                </a:solidFill>
                <a:latin typeface="Consolas"/>
              </a:rPr>
              <a:t>Black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635240" y="1545336"/>
            <a:ext cx="4343400" cy="274320"/>
          </a:xfrm>
          <a:prstGeom prst="rect">
            <a:avLst/>
          </a:prstGeom>
          <a:solidFill>
            <a:srgbClr val="FC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80960" y="1554480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50" b="1" i="0">
                <a:solidFill>
                  <a:srgbClr val="B02121"/>
                </a:solidFill>
                <a:latin typeface="Calibri"/>
              </a:rPr>
              <a:t>Troy SD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869680" y="1554480"/>
            <a:ext cx="78866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B02121"/>
                </a:solidFill>
                <a:latin typeface="Consolas"/>
              </a:rPr>
              <a:t>-0.25 (0.73)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58349" y="1554480"/>
            <a:ext cx="78866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B02121"/>
                </a:solidFill>
                <a:latin typeface="Consolas"/>
              </a:rPr>
              <a:t>-0.35 (1.10)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447018" y="1554480"/>
            <a:ext cx="78866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B02121"/>
                </a:solidFill>
                <a:latin typeface="Consolas"/>
              </a:rPr>
              <a:t>-0.23 (0.59)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235687" y="1554480"/>
            <a:ext cx="78866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B02121"/>
                </a:solidFill>
                <a:latin typeface="Consolas"/>
              </a:rPr>
              <a:t>-0.27 (-0.05)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680960" y="1828800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50" b="0" i="0">
                <a:solidFill>
                  <a:srgbClr val="333333"/>
                </a:solidFill>
                <a:latin typeface="Calibri"/>
              </a:rPr>
              <a:t>West Bloomfield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869680" y="1828800"/>
            <a:ext cx="78866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B02121"/>
                </a:solidFill>
                <a:latin typeface="Consolas"/>
              </a:rPr>
              <a:t>-0.24 (0.17)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658349" y="1828800"/>
            <a:ext cx="78866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333333"/>
                </a:solidFill>
                <a:latin typeface="Consolas"/>
              </a:rPr>
              <a:t>+0.07 (0.43)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447018" y="1828800"/>
            <a:ext cx="78866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333333"/>
                </a:solidFill>
                <a:latin typeface="Consolas"/>
              </a:rPr>
              <a:t>-0.12 (0.38)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235687" y="1828800"/>
            <a:ext cx="78866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B02121"/>
                </a:solidFill>
                <a:latin typeface="Consolas"/>
              </a:rPr>
              <a:t>-0.27 (-0.28)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680960" y="2103120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50" b="0" i="0">
                <a:solidFill>
                  <a:srgbClr val="333333"/>
                </a:solidFill>
                <a:latin typeface="Calibri"/>
              </a:rPr>
              <a:t>Rochester CSD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869680" y="2103120"/>
            <a:ext cx="78866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B02121"/>
                </a:solidFill>
                <a:latin typeface="Consolas"/>
              </a:rPr>
              <a:t>-0.21 (0.56)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658349" y="2103120"/>
            <a:ext cx="78866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B02121"/>
                </a:solidFill>
                <a:latin typeface="Consolas"/>
              </a:rPr>
              <a:t>-0.17 (0.76)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447018" y="2103120"/>
            <a:ext cx="78866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B02121"/>
                </a:solidFill>
                <a:latin typeface="Consolas"/>
              </a:rPr>
              <a:t>-0.23 (0.57)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235687" y="2103120"/>
            <a:ext cx="78866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B02121"/>
                </a:solidFill>
                <a:latin typeface="Consolas"/>
              </a:rPr>
              <a:t>-0.34 (0.07)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680960" y="2377440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50" b="0" i="0">
                <a:solidFill>
                  <a:srgbClr val="333333"/>
                </a:solidFill>
                <a:latin typeface="Calibri"/>
              </a:rPr>
              <a:t>Novi CSD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869680" y="2377440"/>
            <a:ext cx="78866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333333"/>
                </a:solidFill>
                <a:latin typeface="Consolas"/>
              </a:rPr>
              <a:t>-0.10 (0.57)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658349" y="2377440"/>
            <a:ext cx="78866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333333"/>
                </a:solidFill>
                <a:latin typeface="Consolas"/>
              </a:rPr>
              <a:t>-0.03 (0.73)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447018" y="2377440"/>
            <a:ext cx="78866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B02121"/>
                </a:solidFill>
                <a:latin typeface="Consolas"/>
              </a:rPr>
              <a:t>-0.23 (0.59)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235687" y="2377440"/>
            <a:ext cx="78866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B02121"/>
                </a:solidFill>
                <a:latin typeface="Consolas"/>
              </a:rPr>
              <a:t>-0.34 (-0.08)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680960" y="2651760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50" b="0" i="0">
                <a:solidFill>
                  <a:srgbClr val="333333"/>
                </a:solidFill>
                <a:latin typeface="Calibri"/>
              </a:rPr>
              <a:t>Northville PS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869680" y="2651760"/>
            <a:ext cx="78866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333333"/>
                </a:solidFill>
                <a:latin typeface="Consolas"/>
              </a:rPr>
              <a:t>-0.09 (0.71)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658349" y="2651760"/>
            <a:ext cx="78866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B02121"/>
                </a:solidFill>
                <a:latin typeface="Consolas"/>
              </a:rPr>
              <a:t>-0.28 (1.17)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447018" y="2651760"/>
            <a:ext cx="78866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333333"/>
                </a:solidFill>
                <a:latin typeface="Consolas"/>
              </a:rPr>
              <a:t>-0.08 (0.65)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235687" y="2651760"/>
            <a:ext cx="78866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333333"/>
                </a:solidFill>
                <a:latin typeface="Consolas"/>
              </a:rPr>
              <a:t>—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680960" y="2926080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50" b="0" i="0">
                <a:solidFill>
                  <a:srgbClr val="333333"/>
                </a:solidFill>
                <a:latin typeface="Calibri"/>
              </a:rPr>
              <a:t>Birmingham PS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869680" y="2926080"/>
            <a:ext cx="78866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333333"/>
                </a:solidFill>
                <a:latin typeface="Consolas"/>
              </a:rPr>
              <a:t>-0.02 (0.54)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658349" y="2926080"/>
            <a:ext cx="78866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333333"/>
                </a:solidFill>
                <a:latin typeface="Consolas"/>
              </a:rPr>
              <a:t>-0.10 (0.93)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447018" y="2926080"/>
            <a:ext cx="78866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333333"/>
                </a:solidFill>
                <a:latin typeface="Consolas"/>
              </a:rPr>
              <a:t>-0.02 (0.59)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1235687" y="2926080"/>
            <a:ext cx="78866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333333"/>
                </a:solidFill>
                <a:latin typeface="Consolas"/>
              </a:rPr>
              <a:t>-0.06 (0.07)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680960" y="3200400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50" b="0" i="0">
                <a:solidFill>
                  <a:srgbClr val="333333"/>
                </a:solidFill>
                <a:latin typeface="Calibri"/>
              </a:rPr>
              <a:t>Bloomfield Hills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869680" y="3200400"/>
            <a:ext cx="78866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333333"/>
                </a:solidFill>
                <a:latin typeface="Consolas"/>
              </a:rPr>
              <a:t>+0.03 (0.47)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658349" y="3200400"/>
            <a:ext cx="78866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333333"/>
                </a:solidFill>
                <a:latin typeface="Consolas"/>
              </a:rPr>
              <a:t>-0.02 (0.78)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447018" y="3200400"/>
            <a:ext cx="78866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333333"/>
                </a:solidFill>
                <a:latin typeface="Consolas"/>
              </a:rPr>
              <a:t>+0.08 (0.46)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1235687" y="3200400"/>
            <a:ext cx="78866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B02121"/>
                </a:solidFill>
                <a:latin typeface="Consolas"/>
              </a:rPr>
              <a:t>-0.45 (0.00)</a:t>
            </a:r>
          </a:p>
        </p:txBody>
      </p:sp>
      <p:sp>
        <p:nvSpPr>
          <p:cNvPr id="50" name="Rectangle 49"/>
          <p:cNvSpPr/>
          <p:nvPr/>
        </p:nvSpPr>
        <p:spPr>
          <a:xfrm>
            <a:off x="7635240" y="3611880"/>
            <a:ext cx="4343400" cy="237744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7680960" y="3611880"/>
            <a:ext cx="118872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50" b="1" i="0">
                <a:solidFill>
                  <a:srgbClr val="FFFFFF"/>
                </a:solidFill>
                <a:latin typeface="Calibri"/>
              </a:rPr>
              <a:t>District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869680" y="3611880"/>
            <a:ext cx="105156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50" b="1" i="0">
                <a:solidFill>
                  <a:srgbClr val="FFFFFF"/>
                </a:solidFill>
                <a:latin typeface="Consolas"/>
              </a:rPr>
              <a:t>Hisp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921240" y="3611880"/>
            <a:ext cx="105156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50" b="1" i="0">
                <a:solidFill>
                  <a:srgbClr val="FFFFFF"/>
                </a:solidFill>
                <a:latin typeface="Consolas"/>
              </a:rPr>
              <a:t>EconDis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0972800" y="3611880"/>
            <a:ext cx="105156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50" b="1" i="0">
                <a:solidFill>
                  <a:srgbClr val="FFFFFF"/>
                </a:solidFill>
                <a:latin typeface="Consolas"/>
              </a:rPr>
              <a:t>Not-ECD</a:t>
            </a:r>
          </a:p>
        </p:txBody>
      </p:sp>
      <p:sp>
        <p:nvSpPr>
          <p:cNvPr id="55" name="Rectangle 54"/>
          <p:cNvSpPr/>
          <p:nvPr/>
        </p:nvSpPr>
        <p:spPr>
          <a:xfrm>
            <a:off x="7635240" y="3877056"/>
            <a:ext cx="4343400" cy="274320"/>
          </a:xfrm>
          <a:prstGeom prst="rect">
            <a:avLst/>
          </a:prstGeom>
          <a:solidFill>
            <a:srgbClr val="FC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7680960" y="3886200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50" b="1" i="0">
                <a:solidFill>
                  <a:srgbClr val="B02121"/>
                </a:solidFill>
                <a:latin typeface="Calibri"/>
              </a:rPr>
              <a:t>Troy SD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8869680" y="3886200"/>
            <a:ext cx="1051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333333"/>
                </a:solidFill>
                <a:latin typeface="Consolas"/>
              </a:rPr>
              <a:t>-0.03 (0.16)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9921240" y="3886200"/>
            <a:ext cx="1051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333333"/>
                </a:solidFill>
                <a:latin typeface="Consolas"/>
              </a:rPr>
              <a:t>-0.15 (0.01)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0972800" y="3886200"/>
            <a:ext cx="1051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B02121"/>
                </a:solidFill>
                <a:latin typeface="Consolas"/>
              </a:rPr>
              <a:t>-0.25 (0.85)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7680960" y="4160520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50" b="0" i="0">
                <a:solidFill>
                  <a:srgbClr val="333333"/>
                </a:solidFill>
                <a:latin typeface="Calibri"/>
              </a:rPr>
              <a:t>West Bloomfield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869680" y="4160520"/>
            <a:ext cx="1051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B02121"/>
                </a:solidFill>
                <a:latin typeface="Consolas"/>
              </a:rPr>
              <a:t>-0.21 (-0.09)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9921240" y="4160520"/>
            <a:ext cx="1051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B02121"/>
                </a:solidFill>
                <a:latin typeface="Consolas"/>
              </a:rPr>
              <a:t>-0.25 (-0.28)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0972800" y="4160520"/>
            <a:ext cx="1051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B02121"/>
                </a:solidFill>
                <a:latin typeface="Consolas"/>
              </a:rPr>
              <a:t>-0.20 (0.41)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680960" y="4434840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50" b="0" i="0">
                <a:solidFill>
                  <a:srgbClr val="333333"/>
                </a:solidFill>
                <a:latin typeface="Calibri"/>
              </a:rPr>
              <a:t>Rochester CSD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8869680" y="4434840"/>
            <a:ext cx="1051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333333"/>
                </a:solidFill>
                <a:latin typeface="Consolas"/>
              </a:rPr>
              <a:t>-0.11 (0.23)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9921240" y="4434840"/>
            <a:ext cx="1051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B02121"/>
                </a:solidFill>
                <a:latin typeface="Consolas"/>
              </a:rPr>
              <a:t>-0.16 (-0.08)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0972800" y="4434840"/>
            <a:ext cx="1051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B02121"/>
                </a:solidFill>
                <a:latin typeface="Consolas"/>
              </a:rPr>
              <a:t>-0.21 (0.64)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7680960" y="4709160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50" b="0" i="0">
                <a:solidFill>
                  <a:srgbClr val="333333"/>
                </a:solidFill>
                <a:latin typeface="Calibri"/>
              </a:rPr>
              <a:t>Novi CSD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8869680" y="4709160"/>
            <a:ext cx="1051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1F7A3D"/>
                </a:solidFill>
                <a:latin typeface="Consolas"/>
              </a:rPr>
              <a:t>+0.16 (0.16)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9921240" y="4709160"/>
            <a:ext cx="1051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B02121"/>
                </a:solidFill>
                <a:latin typeface="Consolas"/>
              </a:rPr>
              <a:t>-0.24 (-0.07)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0972800" y="4709160"/>
            <a:ext cx="1051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333333"/>
                </a:solidFill>
                <a:latin typeface="Consolas"/>
              </a:rPr>
              <a:t>-0.05 (0.62)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7680960" y="4983480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50" b="0" i="0">
                <a:solidFill>
                  <a:srgbClr val="333333"/>
                </a:solidFill>
                <a:latin typeface="Calibri"/>
              </a:rPr>
              <a:t>Northville PS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4983480"/>
            <a:ext cx="1051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1F7A3D"/>
                </a:solidFill>
                <a:latin typeface="Consolas"/>
              </a:rPr>
              <a:t>+0.23 (0.29)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921240" y="4983480"/>
            <a:ext cx="1051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333333"/>
                </a:solidFill>
                <a:latin typeface="Consolas"/>
              </a:rPr>
              <a:t>+0.02 (-0.04)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972800" y="4983480"/>
            <a:ext cx="1051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333333"/>
                </a:solidFill>
                <a:latin typeface="Consolas"/>
              </a:rPr>
              <a:t>-0.08 (0.76)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7680960" y="5257800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50" b="0" i="0">
                <a:solidFill>
                  <a:srgbClr val="333333"/>
                </a:solidFill>
                <a:latin typeface="Calibri"/>
              </a:rPr>
              <a:t>Birmingham PS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8869680" y="5257800"/>
            <a:ext cx="1051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333333"/>
                </a:solidFill>
                <a:latin typeface="Consolas"/>
              </a:rPr>
              <a:t>-0.08 (0.58)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9921240" y="5257800"/>
            <a:ext cx="1051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333333"/>
                </a:solidFill>
                <a:latin typeface="Consolas"/>
              </a:rPr>
              <a:t>+0.03 (-0.02)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0972800" y="5257800"/>
            <a:ext cx="1051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333333"/>
                </a:solidFill>
                <a:latin typeface="Consolas"/>
              </a:rPr>
              <a:t>-0.01 (0.59)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7680960" y="5532120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50" b="0" i="0">
                <a:solidFill>
                  <a:srgbClr val="333333"/>
                </a:solidFill>
                <a:latin typeface="Calibri"/>
              </a:rPr>
              <a:t>Bloomfield Hills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8869680" y="5532120"/>
            <a:ext cx="1051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333333"/>
                </a:solidFill>
                <a:latin typeface="Consolas"/>
              </a:rPr>
              <a:t>—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9921240" y="5532120"/>
            <a:ext cx="1051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333333"/>
                </a:solidFill>
                <a:latin typeface="Consolas"/>
              </a:rPr>
              <a:t>+0.01 (-0.21)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10972800" y="5532120"/>
            <a:ext cx="1051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333333"/>
                </a:solidFill>
                <a:latin typeface="Consolas"/>
              </a:rPr>
              <a:t>+0.04 (0.54)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365760" y="6601968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707070"/>
                </a:solidFill>
                <a:latin typeface="Calibri"/>
              </a:rPr>
              <a:t>Troy SD K-5 ELA — Executive Summary  •  github.com/akarpo/tsd-k5ela-choice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10515600" y="6601968"/>
            <a:ext cx="13716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0" i="0">
                <a:solidFill>
                  <a:srgbClr val="707070"/>
                </a:solidFill>
                <a:latin typeface="Calibri"/>
              </a:rPr>
              <a:t>8 / 29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The Students-with-Disabilities subgroup tells the same story — only louder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75488"/>
            <a:ext cx="114300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CDDEE"/>
                </a:solidFill>
                <a:latin typeface="Calibri"/>
              </a:rPr>
              <a:t>MI School Data M-STEP %Adv+Prof¹⁰ (different metric from SEDA cs scale — direct MDE source for Troy SWD)</a:t>
            </a:r>
          </a:p>
        </p:txBody>
      </p:sp>
      <p:pic>
        <p:nvPicPr>
          <p:cNvPr id="5" name="Picture 4" descr="chart_swd_de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914400"/>
            <a:ext cx="7772400" cy="336804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8183879" y="914400"/>
            <a:ext cx="3931920" cy="2743200"/>
          </a:xfrm>
          <a:prstGeom prst="rect">
            <a:avLst/>
          </a:prstGeom>
          <a:solidFill>
            <a:srgbClr val="FC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321040" y="987552"/>
            <a:ext cx="352044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B02121"/>
                </a:solidFill>
                <a:latin typeface="Calibri"/>
              </a:rPr>
              <a:t>Pre→Post-COVID Δ  (M-STEP %Adv+Prof)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366760" y="1371600"/>
            <a:ext cx="8686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707070"/>
                </a:solidFill>
                <a:latin typeface="Calibri"/>
              </a:rPr>
              <a:t>Grade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0" y="1371600"/>
            <a:ext cx="8686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B02121"/>
                </a:solidFill>
                <a:latin typeface="Calibri"/>
              </a:rPr>
              <a:t>Troy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41280" y="1371600"/>
            <a:ext cx="8686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1F3A5F"/>
                </a:solidFill>
                <a:latin typeface="Calibri"/>
              </a:rPr>
              <a:t>Peer-7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109960" y="1371600"/>
            <a:ext cx="8686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707070"/>
                </a:solidFill>
                <a:latin typeface="Calibri"/>
              </a:rPr>
              <a:t>Gap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366760" y="1664208"/>
            <a:ext cx="3520440" cy="18288"/>
          </a:xfrm>
          <a:prstGeom prst="rect">
            <a:avLst/>
          </a:prstGeom>
          <a:solidFill>
            <a:srgbClr val="7070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66760" y="1783080"/>
            <a:ext cx="868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B02121"/>
                </a:solidFill>
                <a:latin typeface="Calibri"/>
              </a:rPr>
              <a:t>Grade 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326880" y="1783080"/>
            <a:ext cx="868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B02121"/>
                </a:solidFill>
                <a:latin typeface="Consolas"/>
              </a:rPr>
              <a:t>−11.6 pp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241280" y="1783080"/>
            <a:ext cx="868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1F3A5F"/>
                </a:solidFill>
                <a:latin typeface="Consolas"/>
              </a:rPr>
              <a:t>−3.8 pp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109960" y="1783080"/>
            <a:ext cx="868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B02121"/>
                </a:solidFill>
                <a:latin typeface="Consolas"/>
              </a:rPr>
              <a:t>−7.9 pp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66760" y="2112264"/>
            <a:ext cx="868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  <a:latin typeface="Calibri"/>
              </a:rPr>
              <a:t>Grade 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326880" y="2112264"/>
            <a:ext cx="868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B02121"/>
                </a:solidFill>
                <a:latin typeface="Consolas"/>
              </a:rPr>
              <a:t>−1.6 pp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241280" y="2112264"/>
            <a:ext cx="868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1F3A5F"/>
                </a:solidFill>
                <a:latin typeface="Consolas"/>
              </a:rPr>
              <a:t>−0.1 pp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109960" y="2112264"/>
            <a:ext cx="868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333333"/>
                </a:solidFill>
                <a:latin typeface="Consolas"/>
              </a:rPr>
              <a:t>−1.5 pp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66760" y="2441448"/>
            <a:ext cx="868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B02121"/>
                </a:solidFill>
                <a:latin typeface="Calibri"/>
              </a:rPr>
              <a:t>Grade 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326880" y="2441448"/>
            <a:ext cx="868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B02121"/>
                </a:solidFill>
                <a:latin typeface="Consolas"/>
              </a:rPr>
              <a:t>−4.6 pp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41280" y="2441448"/>
            <a:ext cx="868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1F3A5F"/>
                </a:solidFill>
                <a:latin typeface="Consolas"/>
              </a:rPr>
              <a:t>+0.7 pp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109960" y="2441448"/>
            <a:ext cx="868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B02121"/>
                </a:solidFill>
                <a:latin typeface="Consolas"/>
              </a:rPr>
              <a:t>−5.3 pp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321040" y="2788920"/>
            <a:ext cx="352044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B02121"/>
                </a:solidFill>
                <a:latin typeface="Calibri"/>
              </a:rPr>
              <a:t>G3: Troy SWD fell 3× faster than peers.</a:t>
            </a:r>
          </a:p>
          <a:p>
            <a:pPr algn="l"/>
            <a:r>
              <a:rPr sz="1000" b="0" i="1">
                <a:solidFill>
                  <a:srgbClr val="B02121"/>
                </a:solidFill>
                <a:latin typeface="Calibri"/>
              </a:rPr>
              <a:t>G5: Peers gained; Troy fell.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183879" y="3429000"/>
            <a:ext cx="3931920" cy="2651760"/>
          </a:xfrm>
          <a:prstGeom prst="rect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321040" y="3493008"/>
            <a:ext cx="352044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1F3A5F"/>
                </a:solidFill>
                <a:latin typeface="Calibri"/>
              </a:rPr>
              <a:t>Why this matters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321040" y="3794760"/>
            <a:ext cx="3520440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333333"/>
                </a:solidFill>
                <a:latin typeface="Calibri"/>
              </a:rPr>
              <a:t>•  Troy SWD G3: 37% pre-COVID → 25% today.</a:t>
            </a:r>
          </a:p>
          <a:p>
            <a:pPr algn="l"/>
            <a:r>
              <a:rPr sz="950" b="0" i="0">
                <a:solidFill>
                  <a:srgbClr val="333333"/>
                </a:solidFill>
                <a:latin typeface="Calibri"/>
              </a:rPr>
              <a:t>   Peer-7 SWD G3: 35% → 31% (held much better).</a:t>
            </a:r>
          </a:p>
          <a:p>
            <a:pPr algn="l"/>
            <a:r>
              <a:rPr sz="95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 algn="l"/>
            <a:r>
              <a:rPr sz="950" b="0" i="0">
                <a:solidFill>
                  <a:srgbClr val="333333"/>
                </a:solidFill>
                <a:latin typeface="Calibri"/>
              </a:rPr>
              <a:t>•  Pre-COVID Troy SWD ≈ Peer-7 SWD.</a:t>
            </a:r>
          </a:p>
          <a:p>
            <a:pPr algn="l"/>
            <a:r>
              <a:rPr sz="950" b="0" i="0">
                <a:solidFill>
                  <a:srgbClr val="333333"/>
                </a:solidFill>
                <a:latin typeface="Calibri"/>
              </a:rPr>
              <a:t>   Post-COVID Troy SWD sits 4–7pp BELOW peers.</a:t>
            </a:r>
          </a:p>
          <a:p>
            <a:pPr algn="l"/>
            <a:r>
              <a:rPr sz="95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 algn="l"/>
            <a:r>
              <a:rPr sz="950" b="0" i="0">
                <a:solidFill>
                  <a:srgbClr val="333333"/>
                </a:solidFill>
                <a:latin typeface="Calibri"/>
              </a:rPr>
              <a:t>•  SoR is engineered for struggling readers.</a:t>
            </a:r>
          </a:p>
          <a:p>
            <a:pPr algn="l"/>
            <a:r>
              <a:rPr sz="950" b="0" i="0">
                <a:solidFill>
                  <a:srgbClr val="333333"/>
                </a:solidFill>
                <a:latin typeface="Calibri"/>
              </a:rPr>
              <a:t>   The students who benefit MOST from SoR</a:t>
            </a:r>
          </a:p>
          <a:p>
            <a:pPr algn="l"/>
            <a:r>
              <a:rPr sz="950" b="0" i="0">
                <a:solidFill>
                  <a:srgbClr val="333333"/>
                </a:solidFill>
                <a:latin typeface="Calibri"/>
              </a:rPr>
              <a:t>   are falling FASTEST at Troy vs. same-state peers.</a:t>
            </a:r>
          </a:p>
          <a:p>
            <a:pPr algn="l"/>
            <a:r>
              <a:rPr sz="95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 algn="l"/>
            <a:r>
              <a:rPr sz="950" b="0" i="0">
                <a:solidFill>
                  <a:srgbClr val="333333"/>
                </a:solidFill>
                <a:latin typeface="Calibri"/>
              </a:rPr>
              <a:t>•  Refutes "regression-to-mean" — SWD students</a:t>
            </a:r>
          </a:p>
          <a:p>
            <a:pPr algn="l"/>
            <a:r>
              <a:rPr sz="950" b="0" i="0">
                <a:solidFill>
                  <a:srgbClr val="333333"/>
                </a:solidFill>
                <a:latin typeface="Calibri"/>
              </a:rPr>
              <a:t>   aren't high-achievers regressing.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65760" y="6199632"/>
            <a:ext cx="11430000" cy="27432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65760" y="6245352"/>
            <a:ext cx="11430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Two independent sources converge: SEDA cs scale (49 districts) and MDE M-STEP %prof (Troy subgroups) both say the SoR-relevant subgroups are falling fastest.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65760" y="6601968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707070"/>
                </a:solidFill>
                <a:latin typeface="Calibri"/>
              </a:rPr>
              <a:t>Troy SD K-5 ELA — Executive Summary  •  github.com/akarpo/tsd-k5ela-choice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515600" y="6601968"/>
            <a:ext cx="13716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0" i="0">
                <a:solidFill>
                  <a:srgbClr val="707070"/>
                </a:solidFill>
                <a:latin typeface="Calibri"/>
              </a:rPr>
              <a:t>9 / 29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The subgroup data refutes the three common defenses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75488"/>
            <a:ext cx="114300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CDDEE"/>
                </a:solidFill>
                <a:latin typeface="Calibri"/>
              </a:rPr>
              <a:t>Each common defense of Troy's current trajectory is testable on the SEDA scale¹. Each fails the test.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05840"/>
            <a:ext cx="640080" cy="164592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1508760"/>
            <a:ext cx="6400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80160" y="1051560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F3A5F"/>
                </a:solidFill>
                <a:latin typeface="Calibri"/>
              </a:rPr>
              <a:t>"It's the ESL/ELL composition."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80160" y="1508760"/>
            <a:ext cx="1051560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333333"/>
                </a:solidFill>
                <a:latin typeface="Calibri"/>
              </a:rPr>
              <a:t>If true: Hispanic and EL subgroups should be hit hardest.</a:t>
            </a:r>
          </a:p>
          <a:p>
            <a:pPr algn="l"/>
            <a:r>
              <a:rPr sz="130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 algn="l"/>
            <a:r>
              <a:rPr sz="1300" b="0" i="0">
                <a:solidFill>
                  <a:srgbClr val="333333"/>
                </a:solidFill>
                <a:latin typeface="Calibri"/>
              </a:rPr>
              <a:t>Data: Troy Hispanic Δ = −0.031. Rank 12 of 39 — best of Troy's subgroups¹.</a:t>
            </a:r>
          </a:p>
          <a:p>
            <a:pPr algn="l"/>
            <a:r>
              <a:rPr sz="130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 algn="l"/>
            <a:r>
              <a:rPr sz="1300" b="0" i="0">
                <a:solidFill>
                  <a:srgbClr val="333333"/>
                </a:solidFill>
                <a:latin typeface="Calibri"/>
              </a:rPr>
              <a:t>REFUTED. The Hispanic subgroup is the most resilient at Troy.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2834640"/>
            <a:ext cx="640080" cy="1645920"/>
          </a:xfrm>
          <a:prstGeom prst="rect">
            <a:avLst/>
          </a:prstGeom>
          <a:solidFill>
            <a:srgbClr val="CC6A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3337560"/>
            <a:ext cx="6400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80160" y="2880360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F3A5F"/>
                </a:solidFill>
                <a:latin typeface="Calibri"/>
              </a:rPr>
              <a:t>"It's the disadvantaged students."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80160" y="3337560"/>
            <a:ext cx="1051560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333333"/>
                </a:solidFill>
                <a:latin typeface="Calibri"/>
              </a:rPr>
              <a:t>If true: EconDis subgroup should be hit harder than Not-ECD.</a:t>
            </a:r>
          </a:p>
          <a:p>
            <a:pPr algn="l"/>
            <a:r>
              <a:rPr sz="130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 algn="l"/>
            <a:r>
              <a:rPr sz="1300" b="0" i="0">
                <a:solidFill>
                  <a:srgbClr val="333333"/>
                </a:solidFill>
                <a:latin typeface="Calibri"/>
              </a:rPr>
              <a:t>Data: Troy EconDis Δ = −0.147 (rank 32/47). Troy Not-ECD Δ = −0.252 (rank 42/46)¹.</a:t>
            </a:r>
          </a:p>
          <a:p>
            <a:pPr algn="l"/>
            <a:r>
              <a:rPr sz="130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 algn="l"/>
            <a:r>
              <a:rPr sz="1300" b="0" i="0">
                <a:solidFill>
                  <a:srgbClr val="333333"/>
                </a:solidFill>
                <a:latin typeface="Calibri"/>
              </a:rPr>
              <a:t>REFUTED. Not-ECD declined MORE than EconDis.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4663440"/>
            <a:ext cx="640080" cy="1645920"/>
          </a:xfrm>
          <a:prstGeom prst="rect">
            <a:avLst/>
          </a:prstGeom>
          <a:solidFill>
            <a:srgbClr val="B021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5166360"/>
            <a:ext cx="6400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80160" y="4709160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F3A5F"/>
                </a:solidFill>
                <a:latin typeface="Calibri"/>
              </a:rPr>
              <a:t>"It's a demographic / COVID story."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80160" y="5166360"/>
            <a:ext cx="1051560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333333"/>
                </a:solidFill>
                <a:latin typeface="Calibri"/>
              </a:rPr>
              <a:t>If true: Affluent students with home-literacy environments should be PROTECTED.</a:t>
            </a:r>
          </a:p>
          <a:p>
            <a:pPr algn="l"/>
            <a:r>
              <a:rPr sz="130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 algn="l"/>
            <a:r>
              <a:rPr sz="1300" b="0" i="0">
                <a:solidFill>
                  <a:srgbClr val="333333"/>
                </a:solidFill>
                <a:latin typeface="Calibri"/>
              </a:rPr>
              <a:t>Data: Troy Asian Δ = −0.347 (34/35), White Δ = −0.231 (44/46) — the affluent subgroups dropped MOST¹.</a:t>
            </a:r>
          </a:p>
          <a:p>
            <a:pPr algn="l"/>
            <a:r>
              <a:rPr sz="130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 algn="l"/>
            <a:r>
              <a:rPr sz="1300" b="0" i="0">
                <a:solidFill>
                  <a:srgbClr val="333333"/>
                </a:solidFill>
                <a:latin typeface="Calibri"/>
              </a:rPr>
              <a:t>REFUTED. Affluence provides no protection at Troy. This points at instruction.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60" y="6601968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707070"/>
                </a:solidFill>
                <a:latin typeface="Calibri"/>
              </a:rPr>
              <a:t>Troy SD K-5 ELA — Executive Summary  •  github.com/akarpo/tsd-k5ela-choice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15600" y="6601968"/>
            <a:ext cx="13716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0" i="0">
                <a:solidFill>
                  <a:srgbClr val="707070"/>
                </a:solidFill>
                <a:latin typeface="Calibri"/>
              </a:rPr>
              <a:t>10 / 29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Asian subgroup: Troy ranks 34 of 35 districts on post-COVID Δ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75488"/>
            <a:ext cx="114300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CDDEE"/>
                </a:solidFill>
                <a:latin typeface="Calibri"/>
              </a:rPr>
              <a:t>Of 35 districts with Asian-subgroup data in SEDA 2025.1, only Bethlehem Area SD lost more ground.</a:t>
            </a:r>
          </a:p>
        </p:txBody>
      </p:sp>
      <p:pic>
        <p:nvPicPr>
          <p:cNvPr id="5" name="Picture 4" descr="chart17_asian_subgroup_ran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914400"/>
            <a:ext cx="5835535" cy="534924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6400800" y="914400"/>
            <a:ext cx="5486400" cy="5349240"/>
          </a:xfrm>
          <a:prstGeom prst="rect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37960" y="1051560"/>
            <a:ext cx="52120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F7A3D"/>
                </a:solidFill>
                <a:latin typeface="Calibri"/>
              </a:rPr>
              <a:t>Asian subgroup top 5 (gainers)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37960" y="1417320"/>
            <a:ext cx="521208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333333"/>
                </a:solidFill>
                <a:latin typeface="Consolas"/>
              </a:rPr>
              <a:t>Spring Branch ISD    +0.717  (TX STR³⁶)</a:t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onsolas"/>
              </a:rPr>
              <a:t>Atlanta APS          +0.390  (SoR PD)</a:t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onsolas"/>
              </a:rPr>
              <a:t>Milpitas USD         +0.281</a:t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onsolas"/>
              </a:rPr>
              <a:t>Johnson City TN      +0.277</a:t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onsolas"/>
              </a:rPr>
              <a:t>Palo Alto USD        +0.269  (ESRI³⁵)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37960" y="2971800"/>
            <a:ext cx="52120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B02121"/>
                </a:solidFill>
                <a:latin typeface="Calibri"/>
              </a:rPr>
              <a:t>Asian subgroup bottom 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37960" y="3337560"/>
            <a:ext cx="521208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333333"/>
                </a:solidFill>
                <a:latin typeface="Consolas"/>
              </a:rPr>
              <a:t>Bethlehem Area SD    −0.426</a:t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onsolas"/>
              </a:rPr>
              <a:t>Troy SD              −0.347  ◄</a:t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onsolas"/>
              </a:rPr>
              <a:t>Northville PS        −0.285</a:t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onsolas"/>
              </a:rPr>
              <a:t>Wayne County PS      −0.264</a:t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onsolas"/>
              </a:rPr>
              <a:t>Modesto City Elem    −0.257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37960" y="4937760"/>
            <a:ext cx="52120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F3A5F"/>
                </a:solidFill>
                <a:latin typeface="Calibri"/>
              </a:rPr>
              <a:t>Direct affluent-peer signal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37960" y="5303520"/>
            <a:ext cx="521208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333333"/>
                </a:solidFill>
                <a:latin typeface="Calibri"/>
              </a:rPr>
              <a:t>Palo Alto (Troy's closest demographic match by Asian %) exited Calkins UoS in 2021 via ESRI³⁵.</a:t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alibri"/>
              </a:rPr>
              <a:t>Result: +0.269 grade-level gain on Asian subgroup. Direct evidence the shift works.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601968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707070"/>
                </a:solidFill>
                <a:latin typeface="Calibri"/>
              </a:rPr>
              <a:t>Troy SD K-5 ELA — Executive Summary  •  github.com/akarpo/tsd-k5ela-choice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15600" y="6601968"/>
            <a:ext cx="13716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0" i="0">
                <a:solidFill>
                  <a:srgbClr val="707070"/>
                </a:solidFill>
                <a:latin typeface="Calibri"/>
              </a:rPr>
              <a:t>11 / 29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Not-Econ-Disadvantaged subgroup: Troy ranks 42 of 46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75488"/>
            <a:ext cx="114300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CDDEE"/>
                </a:solidFill>
                <a:latin typeface="Calibri"/>
              </a:rPr>
              <a:t>Troy's affluent students dropped −0.252 grade levels post-COVID — more than 90% of districts in our universe.</a:t>
            </a:r>
          </a:p>
        </p:txBody>
      </p:sp>
      <p:pic>
        <p:nvPicPr>
          <p:cNvPr id="5" name="Picture 4" descr="chart16_troy_notecd_tre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914400"/>
            <a:ext cx="7772400" cy="418513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8321040" y="914400"/>
            <a:ext cx="3566160" cy="5486400"/>
          </a:xfrm>
          <a:prstGeom prst="rect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458200" y="1051560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1F7A3D"/>
                </a:solidFill>
                <a:latin typeface="Calibri"/>
              </a:rPr>
              <a:t>Not-ECD top 5 (recovery)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58200" y="1417320"/>
            <a:ext cx="329184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333333"/>
                </a:solidFill>
                <a:latin typeface="Consolas"/>
              </a:rPr>
              <a:t>West Baton Rouge    +0.315</a:t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onsolas"/>
              </a:rPr>
              <a:t>Spring Branch       +0.193</a:t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onsolas"/>
              </a:rPr>
              <a:t>Palo Alto USD       +0.138</a:t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onsolas"/>
              </a:rPr>
              <a:t>Frisco ISD          +0.133</a:t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onsolas"/>
              </a:rPr>
              <a:t>Issaquah SD         +0.124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58200" y="2926080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B02121"/>
                </a:solidFill>
                <a:latin typeface="Calibri"/>
              </a:rPr>
              <a:t>Not-ECD bottom 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58200" y="3291840"/>
            <a:ext cx="329184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333333"/>
                </a:solidFill>
                <a:latin typeface="Consolas"/>
              </a:rPr>
              <a:t>Bethlehem Area      −0.326</a:t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onsolas"/>
              </a:rPr>
              <a:t>Wayne County PS     −0.302</a:t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onsolas"/>
              </a:rPr>
              <a:t>Seaford SD          −0.301</a:t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onsolas"/>
              </a:rPr>
              <a:t>Brandywine SD       −0.267</a:t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onsolas"/>
              </a:rPr>
              <a:t>Troy SD             −0.252  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58200" y="4846320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1F3A5F"/>
                </a:solidFill>
                <a:latin typeface="Calibri"/>
              </a:rPr>
              <a:t>Why this matters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58200" y="5212080"/>
            <a:ext cx="329184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333333"/>
                </a:solidFill>
                <a:latin typeface="Calibri"/>
              </a:rPr>
              <a:t>These are the families with the most home-literacy resources. If Troy's curriculum design were sound, these are the kids who should recover first. They're recovering last.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601968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707070"/>
                </a:solidFill>
                <a:latin typeface="Calibri"/>
              </a:rPr>
              <a:t>Troy SD K-5 ELA — Executive Summary  •  github.com/akarpo/tsd-k5ela-choice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15600" y="6601968"/>
            <a:ext cx="13716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0" i="0">
                <a:solidFill>
                  <a:srgbClr val="707070"/>
                </a:solidFill>
                <a:latin typeface="Calibri"/>
              </a:rPr>
              <a:t>12 / 29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CKLA-adopting districts on the MDE-approved list are leapfrogging their states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75488"/>
            <a:ext cx="114300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CDDEE"/>
                </a:solidFill>
                <a:latin typeface="Calibri"/>
              </a:rPr>
              <a:t>Marion County KY and Fond du Lac WI both adopted Amplify CKLA. Both gained vs their state averages while Troy lost ground.</a:t>
            </a:r>
          </a:p>
        </p:txBody>
      </p:sp>
      <p:pic>
        <p:nvPicPr>
          <p:cNvPr id="5" name="Picture 4" descr="chart19_ckla_cohort_effec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868680"/>
            <a:ext cx="7772400" cy="3850684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8321040" y="914400"/>
            <a:ext cx="3566160" cy="2697480"/>
          </a:xfrm>
          <a:prstGeom prst="rect">
            <a:avLst/>
          </a:prstGeom>
          <a:solidFill>
            <a:srgbClr val="E6F4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458200" y="1051560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F7A3D"/>
                </a:solidFill>
                <a:latin typeface="Calibri"/>
              </a:rPr>
              <a:t>State-relative gain after CKLA¹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58200" y="1417320"/>
            <a:ext cx="3291840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333333"/>
                </a:solidFill>
                <a:latin typeface="Consolas"/>
              </a:rPr>
              <a:t>Marion County KY:</a:t>
            </a:r>
          </a:p>
          <a:p>
            <a:pPr algn="l"/>
            <a:r>
              <a:rPr sz="1200" b="0" i="0">
                <a:solidFill>
                  <a:srgbClr val="333333"/>
                </a:solidFill>
                <a:latin typeface="Consolas"/>
              </a:rPr>
              <a:t>  Pre-CKLA vs state    +0.02</a:t>
            </a:r>
          </a:p>
          <a:p>
            <a:pPr algn="l"/>
            <a:r>
              <a:rPr sz="1200" b="0" i="0">
                <a:solidFill>
                  <a:srgbClr val="333333"/>
                </a:solidFill>
                <a:latin typeface="Consolas"/>
              </a:rPr>
              <a:t>  Post-CKLA vs state   +0.19</a:t>
            </a:r>
          </a:p>
          <a:p>
            <a:pPr algn="l"/>
            <a:r>
              <a:rPr sz="1200" b="0" i="0">
                <a:solidFill>
                  <a:srgbClr val="333333"/>
                </a:solidFill>
                <a:latin typeface="Consolas"/>
              </a:rPr>
              <a:t>  Δ vs state           +0.17</a:t>
            </a:r>
          </a:p>
          <a:p>
            <a:pPr algn="l"/>
            <a:r>
              <a:rPr sz="1200" b="0" i="0">
                <a:solidFill>
                  <a:srgbClr val="333333"/>
                </a:solidFill>
                <a:latin typeface="Consolas"/>
              </a:rPr>
              <a:t/>
            </a:r>
          </a:p>
          <a:p>
            <a:pPr algn="l"/>
            <a:r>
              <a:rPr sz="1200" b="0" i="0">
                <a:solidFill>
                  <a:srgbClr val="333333"/>
                </a:solidFill>
                <a:latin typeface="Consolas"/>
              </a:rPr>
              <a:t>Fond du Lac WI:</a:t>
            </a:r>
          </a:p>
          <a:p>
            <a:pPr algn="l"/>
            <a:r>
              <a:rPr sz="1200" b="0" i="0">
                <a:solidFill>
                  <a:srgbClr val="333333"/>
                </a:solidFill>
                <a:latin typeface="Consolas"/>
              </a:rPr>
              <a:t>  Pre-CKLA vs state    −0.02</a:t>
            </a:r>
          </a:p>
          <a:p>
            <a:pPr algn="l"/>
            <a:r>
              <a:rPr sz="1200" b="0" i="0">
                <a:solidFill>
                  <a:srgbClr val="333333"/>
                </a:solidFill>
                <a:latin typeface="Consolas"/>
              </a:rPr>
              <a:t>  Post-CKLA vs state   +0.10</a:t>
            </a:r>
          </a:p>
          <a:p>
            <a:pPr algn="l"/>
            <a:r>
              <a:rPr sz="1200" b="0" i="0">
                <a:solidFill>
                  <a:srgbClr val="333333"/>
                </a:solidFill>
                <a:latin typeface="Consolas"/>
              </a:rPr>
              <a:t>  Δ vs state           +0.12</a:t>
            </a:r>
          </a:p>
        </p:txBody>
      </p:sp>
      <p:sp>
        <p:nvSpPr>
          <p:cNvPr id="9" name="Rectangle 8"/>
          <p:cNvSpPr/>
          <p:nvPr/>
        </p:nvSpPr>
        <p:spPr>
          <a:xfrm>
            <a:off x="8321040" y="3749039"/>
            <a:ext cx="3566160" cy="2697480"/>
          </a:xfrm>
          <a:prstGeom prst="rect">
            <a:avLst/>
          </a:prstGeom>
          <a:solidFill>
            <a:srgbClr val="FC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58200" y="3886200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B02121"/>
                </a:solidFill>
                <a:latin typeface="Calibri"/>
              </a:rPr>
              <a:t>Troy on the same scale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58200" y="4251960"/>
            <a:ext cx="3291840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  <a:latin typeface="Consolas"/>
              </a:rPr>
              <a:t>Troy SD MI (Calkins UoS):</a:t>
            </a:r>
          </a:p>
          <a:p>
            <a:pPr algn="l"/>
            <a:r>
              <a:rPr sz="1100" b="0" i="0">
                <a:solidFill>
                  <a:srgbClr val="333333"/>
                </a:solidFill>
                <a:latin typeface="Consolas"/>
              </a:rPr>
              <a:t>  Pre-COVID vs state   +0.79</a:t>
            </a:r>
          </a:p>
          <a:p>
            <a:pPr algn="l"/>
            <a:r>
              <a:rPr sz="1100" b="0" i="0">
                <a:solidFill>
                  <a:srgbClr val="333333"/>
                </a:solidFill>
                <a:latin typeface="Consolas"/>
              </a:rPr>
              <a:t>  2025 vs state        +0.67</a:t>
            </a:r>
          </a:p>
          <a:p>
            <a:pPr algn="l"/>
            <a:r>
              <a:rPr sz="1100" b="0" i="0">
                <a:solidFill>
                  <a:srgbClr val="333333"/>
                </a:solidFill>
                <a:latin typeface="Consolas"/>
              </a:rPr>
              <a:t>  Δ vs state           −0.11</a:t>
            </a:r>
          </a:p>
          <a:p>
            <a:pPr algn="l"/>
            <a:r>
              <a:rPr sz="1100" b="0" i="0">
                <a:solidFill>
                  <a:srgbClr val="333333"/>
                </a:solidFill>
                <a:latin typeface="Consolas"/>
              </a:rPr>
              <a:t/>
            </a:r>
          </a:p>
          <a:p>
            <a:pPr algn="l"/>
            <a:r>
              <a:rPr sz="1100" b="0" i="0">
                <a:solidFill>
                  <a:srgbClr val="333333"/>
                </a:solidFill>
                <a:latin typeface="Consolas"/>
              </a:rPr>
              <a:t>Troy is losing ~0.11 grade levels relative to MI state.</a:t>
            </a:r>
          </a:p>
          <a:p>
            <a:pPr algn="l"/>
            <a:r>
              <a:rPr sz="1100" b="0" i="0">
                <a:solidFill>
                  <a:srgbClr val="333333"/>
                </a:solidFill>
                <a:latin typeface="Consolas"/>
              </a:rPr>
              <a:t>The two CKLA peers gained +0.12 and +0.17 relative to their states.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6601968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707070"/>
                </a:solidFill>
                <a:latin typeface="Calibri"/>
              </a:rPr>
              <a:t>Troy SD K-5 ELA — Executive Summary  •  github.com/akarpo/tsd-k5ela-choice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15600" y="6601968"/>
            <a:ext cx="13716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0" i="0">
                <a:solidFill>
                  <a:srgbClr val="707070"/>
                </a:solidFill>
                <a:latin typeface="Calibri"/>
              </a:rPr>
              <a:t>13 / 29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How they did it — Marion County KY and Fond du Lac WI playbooks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75488"/>
            <a:ext cx="114300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CDDEE"/>
                </a:solidFill>
                <a:latin typeface="Calibri"/>
              </a:rPr>
              <a:t>Both districts adopted Amplify CKLA (Tier-1 on the MI MDE Section 35m approved list¹⁸)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914400"/>
            <a:ext cx="5577840" cy="5394960"/>
          </a:xfrm>
          <a:prstGeom prst="rect">
            <a:avLst/>
          </a:prstGeom>
          <a:solidFill>
            <a:srgbClr val="E6F4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1005840"/>
            <a:ext cx="5303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F7A3D"/>
                </a:solidFill>
                <a:latin typeface="Calibri"/>
              </a:rPr>
              <a:t>Marion County KY — Chris Brady, Supt.³⁰,³²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1371600"/>
            <a:ext cx="530352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333333"/>
                </a:solidFill>
                <a:latin typeface="Calibri"/>
              </a:rPr>
              <a:t>~2,937 students  •  61% econ-disadvantaged  •  83% White, 11% Hispanic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828800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1F3A5F"/>
                </a:solidFill>
                <a:latin typeface="Calibri"/>
              </a:rPr>
              <a:t>Curriculum stack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121408"/>
            <a:ext cx="530352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  <a:latin typeface="Calibri"/>
              </a:rPr>
              <a:t>Amplify CKLA K-5 + Amplify ELA 6-8 (single-vendor vertical alignment). District-wide rollout in 2022-23, aligned with KY Read to Succeed Act of 2022.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2706624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1F3A5F"/>
                </a:solidFill>
                <a:latin typeface="Calibri"/>
              </a:rPr>
              <a:t>Teacher PD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2999232"/>
            <a:ext cx="530352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  <a:latin typeface="Calibri"/>
              </a:rPr>
              <a:t>LETRS Volumes 1 &amp; 2 via Kentucky Reading Academies³¹ (state-paid, no cost to district) — 44 teachers AND administrators trained since 2022. Principals went through LETRS WITH teachers so they can evaluate foundational instruction in the same vocabulary.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3584448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1F3A5F"/>
                </a:solidFill>
                <a:latin typeface="Calibri"/>
              </a:rPr>
              <a:t>Coaching restructure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3877056"/>
            <a:ext cx="530352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  <a:latin typeface="Calibri"/>
              </a:rPr>
              <a:t>Coaches moved from building-based to content-driven, operating in 6-9 WEEK CYCLES with teachers on standards-aligned instruction and diagnostic data. The single most unusual structural choice — most rural KY districts kept building-based coaching.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" y="4462272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1F3A5F"/>
                </a:solidFill>
                <a:latin typeface="Calibri"/>
              </a:rPr>
              <a:t>Implementation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" y="4754880"/>
            <a:ext cx="530352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  <a:latin typeface="Calibri"/>
              </a:rPr>
              <a:t>Full district-wide rollout, NOT a pilot. Tech use reduced to reclaim student-teacher engagement time. G3-7 ELA proficient +10pp 2021-22 → 2024-25.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5340096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1F3A5F"/>
                </a:solidFill>
                <a:latin typeface="Calibri"/>
              </a:rPr>
              <a:t>Result on SEDA scale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4360" y="5632704"/>
            <a:ext cx="530352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  <a:latin typeface="Calibri"/>
              </a:rPr>
              <a:t>Pre-CKLA: −0.01 vs KY state. 2024-25: +0.19 vs state. +0.17 grade-level state-relative gain in 3 years. Marion County MS jumped 221→57 in KY state rank.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217920" y="914400"/>
            <a:ext cx="5577840" cy="5394960"/>
          </a:xfrm>
          <a:prstGeom prst="rect">
            <a:avLst/>
          </a:prstGeom>
          <a:solidFill>
            <a:srgbClr val="E6F4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55080" y="1005840"/>
            <a:ext cx="5303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F7A3D"/>
                </a:solidFill>
                <a:latin typeface="Calibri"/>
              </a:rPr>
              <a:t>Fond du Lac WI — Matt Steinbarth, Supt.³³,³⁴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55080" y="1371600"/>
            <a:ext cx="530352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333333"/>
                </a:solidFill>
                <a:latin typeface="Calibri"/>
              </a:rPr>
              <a:t>~6,457 students  •  49.5% econ-disadvantaged  •  59% White, 21% Hispanic, 9% Black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55080" y="1828800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1F3A5F"/>
                </a:solidFill>
                <a:latin typeface="Calibri"/>
              </a:rPr>
              <a:t>Curriculum stack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55080" y="2121408"/>
            <a:ext cx="530352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  <a:latin typeface="Calibri"/>
              </a:rPr>
              <a:t>Amplify CKLA K-5 + Amplify ELA 6-8 + Bridges Math + TCI Social Studies + Mystery Science (K-8 coherent stack). Adoption aligned with August 2022 Strategic Plan.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55080" y="2706624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1F3A5F"/>
                </a:solidFill>
                <a:latin typeface="Calibri"/>
              </a:rPr>
              <a:t>Leadership development partnership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55080" y="2999232"/>
            <a:ext cx="530352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  <a:latin typeface="Calibri"/>
              </a:rPr>
              <a:t>Partnered with the UVA Darden Partnership for Leaders in Education (UVA-PLE)³⁴. Single biggest differentiator: CKLA embedded in a multi-year leadership and instructional-redesign program, NOT adopted as a standalone literacy textbook.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55080" y="3584448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1F3A5F"/>
                </a:solidFill>
                <a:latin typeface="Calibri"/>
              </a:rPr>
              <a:t>Teacher PD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55080" y="3877056"/>
            <a:ext cx="530352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  <a:latin typeface="Calibri"/>
              </a:rPr>
              <a:t>Weekly Data-Driven Instruction (DDI) cycles trained via UVA-PLE. ~$20M ESSER funds deployed for curriculum + after-school + classroom libraries + AVID. WI Act 20 (2023) added a state legal forcing function³⁸.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55080" y="4462272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1F3A5F"/>
                </a:solidFill>
                <a:latin typeface="Calibri"/>
              </a:rPr>
              <a:t>Result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55080" y="4754880"/>
            <a:ext cx="530352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  <a:latin typeface="Calibri"/>
              </a:rPr>
              <a:t>Jumped from 375th to 175th of 421 WI districts. "Exceeds Expectations" on 2024-25 WI report card — first time since 2016-17. Highest reading growth of all 421 WI districts 2022-2024.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55080" y="5340096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1F3A5F"/>
                </a:solidFill>
                <a:latin typeface="Calibri"/>
              </a:rPr>
              <a:t>Leadership transition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55080" y="5632704"/>
            <a:ext cx="530352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  <a:latin typeface="Calibri"/>
              </a:rPr>
              <a:t>Supt Fleig led the redesign 2022-2025; retired May 2025. Board promoted CAO Matt Steinbarth (25-yr district insider) 7-0 to protect continuity. Credit the turnaround to Fleig + Steinbarth + UVA-PLE.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65760" y="6601968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707070"/>
                </a:solidFill>
                <a:latin typeface="Calibri"/>
              </a:rPr>
              <a:t>Troy SD K-5 ELA — Executive Summary  •  github.com/akarpo/tsd-k5ela-choice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515600" y="6601968"/>
            <a:ext cx="13716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0" i="0">
                <a:solidFill>
                  <a:srgbClr val="707070"/>
                </a:solidFill>
                <a:latin typeface="Calibri"/>
              </a:rPr>
              <a:t>14 / 29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Recovery is possible — and it tracks with curriculum choice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75488"/>
            <a:ext cx="114300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CDDEE"/>
                </a:solidFill>
                <a:latin typeface="Calibri"/>
              </a:rPr>
              <a:t>Four districts gained post-COVID. All four run structured-literacy programs.</a:t>
            </a:r>
          </a:p>
        </p:txBody>
      </p:sp>
      <p:pic>
        <p:nvPicPr>
          <p:cNvPr id="5" name="Picture 4" descr="chart14_subgroup_compa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868680"/>
            <a:ext cx="7772400" cy="5035015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8321040" y="914400"/>
            <a:ext cx="3566160" cy="1325880"/>
          </a:xfrm>
          <a:prstGeom prst="rect">
            <a:avLst/>
          </a:prstGeom>
          <a:solidFill>
            <a:srgbClr val="E6F4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458200" y="960120"/>
            <a:ext cx="3291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F7A3D"/>
                </a:solidFill>
                <a:latin typeface="Calibri"/>
              </a:rPr>
              <a:t>Spring Branch ISD (TX)³⁶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58200" y="1234440"/>
            <a:ext cx="3291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333333"/>
                </a:solidFill>
                <a:latin typeface="Consolas"/>
              </a:rPr>
              <a:t>+0.284 overall / +0.717 Asian / +0.193 Not-ECD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58200" y="1554480"/>
            <a:ext cx="329184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  <a:latin typeface="Calibri"/>
              </a:rPr>
              <a:t>TX STR-aligned framework, K paraprofessionals trained in evidence-based instruction.</a:t>
            </a:r>
          </a:p>
        </p:txBody>
      </p:sp>
      <p:sp>
        <p:nvSpPr>
          <p:cNvPr id="10" name="Rectangle 9"/>
          <p:cNvSpPr/>
          <p:nvPr/>
        </p:nvSpPr>
        <p:spPr>
          <a:xfrm>
            <a:off x="8321040" y="2331720"/>
            <a:ext cx="3566160" cy="1325880"/>
          </a:xfrm>
          <a:prstGeom prst="rect">
            <a:avLst/>
          </a:prstGeom>
          <a:solidFill>
            <a:srgbClr val="E6F4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458200" y="2377440"/>
            <a:ext cx="3291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F7A3D"/>
                </a:solidFill>
                <a:latin typeface="Calibri"/>
              </a:rPr>
              <a:t>Palo Alto USD (CA)³⁵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58200" y="2651760"/>
            <a:ext cx="3291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333333"/>
                </a:solidFill>
                <a:latin typeface="Consolas"/>
              </a:rPr>
              <a:t>+0.132 overall / +0.269 Asian / +0.138 Not-ECD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58200" y="2971800"/>
            <a:ext cx="329184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  <a:latin typeface="Calibri"/>
              </a:rPr>
              <a:t>Exited Calkins Units of Study in 2021 via Every Student Reads Initiative. Direct Troy parallel.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321040" y="3749040"/>
            <a:ext cx="3566160" cy="1325880"/>
          </a:xfrm>
          <a:prstGeom prst="rect">
            <a:avLst/>
          </a:prstGeom>
          <a:solidFill>
            <a:srgbClr val="E6F4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458200" y="3794760"/>
            <a:ext cx="3291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F7A3D"/>
                </a:solidFill>
                <a:latin typeface="Calibri"/>
              </a:rPr>
              <a:t>West Baton Rouge (LA)³⁷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58200" y="4069080"/>
            <a:ext cx="3291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333333"/>
                </a:solidFill>
                <a:latin typeface="Consolas"/>
              </a:rPr>
              <a:t>+0.132 overall / +0.315 Not-ECD / +0.242 White / +0.079 Black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58200" y="4389120"/>
            <a:ext cx="329184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  <a:latin typeface="Calibri"/>
              </a:rPr>
              <a:t>Wit &amp; Wisdom + Wilson Fundations K-3. K-3 literacy 57% → 68% in single year.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321040" y="5166360"/>
            <a:ext cx="3566160" cy="1325880"/>
          </a:xfrm>
          <a:prstGeom prst="rect">
            <a:avLst/>
          </a:prstGeom>
          <a:solidFill>
            <a:srgbClr val="E6F4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458200" y="5212080"/>
            <a:ext cx="3291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F7A3D"/>
                </a:solidFill>
                <a:latin typeface="Calibri"/>
              </a:rPr>
              <a:t>Johnson City TN³⁹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58200" y="5486400"/>
            <a:ext cx="3291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333333"/>
                </a:solidFill>
                <a:latin typeface="Consolas"/>
              </a:rPr>
              <a:t>+0.121 overall / +0.277 Asian / +0.165 White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458200" y="5806440"/>
            <a:ext cx="329184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  <a:latin typeface="Calibri"/>
              </a:rPr>
              <a:t>Tennessee HQIM SoR mandate. +22pp above TN state on G4 ELA in 2025.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760" y="6601968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707070"/>
                </a:solidFill>
                <a:latin typeface="Calibri"/>
              </a:rPr>
              <a:t>Troy SD K-5 ELA — Executive Summary  •  github.com/akarpo/tsd-k5ela-choice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515600" y="6601968"/>
            <a:ext cx="13716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0" i="0">
                <a:solidFill>
                  <a:srgbClr val="707070"/>
                </a:solidFill>
                <a:latin typeface="Calibri"/>
              </a:rPr>
              <a:t>15 / 29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Long Beach USD — the natural experiment is now empirically visible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75488"/>
            <a:ext cx="114300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CDDEE"/>
                </a:solidFill>
                <a:latin typeface="Calibri"/>
              </a:rPr>
              <a:t>Same district, same Carl Cohn-era leadership culture, same demographics. Only the curriculum changed.</a:t>
            </a:r>
          </a:p>
        </p:txBody>
      </p:sp>
      <p:pic>
        <p:nvPicPr>
          <p:cNvPr id="5" name="Picture 4" descr="chart13_post_covid_recove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868680"/>
            <a:ext cx="7772400" cy="5039436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8321040" y="914400"/>
            <a:ext cx="3566160" cy="2743200"/>
          </a:xfrm>
          <a:prstGeom prst="rect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458200" y="1051560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F3A5F"/>
                </a:solidFill>
                <a:latin typeface="Calibri"/>
              </a:rPr>
              <a:t>Long Beach trajectory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58200" y="1417320"/>
            <a:ext cx="3291840" cy="2103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333333"/>
                </a:solidFill>
                <a:latin typeface="Calibri"/>
              </a:rPr>
              <a:t>1992-2002 (Cohn era):  Open Court basal</a:t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alibri"/>
              </a:rPr>
              <a:t>→ Broad Prize 2003</a:t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alibri"/>
              </a:rPr>
              <a:t>2010s drift:  Teachers College Units of Study (Calkins)</a:t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alibri"/>
              </a:rPr>
              <a:t>→ same program Troy adopted 2014</a:t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alibri"/>
              </a:rPr>
              <a:t>Pre/Post-COVID Δ:  −0.076 grade levels</a:t>
            </a:r>
          </a:p>
        </p:txBody>
      </p:sp>
      <p:sp>
        <p:nvSpPr>
          <p:cNvPr id="9" name="Rectangle 8"/>
          <p:cNvSpPr/>
          <p:nvPr/>
        </p:nvSpPr>
        <p:spPr>
          <a:xfrm>
            <a:off x="8321040" y="3794760"/>
            <a:ext cx="3566160" cy="2606040"/>
          </a:xfrm>
          <a:prstGeom prst="rect">
            <a:avLst/>
          </a:prstGeom>
          <a:solidFill>
            <a:srgbClr val="FC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58200" y="3931920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B02121"/>
                </a:solidFill>
                <a:latin typeface="Calibri"/>
              </a:rPr>
              <a:t>Why this matters for Troy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58200" y="4297680"/>
            <a:ext cx="3291840" cy="2011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333333"/>
                </a:solidFill>
                <a:latin typeface="Calibri"/>
              </a:rPr>
              <a:t>Long Beach is the closest thing to a controlled trial against Calkins UoS in U.S. K-5 ELA data.</a:t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alibri"/>
              </a:rPr>
              <a:t>Same district. Same insider supt tradition. Same demographics. The pre-COVID period worked.</a:t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alibri"/>
              </a:rPr>
              <a:t>Post-COVID, the Calkins-derived core failed to support recovery — same pattern as Troy.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6601968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707070"/>
                </a:solidFill>
                <a:latin typeface="Calibri"/>
              </a:rPr>
              <a:t>Troy SD K-5 ELA — Executive Summary  •  github.com/akarpo/tsd-k5ela-choice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15600" y="6601968"/>
            <a:ext cx="13716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0" i="0">
                <a:solidFill>
                  <a:srgbClr val="707070"/>
                </a:solidFill>
                <a:latin typeface="Calibri"/>
              </a:rPr>
              <a:t>16 / 29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Why balanced literacy fails when school and home reading routines both break down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75488"/>
            <a:ext cx="114300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CDDEE"/>
                </a:solidFill>
                <a:latin typeface="Calibri"/>
              </a:rPr>
              <a:t>A plain-English causal story that's consistent with every subgroup finding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05840"/>
            <a:ext cx="3657600" cy="5212080"/>
          </a:xfrm>
          <a:prstGeom prst="rect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1143000"/>
            <a:ext cx="33832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F3A5F"/>
                </a:solidFill>
                <a:latin typeface="Calibri"/>
              </a:rPr>
              <a:t>How Calkins UoS works²⁰,²³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1508760"/>
            <a:ext cx="3383280" cy="457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0" i="0">
                <a:solidFill>
                  <a:srgbClr val="333333"/>
                </a:solidFill>
                <a:latin typeface="Calibri"/>
              </a:rPr>
              <a:t>•  Workshop-model, student-led discovery</a:t>
            </a:r>
          </a:p>
          <a:p>
            <a:pPr algn="l"/>
            <a:r>
              <a:rPr sz="125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 algn="l"/>
            <a:r>
              <a:rPr sz="1250" b="0" i="0">
                <a:solidFill>
                  <a:srgbClr val="333333"/>
                </a:solidFill>
                <a:latin typeface="Calibri"/>
              </a:rPr>
              <a:t>•  Leveled-text independent reading</a:t>
            </a:r>
          </a:p>
          <a:p>
            <a:pPr algn="l"/>
            <a:r>
              <a:rPr sz="125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 algn="l"/>
            <a:r>
              <a:rPr sz="1250" b="0" i="0">
                <a:solidFill>
                  <a:srgbClr val="333333"/>
                </a:solidFill>
                <a:latin typeface="Calibri"/>
              </a:rPr>
              <a:t>•  Comprehension strategies (predict, infer, etc.)</a:t>
            </a:r>
          </a:p>
          <a:p>
            <a:pPr algn="l"/>
            <a:r>
              <a:rPr sz="125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 algn="l"/>
            <a:r>
              <a:rPr sz="1250" b="0" i="0">
                <a:solidFill>
                  <a:srgbClr val="333333"/>
                </a:solidFill>
                <a:latin typeface="Calibri"/>
              </a:rPr>
              <a:t>•  Minimal explicit phonics in core</a:t>
            </a:r>
          </a:p>
          <a:p>
            <a:pPr algn="l"/>
            <a:r>
              <a:rPr sz="125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 algn="l"/>
            <a:r>
              <a:rPr sz="1250" b="0" i="0">
                <a:solidFill>
                  <a:srgbClr val="333333"/>
                </a:solidFill>
                <a:latin typeface="Calibri"/>
              </a:rPr>
              <a:t>•  Relies on rich home language environment to fill gaps in explicit instruction</a:t>
            </a:r>
          </a:p>
          <a:p>
            <a:pPr algn="l"/>
            <a:r>
              <a:rPr sz="125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 algn="l"/>
            <a:r>
              <a:rPr sz="1250" b="0" i="0">
                <a:solidFill>
                  <a:srgbClr val="333333"/>
                </a:solidFill>
                <a:latin typeface="Calibri"/>
              </a:rPr>
              <a:t>•  Reading-aloud, book access, parent-supported reading time</a:t>
            </a:r>
          </a:p>
        </p:txBody>
      </p:sp>
      <p:sp>
        <p:nvSpPr>
          <p:cNvPr id="8" name="Rectangle 7"/>
          <p:cNvSpPr/>
          <p:nvPr/>
        </p:nvSpPr>
        <p:spPr>
          <a:xfrm>
            <a:off x="4297680" y="1005840"/>
            <a:ext cx="3657600" cy="5212080"/>
          </a:xfrm>
          <a:prstGeom prst="rect">
            <a:avLst/>
          </a:prstGeom>
          <a:solidFill>
            <a:srgbClr val="FC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34840" y="1143000"/>
            <a:ext cx="33832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B02121"/>
                </a:solidFill>
                <a:latin typeface="Calibri"/>
              </a:rPr>
              <a:t>What COVID broke²¹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34840" y="1508760"/>
            <a:ext cx="3383280" cy="457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0" i="0">
                <a:solidFill>
                  <a:srgbClr val="333333"/>
                </a:solidFill>
                <a:latin typeface="Calibri"/>
              </a:rPr>
              <a:t>•  Classroom delivery — interrupted</a:t>
            </a:r>
          </a:p>
          <a:p>
            <a:pPr algn="l"/>
            <a:r>
              <a:rPr sz="125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 algn="l"/>
            <a:r>
              <a:rPr sz="1250" b="0" i="0">
                <a:solidFill>
                  <a:srgbClr val="333333"/>
                </a:solidFill>
                <a:latin typeface="Calibri"/>
              </a:rPr>
              <a:t>•  Home reading routines — disrupted</a:t>
            </a:r>
          </a:p>
          <a:p>
            <a:pPr algn="l"/>
            <a:r>
              <a:rPr sz="125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 algn="l"/>
            <a:r>
              <a:rPr sz="1250" b="0" i="0">
                <a:solidFill>
                  <a:srgbClr val="333333"/>
                </a:solidFill>
                <a:latin typeface="Calibri"/>
              </a:rPr>
              <a:t>•  Book access at home — limited</a:t>
            </a:r>
          </a:p>
          <a:p>
            <a:pPr algn="l"/>
            <a:r>
              <a:rPr sz="125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 algn="l"/>
            <a:r>
              <a:rPr sz="1250" b="0" i="0">
                <a:solidFill>
                  <a:srgbClr val="333333"/>
                </a:solidFill>
                <a:latin typeface="Calibri"/>
              </a:rPr>
              <a:t>•  Parent time for reading — fragmented</a:t>
            </a:r>
          </a:p>
          <a:p>
            <a:pPr algn="l"/>
            <a:r>
              <a:rPr sz="125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 algn="l"/>
            <a:r>
              <a:rPr sz="1250" b="0" i="0">
                <a:solidFill>
                  <a:srgbClr val="333333"/>
                </a:solidFill>
                <a:latin typeface="Calibri"/>
              </a:rPr>
              <a:t>•  Balanced literacy assumed BOTH school AND home would teach reading — when home routines broke down, school's part alone wasn't designed to do the whole job</a:t>
            </a:r>
          </a:p>
          <a:p>
            <a:pPr algn="l"/>
            <a:r>
              <a:rPr sz="125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 algn="l"/>
            <a:r>
              <a:rPr sz="1250" b="0" i="0">
                <a:solidFill>
                  <a:srgbClr val="333333"/>
                </a:solidFill>
                <a:latin typeface="Calibri"/>
              </a:rPr>
              <a:t>•  Most-affluent students had the MOST home reading support to lose, so they fell furthest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138160" y="1005840"/>
            <a:ext cx="3657600" cy="5212080"/>
          </a:xfrm>
          <a:prstGeom prst="rect">
            <a:avLst/>
          </a:prstGeom>
          <a:solidFill>
            <a:srgbClr val="E6F4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75320" y="1143000"/>
            <a:ext cx="33832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F7A3D"/>
                </a:solidFill>
                <a:latin typeface="Calibri"/>
              </a:rPr>
              <a:t>Why SoR districts recovered²²,²⁵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75320" y="1508760"/>
            <a:ext cx="3383280" cy="457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0" i="0">
                <a:solidFill>
                  <a:srgbClr val="333333"/>
                </a:solidFill>
                <a:latin typeface="Calibri"/>
              </a:rPr>
              <a:t>•  Explicit phonics scope and sequence</a:t>
            </a:r>
          </a:p>
          <a:p>
            <a:pPr algn="l"/>
            <a:r>
              <a:rPr sz="125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 algn="l"/>
            <a:r>
              <a:rPr sz="1250" b="0" i="0">
                <a:solidFill>
                  <a:srgbClr val="333333"/>
                </a:solidFill>
                <a:latin typeface="Calibri"/>
              </a:rPr>
              <a:t>•  Decodable texts at K-2</a:t>
            </a:r>
          </a:p>
          <a:p>
            <a:pPr algn="l"/>
            <a:r>
              <a:rPr sz="125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 algn="l"/>
            <a:r>
              <a:rPr sz="1250" b="0" i="0">
                <a:solidFill>
                  <a:srgbClr val="333333"/>
                </a:solidFill>
                <a:latin typeface="Calibri"/>
              </a:rPr>
              <a:t>•  Knowledge-building core that doesn't assume background knowledge</a:t>
            </a:r>
          </a:p>
          <a:p>
            <a:pPr algn="l"/>
            <a:r>
              <a:rPr sz="125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 algn="l"/>
            <a:r>
              <a:rPr sz="1250" b="0" i="0">
                <a:solidFill>
                  <a:srgbClr val="333333"/>
                </a:solidFill>
                <a:latin typeface="Calibri"/>
              </a:rPr>
              <a:t>•  Cohesive sequence — same content in every classroom</a:t>
            </a:r>
          </a:p>
          <a:p>
            <a:pPr algn="l"/>
            <a:r>
              <a:rPr sz="125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 algn="l"/>
            <a:r>
              <a:rPr sz="1250" b="0" i="0">
                <a:solidFill>
                  <a:srgbClr val="333333"/>
                </a:solidFill>
                <a:latin typeface="Calibri"/>
              </a:rPr>
              <a:t>•  Doesn't depend on home support — designed to teach reading in school</a:t>
            </a:r>
          </a:p>
          <a:p>
            <a:pPr algn="l"/>
            <a:r>
              <a:rPr sz="125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 algn="l"/>
            <a:r>
              <a:rPr sz="1250" b="0" i="0">
                <a:solidFill>
                  <a:srgbClr val="333333"/>
                </a:solidFill>
                <a:latin typeface="Calibri"/>
              </a:rPr>
              <a:t>•  When classroom delivery returned, the curriculum was still intact and could rebuild skills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6601968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707070"/>
                </a:solidFill>
                <a:latin typeface="Calibri"/>
              </a:rPr>
              <a:t>Troy SD K-5 ELA — Executive Summary  •  github.com/akarpo/tsd-k5ela-choice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15600" y="6601968"/>
            <a:ext cx="13716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0" i="0">
                <a:solidFill>
                  <a:srgbClr val="707070"/>
                </a:solidFill>
                <a:latin typeface="Calibri"/>
              </a:rPr>
              <a:t>17 / 29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Tested hypothesis — does SoR help only early grades, not later ones?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75488"/>
            <a:ext cx="114300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CDDEE"/>
                </a:solidFill>
                <a:latin typeface="Calibri"/>
              </a:rPr>
              <a:t>If the 'BL for later grades' hypothesis were correct, BL districts should hold up at G5. They don't.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914400"/>
            <a:ext cx="11430000" cy="640080"/>
          </a:xfrm>
          <a:prstGeom prst="rect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96012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1F3A5F"/>
                </a:solidFill>
                <a:latin typeface="Calibri"/>
              </a:rPr>
              <a:t>The hypothesis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207008"/>
            <a:ext cx="111556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1">
                <a:solidFill>
                  <a:srgbClr val="333333"/>
                </a:solidFill>
                <a:latin typeface="Calibri"/>
              </a:rPr>
              <a:t>"Maybe SoR helps for K-2 phonics, but balanced literacy still has a role at G3-G5 where comprehension + rich text matter more." — pedagogically plausible. Testable on this data.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1691640"/>
            <a:ext cx="5669280" cy="4206240"/>
          </a:xfrm>
          <a:prstGeom prst="rect">
            <a:avLst/>
          </a:prstGeom>
          <a:solidFill>
            <a:srgbClr val="E6F4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178308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1F7A3D"/>
                </a:solidFill>
                <a:latin typeface="Calibri"/>
              </a:rPr>
              <a:t>Mean SEDA Δ by grade × curriculum type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2194560"/>
            <a:ext cx="5486400" cy="3657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333333"/>
                </a:solidFill>
                <a:latin typeface="Consolas"/>
              </a:rPr>
              <a:t>Type              G3 Δ      G4 Δ      G5 Δ      n</a:t>
            </a:r>
          </a:p>
          <a:p>
            <a:pPr algn="l"/>
            <a:r>
              <a:rPr sz="1000" b="0" i="0">
                <a:solidFill>
                  <a:srgbClr val="333333"/>
                </a:solidFill>
                <a:latin typeface="Consolas"/>
              </a:rPr>
              <a:t>─────────────────────────────────────────────────</a:t>
            </a:r>
          </a:p>
          <a:p>
            <a:pPr algn="l"/>
            <a:r>
              <a:rPr sz="1000" b="0" i="0">
                <a:solidFill>
                  <a:srgbClr val="333333"/>
                </a:solidFill>
                <a:latin typeface="Consolas"/>
              </a:rPr>
              <a:t>SoR-clear         −0.088   −0.117   −0.065    21</a:t>
            </a:r>
          </a:p>
          <a:p>
            <a:pPr algn="l"/>
            <a:r>
              <a:rPr sz="1000" b="0" i="0">
                <a:solidFill>
                  <a:srgbClr val="333333"/>
                </a:solidFill>
                <a:latin typeface="Consolas"/>
              </a:rPr>
              <a:t>SoR-recent/lean   +0.031   −0.011   −0.036     5</a:t>
            </a:r>
          </a:p>
          <a:p>
            <a:pPr algn="l"/>
            <a:r>
              <a:rPr sz="1000" b="0" i="0">
                <a:solidFill>
                  <a:srgbClr val="333333"/>
                </a:solidFill>
                <a:latin typeface="Consolas"/>
              </a:rPr>
              <a:t>Mixed/Benchmark   +0.113   +0.133   +0.062     3</a:t>
            </a:r>
          </a:p>
          <a:p>
            <a:pPr algn="l"/>
            <a:r>
              <a:rPr sz="1000" b="0" i="0">
                <a:solidFill>
                  <a:srgbClr val="333333"/>
                </a:solidFill>
                <a:latin typeface="Consolas"/>
              </a:rPr>
              <a:t>Balanced lit.     −0.102   −0.107   −0.083    15</a:t>
            </a:r>
          </a:p>
          <a:p>
            <a:pPr algn="l"/>
            <a:r>
              <a:rPr sz="1000" b="0" i="0">
                <a:solidFill>
                  <a:srgbClr val="333333"/>
                </a:solidFill>
                <a:latin typeface="Consolas"/>
              </a:rPr>
              <a:t/>
            </a:r>
          </a:p>
          <a:p>
            <a:pPr algn="l"/>
            <a:r>
              <a:rPr sz="1000" b="0" i="0">
                <a:solidFill>
                  <a:srgbClr val="333333"/>
                </a:solidFill>
                <a:latin typeface="Consolas"/>
              </a:rPr>
              <a:t>Reading:</a:t>
            </a:r>
          </a:p>
          <a:p>
            <a:pPr algn="l"/>
            <a:r>
              <a:rPr sz="1000" b="0" i="0">
                <a:solidFill>
                  <a:srgbClr val="333333"/>
                </a:solidFill>
                <a:latin typeface="Consolas"/>
              </a:rPr>
              <a:t>• BL districts decline at EVERY grade — they don't hold up</a:t>
            </a:r>
          </a:p>
          <a:p>
            <a:pPr algn="l"/>
            <a:r>
              <a:rPr sz="1000" b="0" i="0">
                <a:solidFill>
                  <a:srgbClr val="333333"/>
                </a:solidFill>
                <a:latin typeface="Consolas"/>
              </a:rPr>
              <a:t>  better at G5. They decline less, but still decline.</a:t>
            </a:r>
          </a:p>
          <a:p>
            <a:pPr algn="l"/>
            <a:r>
              <a:rPr sz="1000" b="0" i="0">
                <a:solidFill>
                  <a:srgbClr val="333333"/>
                </a:solidFill>
                <a:latin typeface="Consolas"/>
              </a:rPr>
              <a:t>• SoR-clear shows its SMALLEST decline at G5, not G3.</a:t>
            </a:r>
          </a:p>
          <a:p>
            <a:pPr algn="l"/>
            <a:r>
              <a:rPr sz="1000" b="0" i="0">
                <a:solidFill>
                  <a:srgbClr val="333333"/>
                </a:solidFill>
                <a:latin typeface="Consolas"/>
              </a:rPr>
              <a:t>• SoR-recent adopters (Bellevue, Issaquah, Lake Wash.,</a:t>
            </a:r>
          </a:p>
          <a:p>
            <a:pPr algn="l"/>
            <a:r>
              <a:rPr sz="1000" b="0" i="0">
                <a:solidFill>
                  <a:srgbClr val="333333"/>
                </a:solidFill>
                <a:latin typeface="Consolas"/>
              </a:rPr>
              <a:t>  Modesto, College Comm.) actually GAINED at G3 (+0.031)</a:t>
            </a:r>
          </a:p>
          <a:p>
            <a:pPr algn="l"/>
            <a:r>
              <a:rPr sz="1000" b="0" i="0">
                <a:solidFill>
                  <a:srgbClr val="333333"/>
                </a:solidFill>
                <a:latin typeface="Consolas"/>
              </a:rPr>
              <a:t>  — cohort effect from new-K students reaching G3 in '24-25.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172200" y="1691640"/>
            <a:ext cx="5623560" cy="4206240"/>
          </a:xfrm>
          <a:prstGeom prst="rect">
            <a:avLst/>
          </a:prstGeom>
          <a:solidFill>
            <a:srgbClr val="E6F4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09360" y="178308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1F7A3D"/>
                </a:solidFill>
                <a:latin typeface="Calibri"/>
              </a:rPr>
              <a:t>Top 5 G5 gainers — 100% SoR-aligned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09360" y="2194560"/>
            <a:ext cx="5486400" cy="3657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333333"/>
                </a:solidFill>
                <a:latin typeface="Consolas"/>
              </a:rPr>
              <a:t>1  Spring Branch ISD    +0.284   TX STR</a:t>
            </a:r>
          </a:p>
          <a:p>
            <a:pPr algn="l"/>
            <a:r>
              <a:rPr sz="1000" b="0" i="0">
                <a:solidFill>
                  <a:srgbClr val="333333"/>
                </a:solidFill>
                <a:latin typeface="Consolas"/>
              </a:rPr>
              <a:t>2  Johnson City TN      +0.221   TN HQIM</a:t>
            </a:r>
          </a:p>
          <a:p>
            <a:pPr algn="l"/>
            <a:r>
              <a:rPr sz="1000" b="0" i="0">
                <a:solidFill>
                  <a:srgbClr val="333333"/>
                </a:solidFill>
                <a:latin typeface="Consolas"/>
              </a:rPr>
              <a:t>3  West Baton Rouge     +0.207   W&amp;W + Fundations</a:t>
            </a:r>
          </a:p>
          <a:p>
            <a:pPr algn="l"/>
            <a:r>
              <a:rPr sz="1000" b="0" i="0">
                <a:solidFill>
                  <a:srgbClr val="333333"/>
                </a:solidFill>
                <a:latin typeface="Consolas"/>
              </a:rPr>
              <a:t>4  Steubenville City    +0.176   Success for All (25 yr)</a:t>
            </a:r>
          </a:p>
          <a:p>
            <a:pPr algn="l"/>
            <a:r>
              <a:rPr sz="1000" b="0" i="0">
                <a:solidFill>
                  <a:srgbClr val="333333"/>
                </a:solidFill>
                <a:latin typeface="Consolas"/>
              </a:rPr>
              <a:t>5  Starkville-Oktibbeha +0.126   MS HQIM</a:t>
            </a:r>
          </a:p>
          <a:p>
            <a:pPr algn="l"/>
            <a:r>
              <a:rPr sz="1000" b="0" i="0">
                <a:solidFill>
                  <a:srgbClr val="333333"/>
                </a:solidFill>
                <a:latin typeface="Consolas"/>
              </a:rPr>
              <a:t/>
            </a:r>
          </a:p>
          <a:p>
            <a:pPr algn="l"/>
            <a:r>
              <a:rPr sz="1000" b="0" i="0">
                <a:solidFill>
                  <a:srgbClr val="333333"/>
                </a:solidFill>
                <a:latin typeface="Consolas"/>
              </a:rPr>
              <a:t>Top 5 G3 gainers (for comparison):</a:t>
            </a:r>
          </a:p>
          <a:p>
            <a:pPr algn="l"/>
            <a:r>
              <a:rPr sz="1000" b="0" i="0">
                <a:solidFill>
                  <a:srgbClr val="333333"/>
                </a:solidFill>
                <a:latin typeface="Consolas"/>
              </a:rPr>
              <a:t>1  Palo Alto USD        +0.205   SoR (ESRI)</a:t>
            </a:r>
          </a:p>
          <a:p>
            <a:pPr algn="l"/>
            <a:r>
              <a:rPr sz="1000" b="0" i="0">
                <a:solidFill>
                  <a:srgbClr val="333333"/>
                </a:solidFill>
                <a:latin typeface="Consolas"/>
              </a:rPr>
              <a:t>2  West Baton Rouge     +0.142   SoR</a:t>
            </a:r>
          </a:p>
          <a:p>
            <a:pPr algn="l"/>
            <a:r>
              <a:rPr sz="1000" b="0" i="0">
                <a:solidFill>
                  <a:srgbClr val="333333"/>
                </a:solidFill>
                <a:latin typeface="Consolas"/>
              </a:rPr>
              <a:t>3  Milpitas USD         +0.099   Mixed/Benchmark</a:t>
            </a:r>
          </a:p>
          <a:p>
            <a:pPr algn="l"/>
            <a:r>
              <a:rPr sz="1000" b="0" i="0">
                <a:solidFill>
                  <a:srgbClr val="333333"/>
                </a:solidFill>
                <a:latin typeface="Consolas"/>
              </a:rPr>
              <a:t>4  Issaquah SD          +0.087   SoR-recent</a:t>
            </a:r>
          </a:p>
          <a:p>
            <a:pPr algn="l"/>
            <a:r>
              <a:rPr sz="1000" b="0" i="0">
                <a:solidFill>
                  <a:srgbClr val="333333"/>
                </a:solidFill>
                <a:latin typeface="Consolas"/>
              </a:rPr>
              <a:t>5  College Community    +0.075   SoR-recent</a:t>
            </a:r>
          </a:p>
          <a:p>
            <a:pPr algn="l"/>
            <a:r>
              <a:rPr sz="1000" b="0" i="0">
                <a:solidFill>
                  <a:srgbClr val="333333"/>
                </a:solidFill>
                <a:latin typeface="Consolas"/>
              </a:rPr>
              <a:t/>
            </a:r>
          </a:p>
          <a:p>
            <a:pPr algn="l"/>
            <a:r>
              <a:rPr sz="1000" b="0" i="0">
                <a:solidFill>
                  <a:srgbClr val="333333"/>
                </a:solidFill>
                <a:latin typeface="Consolas"/>
              </a:rPr>
              <a:t>The strongest G5 gainers are EXCLUSIVELY SoR.</a:t>
            </a:r>
          </a:p>
          <a:p>
            <a:pPr algn="l"/>
            <a:r>
              <a:rPr sz="1000" b="0" i="0">
                <a:solidFill>
                  <a:srgbClr val="333333"/>
                </a:solidFill>
                <a:latin typeface="Consolas"/>
              </a:rPr>
              <a:t>The strongest G3 gainers are 4/5 SoR + 1 mixed.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5760" y="5989320"/>
            <a:ext cx="11430000" cy="384048"/>
          </a:xfrm>
          <a:prstGeom prst="rect">
            <a:avLst/>
          </a:prstGeom>
          <a:solidFill>
            <a:srgbClr val="FC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2920" y="6035040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B02121"/>
                </a:solidFill>
                <a:latin typeface="Calibri"/>
              </a:rPr>
              <a:t>Confounders this data can't resolve: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108960" y="6035040"/>
            <a:ext cx="8686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333333"/>
                </a:solidFill>
                <a:latin typeface="Calibri"/>
              </a:rPr>
              <a:t>Cohort effects (G5 had K 5 yrs ago); cross-grade scale differences; COVID hit early grades hardest (K-1 missed foundational year); small SoR-recent/Mixed n.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60" y="6601968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707070"/>
                </a:solidFill>
                <a:latin typeface="Calibri"/>
              </a:rPr>
              <a:t>Troy SD K-5 ELA — Executive Summary  •  github.com/akarpo/tsd-k5ela-choice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15600" y="6601968"/>
            <a:ext cx="13716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0" i="0">
                <a:solidFill>
                  <a:srgbClr val="707070"/>
                </a:solidFill>
                <a:latin typeface="Calibri"/>
              </a:rPr>
              <a:t>18 / 29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Curriculum verdict — Troy's options on the MI Section 35m list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75488"/>
            <a:ext cx="114300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CDDEE"/>
                </a:solidFill>
                <a:latin typeface="Calibri"/>
              </a:rPr>
              <a:t>Ranked by evidence strength + alignment with recovery patterns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960120"/>
            <a:ext cx="11521440" cy="36576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100584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#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1005840"/>
            <a:ext cx="3474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Curriculum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1005840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EdReports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92240" y="1005840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Recovery proof points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052560" y="1005840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Comp.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155680" y="100584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Grade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65760" y="1325880"/>
            <a:ext cx="11521440" cy="38404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5760" y="141732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1" i="0">
                <a:solidFill>
                  <a:srgbClr val="1F3A5F"/>
                </a:solidFill>
                <a:latin typeface="Calibri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1417320"/>
            <a:ext cx="3474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333333"/>
                </a:solidFill>
                <a:latin typeface="Calibri"/>
              </a:rPr>
              <a:t>Amplify CKLA 3rd Ed.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89120" y="1417320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0" i="0">
                <a:solidFill>
                  <a:srgbClr val="333333"/>
                </a:solidFill>
                <a:latin typeface="Calibri"/>
              </a:rPr>
              <a:t>All Green¹⁴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92240" y="1417320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0" i="0">
                <a:solidFill>
                  <a:srgbClr val="333333"/>
                </a:solidFill>
                <a:latin typeface="Calibri"/>
              </a:rPr>
              <a:t>Aldine⁴¹ G4+11pp; Fond du Lac #1 WI³³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52560" y="1417320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0" i="0">
                <a:solidFill>
                  <a:srgbClr val="333333"/>
                </a:solidFill>
                <a:latin typeface="Calibri"/>
              </a:rPr>
              <a:t>Single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155680" y="141732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1" i="0">
                <a:solidFill>
                  <a:srgbClr val="1F7A3D"/>
                </a:solidFill>
                <a:latin typeface="Calibri"/>
              </a:rPr>
              <a:t>A+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65760" y="1709928"/>
            <a:ext cx="11521440" cy="384048"/>
          </a:xfrm>
          <a:prstGeom prst="rect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65760" y="1801368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1" i="0">
                <a:solidFill>
                  <a:srgbClr val="1F3A5F"/>
                </a:solidFill>
                <a:latin typeface="Calibri"/>
              </a:rPr>
              <a:t>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4400" y="1801368"/>
            <a:ext cx="3474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333333"/>
                </a:solidFill>
                <a:latin typeface="Calibri"/>
              </a:rPr>
              <a:t>EL Education K-5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389120" y="1801368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0" i="0">
                <a:solidFill>
                  <a:srgbClr val="333333"/>
                </a:solidFill>
                <a:latin typeface="Calibri"/>
              </a:rPr>
              <a:t>All Green¹⁴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92240" y="1801368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0" i="0">
                <a:solidFill>
                  <a:srgbClr val="333333"/>
                </a:solidFill>
                <a:latin typeface="Calibri"/>
              </a:rPr>
              <a:t>Detroit DPSCD⁴²; NYC Reads Dist 11⁴³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052560" y="1801368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0" i="0">
                <a:solidFill>
                  <a:srgbClr val="333333"/>
                </a:solidFill>
                <a:latin typeface="Calibri"/>
              </a:rPr>
              <a:t>Single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155680" y="1801368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1" i="0">
                <a:solidFill>
                  <a:srgbClr val="1F7A3D"/>
                </a:solidFill>
                <a:latin typeface="Calibri"/>
              </a:rPr>
              <a:t>A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093976"/>
            <a:ext cx="11521440" cy="38404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185416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1" i="0">
                <a:solidFill>
                  <a:srgbClr val="1F3A5F"/>
                </a:solidFill>
                <a:latin typeface="Calibri"/>
              </a:rPr>
              <a:t>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4400" y="2185416"/>
            <a:ext cx="3474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333333"/>
                </a:solidFill>
                <a:latin typeface="Calibri"/>
              </a:rPr>
              <a:t>Wit &amp; Wisdom + Fundations + Geodes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89120" y="2185416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0" i="0">
                <a:solidFill>
                  <a:srgbClr val="333333"/>
                </a:solidFill>
                <a:latin typeface="Calibri"/>
              </a:rPr>
              <a:t>All Green¹⁴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92240" y="2185416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0" i="0">
                <a:solidFill>
                  <a:srgbClr val="333333"/>
                </a:solidFill>
                <a:latin typeface="Calibri"/>
              </a:rPr>
              <a:t>West Baton Rouge³⁷; Baltimore W&amp;W since 2018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052560" y="2185416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0" i="0">
                <a:solidFill>
                  <a:srgbClr val="333333"/>
                </a:solidFill>
                <a:latin typeface="Calibri"/>
              </a:rPr>
              <a:t>2-3 vendor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155680" y="2185416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1" i="0">
                <a:solidFill>
                  <a:srgbClr val="1F7A3D"/>
                </a:solidFill>
                <a:latin typeface="Calibri"/>
              </a:rPr>
              <a:t>A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478024"/>
            <a:ext cx="11521440" cy="384048"/>
          </a:xfrm>
          <a:prstGeom prst="rect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569464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1" i="0">
                <a:solidFill>
                  <a:srgbClr val="1F3A5F"/>
                </a:solidFill>
                <a:latin typeface="Calibri"/>
              </a:rPr>
              <a:t>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14400" y="2569464"/>
            <a:ext cx="3474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333333"/>
                </a:solidFill>
                <a:latin typeface="Calibri"/>
              </a:rPr>
              <a:t>UFLI Foundations (component)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389120" y="2569464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0" i="0">
                <a:solidFill>
                  <a:srgbClr val="333333"/>
                </a:solidFill>
                <a:latin typeface="Calibri"/>
              </a:rPr>
              <a:t>Not reviewed¹⁴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92240" y="2569464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0" i="0">
                <a:solidFill>
                  <a:srgbClr val="333333"/>
                </a:solidFill>
                <a:latin typeface="Calibri"/>
              </a:rPr>
              <a:t>RRQ 2025 ES &gt;1.0 SD²⁴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052560" y="2569464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0" i="0">
                <a:solidFill>
                  <a:srgbClr val="333333"/>
                </a:solidFill>
                <a:latin typeface="Calibri"/>
              </a:rPr>
              <a:t>Supplement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155680" y="2569464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1" i="0">
                <a:solidFill>
                  <a:srgbClr val="1F7A3D"/>
                </a:solidFill>
                <a:latin typeface="Calibri"/>
              </a:rPr>
              <a:t>A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2862072"/>
            <a:ext cx="11521440" cy="38404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2953512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1" i="0">
                <a:solidFill>
                  <a:srgbClr val="1F3A5F"/>
                </a:solidFill>
                <a:latin typeface="Calibri"/>
              </a:rPr>
              <a:t>5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14400" y="2953512"/>
            <a:ext cx="3474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333333"/>
                </a:solidFill>
                <a:latin typeface="Calibri"/>
              </a:rPr>
              <a:t>Really Great Reading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389120" y="2953512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0" i="0">
                <a:solidFill>
                  <a:srgbClr val="333333"/>
                </a:solidFill>
                <a:latin typeface="Calibri"/>
              </a:rPr>
              <a:t>196/198¹⁴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492240" y="2953512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0" i="0">
                <a:solidFill>
                  <a:srgbClr val="333333"/>
                </a:solidFill>
                <a:latin typeface="Calibri"/>
              </a:rPr>
              <a:t>NYC Reads foundational core⁴³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052560" y="2953512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0" i="0">
                <a:solidFill>
                  <a:srgbClr val="333333"/>
                </a:solidFill>
                <a:latin typeface="Calibri"/>
              </a:rPr>
              <a:t>Supplement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1155680" y="2953512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1" i="0">
                <a:solidFill>
                  <a:srgbClr val="1F7A3D"/>
                </a:solidFill>
                <a:latin typeface="Calibri"/>
              </a:rPr>
              <a:t>A−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246120"/>
            <a:ext cx="11521440" cy="384048"/>
          </a:xfrm>
          <a:prstGeom prst="rect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33756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1" i="0">
                <a:solidFill>
                  <a:srgbClr val="1F3A5F"/>
                </a:solidFill>
                <a:latin typeface="Calibri"/>
              </a:rPr>
              <a:t>…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14400" y="3337560"/>
            <a:ext cx="3474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333333"/>
                </a:solidFill>
                <a:latin typeface="Calibri"/>
              </a:rPr>
              <a:t>(…)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389120" y="3337560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0" i="0">
                <a:solidFill>
                  <a:srgbClr val="333333"/>
                </a:solidFill>
                <a:latin typeface="Calibri"/>
              </a:rPr>
              <a:t/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492240" y="3337560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0" i="0">
                <a:solidFill>
                  <a:srgbClr val="333333"/>
                </a:solidFill>
                <a:latin typeface="Calibri"/>
              </a:rPr>
              <a:t/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052560" y="3337560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0" i="0">
                <a:solidFill>
                  <a:srgbClr val="333333"/>
                </a:solidFill>
                <a:latin typeface="Calibri"/>
              </a:rPr>
              <a:t/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1155680" y="333756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1" i="0">
                <a:solidFill>
                  <a:srgbClr val="707070"/>
                </a:solidFill>
                <a:latin typeface="Calibri"/>
              </a:rPr>
              <a:t/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630168"/>
            <a:ext cx="11521440" cy="384048"/>
          </a:xfrm>
          <a:prstGeom prst="rect">
            <a:avLst/>
          </a:prstGeom>
          <a:solidFill>
            <a:srgbClr val="FC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721608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1" i="0">
                <a:solidFill>
                  <a:srgbClr val="1F3A5F"/>
                </a:solidFill>
                <a:latin typeface="Calibri"/>
              </a:rPr>
              <a:t>11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914400" y="3721608"/>
            <a:ext cx="3474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333333"/>
                </a:solidFill>
                <a:latin typeface="Calibri"/>
              </a:rPr>
              <a:t>Collaborative Literacy 3rd Ed. + UFLI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389120" y="3721608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1" i="0">
                <a:solidFill>
                  <a:srgbClr val="333333"/>
                </a:solidFill>
                <a:latin typeface="Calibri"/>
              </a:rPr>
              <a:t>2016 ed.: Partial¹⁴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492240" y="3721608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1" i="0">
                <a:solidFill>
                  <a:srgbClr val="333333"/>
                </a:solidFill>
                <a:latin typeface="Calibri"/>
              </a:rPr>
              <a:t>Zero of 50 outperformers use it¹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9052560" y="3721608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1" i="0">
                <a:solidFill>
                  <a:srgbClr val="333333"/>
                </a:solidFill>
                <a:latin typeface="Calibri"/>
              </a:rPr>
              <a:t>2-vendor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1155680" y="3721608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1" i="0">
                <a:solidFill>
                  <a:srgbClr val="B02121"/>
                </a:solidFill>
                <a:latin typeface="Calibri"/>
              </a:rPr>
              <a:t>B / B−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014216"/>
            <a:ext cx="11521440" cy="384048"/>
          </a:xfrm>
          <a:prstGeom prst="rect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05656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1" i="0">
                <a:solidFill>
                  <a:srgbClr val="1F3A5F"/>
                </a:solidFill>
                <a:latin typeface="Calibri"/>
              </a:rPr>
              <a:t>12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914400" y="4105656"/>
            <a:ext cx="3474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333333"/>
                </a:solidFill>
                <a:latin typeface="Calibri"/>
              </a:rPr>
              <a:t>HMH Into Reading 2025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389120" y="4105656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0" i="0">
                <a:solidFill>
                  <a:srgbClr val="333333"/>
                </a:solidFill>
                <a:latin typeface="Calibri"/>
              </a:rPr>
              <a:t>All Green (v1.0)¹⁴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492240" y="4105656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0" i="0">
                <a:solidFill>
                  <a:srgbClr val="333333"/>
                </a:solidFill>
                <a:latin typeface="Calibri"/>
              </a:rPr>
              <a:t>Contested by APM Reports²¹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9052560" y="4105656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0" i="0">
                <a:solidFill>
                  <a:srgbClr val="333333"/>
                </a:solidFill>
                <a:latin typeface="Calibri"/>
              </a:rPr>
              <a:t>Single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1155680" y="4105656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1" i="0">
                <a:solidFill>
                  <a:srgbClr val="707070"/>
                </a:solidFill>
                <a:latin typeface="Calibri"/>
              </a:rPr>
              <a:t>B−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365760" y="4937760"/>
            <a:ext cx="11430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B02121"/>
                </a:solidFill>
                <a:latin typeface="Calibri"/>
              </a:rPr>
              <a:t>Collab Lit + UFLI is the weakest comprehensive option on the Section 35m list for a district moving OUT of balanced literacy.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365760" y="5349240"/>
            <a:ext cx="1143000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0" i="0">
                <a:solidFill>
                  <a:srgbClr val="333333"/>
                </a:solidFill>
                <a:latin typeface="Calibri"/>
              </a:rPr>
              <a:t>Of 50 districts in the post-COVID national benchmark, zero use Collaborative Literacy as their K-5 core.</a:t>
            </a:r>
          </a:p>
          <a:p>
            <a:pPr algn="l"/>
            <a:r>
              <a:rPr sz="1250" b="0" i="0">
                <a:solidFill>
                  <a:srgbClr val="333333"/>
                </a:solidFill>
                <a:latin typeface="Calibri"/>
              </a:rPr>
              <a:t>Of the 4 districts that GAINED on the SEDA scale 2017-19 → 2022-25, all four use structured literacy.</a:t>
            </a:r>
          </a:p>
          <a:p>
            <a:pPr algn="l"/>
            <a:r>
              <a:rPr sz="1250" b="0" i="0">
                <a:solidFill>
                  <a:srgbClr val="333333"/>
                </a:solidFill>
                <a:latin typeface="Calibri"/>
              </a:rPr>
              <a:t>Of Troy's stronger alternatives — CKLA, EL Education, Wit &amp; Wisdom — each has direct post-COVID recovery evidence.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365760" y="6601968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707070"/>
                </a:solidFill>
                <a:latin typeface="Calibri"/>
              </a:rPr>
              <a:t>Troy SD K-5 ELA — Executive Summary  •  github.com/akarpo/tsd-k5ela-choice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0515600" y="6601968"/>
            <a:ext cx="13716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0" i="0">
                <a:solidFill>
                  <a:srgbClr val="707070"/>
                </a:solidFill>
                <a:latin typeface="Calibri"/>
              </a:rPr>
              <a:t>19 / 29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Recommendation — three paths ranked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75488"/>
            <a:ext cx="114300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CDDEE"/>
                </a:solidFill>
                <a:latin typeface="Calibri"/>
              </a:rPr>
              <a:t>Each leg of the evidence base points the same direction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960120"/>
            <a:ext cx="137160" cy="1234440"/>
          </a:xfrm>
          <a:prstGeom prst="rect">
            <a:avLst/>
          </a:prstGeom>
          <a:solidFill>
            <a:srgbClr val="1F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005840"/>
            <a:ext cx="3200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F7A3D"/>
                </a:solidFill>
                <a:latin typeface="Calibri"/>
              </a:rPr>
              <a:t>RECOMMENDED PRIMARY PATH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252728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1F3A5F"/>
                </a:solidFill>
                <a:latin typeface="Calibri"/>
              </a:rPr>
              <a:t>Amplify CKLA 3rd Edition K-5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645920"/>
            <a:ext cx="1051560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333333"/>
                </a:solidFill>
                <a:latin typeface="Calibri"/>
              </a:rPr>
              <a:t>Single vendor, integrated foundations + knowledge.  All-green EdReports (first ELA program to earn it).</a:t>
            </a:r>
          </a:p>
          <a:p>
            <a:pPr algn="l"/>
            <a:r>
              <a:rPr sz="1200" b="0" i="0">
                <a:solidFill>
                  <a:srgbClr val="333333"/>
                </a:solidFill>
                <a:latin typeface="Calibri"/>
              </a:rPr>
              <a:t>Marion County KY³⁰: +10pp G3-7 ELA 2021-25 with CKLA + LETRS.  Fond du Lac WI³³: #1 reading growth statewide.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2286000"/>
            <a:ext cx="137160" cy="1234440"/>
          </a:xfrm>
          <a:prstGeom prst="rect">
            <a:avLst/>
          </a:prstGeom>
          <a:solidFill>
            <a:srgbClr val="1F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2331720"/>
            <a:ext cx="3200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F7A3D"/>
                </a:solidFill>
                <a:latin typeface="Calibri"/>
              </a:rPr>
              <a:t>STRONG ALTERNATIVE — BEST OF BREED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2578608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1F3A5F"/>
                </a:solidFill>
                <a:latin typeface="Calibri"/>
              </a:rPr>
              <a:t>Wit &amp; Wisdom + Wilson Fundations K-3 + Geodes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2971800"/>
            <a:ext cx="1051560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333333"/>
                </a:solidFill>
                <a:latin typeface="Calibri"/>
              </a:rPr>
              <a:t>West Baton Rouge LA³⁷: K-3 literacy 57%→68% in ONE year. Best Not-ECD recovery (+0.315) in our universe.</a:t>
            </a:r>
          </a:p>
          <a:p>
            <a:pPr algn="l"/>
            <a:r>
              <a:rPr sz="1200" b="0" i="0">
                <a:solidFill>
                  <a:srgbClr val="333333"/>
                </a:solidFill>
                <a:latin typeface="Calibri"/>
              </a:rPr>
              <a:t>Roanoke County VA³: closest demographic peer to Troy. Baltimore City: longest urban track record (since 2018).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3611880"/>
            <a:ext cx="137160" cy="123444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3657600"/>
            <a:ext cx="3200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F3A5F"/>
                </a:solidFill>
                <a:latin typeface="Calibri"/>
              </a:rPr>
              <a:t>HONORABLE MENTION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3904488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1F3A5F"/>
                </a:solidFill>
                <a:latin typeface="Calibri"/>
              </a:rPr>
              <a:t>EL Education K-5 (+ phonics supplement)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4297680"/>
            <a:ext cx="1051560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333333"/>
                </a:solidFill>
                <a:latin typeface="Calibri"/>
              </a:rPr>
              <a:t>Direct in-state Michigan validator: Detroit DPSCD⁴² adopted 2018, outpaced state.</a:t>
            </a:r>
          </a:p>
          <a:p>
            <a:pPr algn="l"/>
            <a:r>
              <a:rPr sz="1200" b="0" i="0">
                <a:solidFill>
                  <a:srgbClr val="333333"/>
                </a:solidFill>
                <a:latin typeface="Calibri"/>
              </a:rPr>
              <a:t>NYC Reads natural experiment⁴³: District 11 (EL Education) outperformed both Into Reading and Wit &amp; Wisdom.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4937760"/>
            <a:ext cx="137160" cy="1234440"/>
          </a:xfrm>
          <a:prstGeom prst="rect">
            <a:avLst/>
          </a:prstGeom>
          <a:solidFill>
            <a:srgbClr val="7070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1520" y="4983480"/>
            <a:ext cx="3200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707070"/>
                </a:solidFill>
                <a:latin typeface="Calibri"/>
              </a:rPr>
              <a:t>IF TEACHER BUY-IN OR LOCAL POLITICS BLOCKS A CLEAN CHANGE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" y="5230368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1F3A5F"/>
                </a:solidFill>
                <a:latin typeface="Calibri"/>
              </a:rPr>
              <a:t>The least-bad fallback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5623560"/>
            <a:ext cx="1051560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333333"/>
                </a:solidFill>
                <a:latin typeface="Calibri"/>
              </a:rPr>
              <a:t>Keep Collab Lit as a transitional core; drop Making Meaning in G3-5; substitute a knowledge-building supplement.</a:t>
            </a:r>
          </a:p>
          <a:p>
            <a:pPr algn="l"/>
            <a:r>
              <a:rPr sz="1200" b="0" i="0">
                <a:solidFill>
                  <a:srgbClr val="333333"/>
                </a:solidFill>
                <a:latin typeface="Calibri"/>
              </a:rPr>
              <a:t>Use SIPPS for Tier-2 only and UFLI as Tier-1 K-2 phonics (avoid duplication). Commit to a 2-3 year sunset review.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5760" y="6601968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707070"/>
                </a:solidFill>
                <a:latin typeface="Calibri"/>
              </a:rPr>
              <a:t>Troy SD K-5 ELA — Executive Summary  •  github.com/akarpo/tsd-k5ela-choice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515600" y="6601968"/>
            <a:ext cx="13716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0" i="0">
                <a:solidFill>
                  <a:srgbClr val="707070"/>
                </a:solidFill>
                <a:latin typeface="Calibri"/>
              </a:rPr>
              <a:t>20 / 29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Curriculum is necessary but not sufficient — and what to track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75488"/>
            <a:ext cx="114300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CDDEE"/>
                </a:solidFill>
                <a:latin typeface="Calibri"/>
              </a:rPr>
              <a:t>Five execution factors + the real-time peer benchmarks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6400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F3A5F"/>
                </a:solidFill>
                <a:latin typeface="Calibri"/>
              </a:rPr>
              <a:t>Five execution factors in every winning district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325880"/>
            <a:ext cx="411480" cy="6858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463040"/>
            <a:ext cx="4114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1325880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1F3A5F"/>
                </a:solidFill>
                <a:latin typeface="Calibri"/>
              </a:rPr>
              <a:t>Stack, don't bolt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1655064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333333"/>
                </a:solidFill>
                <a:latin typeface="Calibri"/>
              </a:rPr>
              <a:t>Knowledge core + systematic phonics + teacher PD as ONE system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2103120"/>
            <a:ext cx="411480" cy="6858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2240280"/>
            <a:ext cx="4114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2103120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1F3A5F"/>
                </a:solidFill>
                <a:latin typeface="Calibri"/>
              </a:rPr>
              <a:t>60+ hours structured PD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2432304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333333"/>
                </a:solidFill>
                <a:latin typeface="Calibri"/>
              </a:rPr>
              <a:t>LETRS most-cited³¹ (3 of 20 DOTRs); brand varies; depth doesn't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2880360"/>
            <a:ext cx="411480" cy="6858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" y="3017520"/>
            <a:ext cx="4114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5840" y="2880360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1F3A5F"/>
                </a:solidFill>
                <a:latin typeface="Calibri"/>
              </a:rPr>
              <a:t>Universal screeners + MTSS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05840" y="3209544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333333"/>
                </a:solidFill>
                <a:latin typeface="Calibri"/>
              </a:rPr>
              <a:t>MDE-approved K-3 screeners: mCLASS/DIBELS 8, Amira, MAP Reading Fluency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3657600"/>
            <a:ext cx="411480" cy="6858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3794760"/>
            <a:ext cx="4114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05840" y="3657600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1F3A5F"/>
                </a:solidFill>
                <a:latin typeface="Calibri"/>
              </a:rPr>
              <a:t>Plan for a 2-3 year lag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5840" y="3986784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333333"/>
                </a:solidFill>
                <a:latin typeface="Calibri"/>
              </a:rPr>
              <a:t>Bethlehem K-change 2015 → G3 bounce 2018²⁶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4434840"/>
            <a:ext cx="411480" cy="6858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7200" y="4572000"/>
            <a:ext cx="4114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05840" y="4434840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1F3A5F"/>
                </a:solidFill>
                <a:latin typeface="Calibri"/>
              </a:rPr>
              <a:t>Fidelity is the binding constraint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05840" y="4764024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333333"/>
                </a:solidFill>
                <a:latin typeface="Calibri"/>
              </a:rPr>
              <a:t>NYC Phase 1 conf 55% vs Phase 2 38%⁴³ = real outcome gap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32320" y="914400"/>
            <a:ext cx="48463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F3A5F"/>
                </a:solidFill>
                <a:latin typeface="Calibri"/>
              </a:rPr>
              <a:t>Track these districts in real time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132320" y="1325880"/>
            <a:ext cx="137160" cy="685800"/>
          </a:xfrm>
          <a:prstGeom prst="rect">
            <a:avLst/>
          </a:prstGeom>
          <a:solidFill>
            <a:srgbClr val="1F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315200" y="1325880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1F3A5F"/>
                </a:solidFill>
                <a:latin typeface="Calibri"/>
              </a:rPr>
              <a:t>Lake Washington WA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315200" y="1600200"/>
            <a:ext cx="4572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  <a:latin typeface="Calibri"/>
              </a:rPr>
              <a:t>Board adoption Spring 2026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315200" y="1828800"/>
            <a:ext cx="4572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1F7A3D"/>
                </a:solidFill>
                <a:latin typeface="Calibri"/>
              </a:rPr>
              <a:t>→ Closest demographic peer mid-shift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132320" y="2103120"/>
            <a:ext cx="137160" cy="685800"/>
          </a:xfrm>
          <a:prstGeom prst="rect">
            <a:avLst/>
          </a:prstGeom>
          <a:solidFill>
            <a:srgbClr val="1F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315200" y="2103120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1F3A5F"/>
                </a:solidFill>
                <a:latin typeface="Calibri"/>
              </a:rPr>
              <a:t>Bellevue SD WA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315200" y="2377440"/>
            <a:ext cx="4572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  <a:latin typeface="Calibri"/>
              </a:rPr>
              <a:t>Year 2 of ARC Core + UFLI + Heggerty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15200" y="2606040"/>
            <a:ext cx="4572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1F7A3D"/>
                </a:solidFill>
                <a:latin typeface="Calibri"/>
              </a:rPr>
              <a:t>→ Year-2 SBA fall 2026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132320" y="2880360"/>
            <a:ext cx="137160" cy="685800"/>
          </a:xfrm>
          <a:prstGeom prst="rect">
            <a:avLst/>
          </a:prstGeom>
          <a:solidFill>
            <a:srgbClr val="1F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315200" y="2880360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1F3A5F"/>
                </a:solidFill>
                <a:latin typeface="Calibri"/>
              </a:rPr>
              <a:t>Issaquah SD WA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315200" y="3154680"/>
            <a:ext cx="4572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  <a:latin typeface="Calibri"/>
              </a:rPr>
              <a:t>First post-Benchmark Advance SBA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315200" y="3383280"/>
            <a:ext cx="4572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1F7A3D"/>
                </a:solidFill>
                <a:latin typeface="Calibri"/>
              </a:rPr>
              <a:t>→ Fall 2026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132320" y="3657600"/>
            <a:ext cx="137160" cy="685800"/>
          </a:xfrm>
          <a:prstGeom prst="rect">
            <a:avLst/>
          </a:prstGeom>
          <a:solidFill>
            <a:srgbClr val="1F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315200" y="3657600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1F3A5F"/>
                </a:solidFill>
                <a:latin typeface="Calibri"/>
              </a:rPr>
              <a:t>Palo Alto USD CA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315200" y="3931920"/>
            <a:ext cx="4572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  <a:latin typeface="Calibri"/>
              </a:rPr>
              <a:t>Year 5 post-ESRI CAASPP trend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315200" y="4160520"/>
            <a:ext cx="4572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1F7A3D"/>
                </a:solidFill>
                <a:latin typeface="Calibri"/>
              </a:rPr>
              <a:t>→ Annual CAASPP</a:t>
            </a:r>
          </a:p>
        </p:txBody>
      </p:sp>
      <p:sp>
        <p:nvSpPr>
          <p:cNvPr id="43" name="Rectangle 42"/>
          <p:cNvSpPr/>
          <p:nvPr/>
        </p:nvSpPr>
        <p:spPr>
          <a:xfrm>
            <a:off x="7132320" y="4434840"/>
            <a:ext cx="137160" cy="685800"/>
          </a:xfrm>
          <a:prstGeom prst="rect">
            <a:avLst/>
          </a:prstGeom>
          <a:solidFill>
            <a:srgbClr val="1F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7315200" y="4434840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1F3A5F"/>
                </a:solidFill>
                <a:latin typeface="Calibri"/>
              </a:rPr>
              <a:t>Fond du Lac WI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315200" y="4709160"/>
            <a:ext cx="4572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  <a:latin typeface="Calibri"/>
              </a:rPr>
              <a:t>Continued CKLA + DDI trajectory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315200" y="4937760"/>
            <a:ext cx="4572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1F7A3D"/>
                </a:solidFill>
                <a:latin typeface="Calibri"/>
              </a:rPr>
              <a:t>→ WI Forward fall 2026</a:t>
            </a:r>
          </a:p>
        </p:txBody>
      </p:sp>
      <p:sp>
        <p:nvSpPr>
          <p:cNvPr id="47" name="Rectangle 46"/>
          <p:cNvSpPr/>
          <p:nvPr/>
        </p:nvSpPr>
        <p:spPr>
          <a:xfrm>
            <a:off x="7132320" y="5212080"/>
            <a:ext cx="137160" cy="685800"/>
          </a:xfrm>
          <a:prstGeom prst="rect">
            <a:avLst/>
          </a:prstGeom>
          <a:solidFill>
            <a:srgbClr val="1F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7315200" y="5212080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1F3A5F"/>
                </a:solidFill>
                <a:latin typeface="Calibri"/>
              </a:rPr>
              <a:t>Aldine ISD TX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315200" y="5486400"/>
            <a:ext cx="4572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  <a:latin typeface="Calibri"/>
              </a:rPr>
              <a:t>Watch G5+G6 STAAR 2026 (full post-CKLA cohort)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315200" y="5715000"/>
            <a:ext cx="4572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1F7A3D"/>
                </a:solidFill>
                <a:latin typeface="Calibri"/>
              </a:rPr>
              <a:t>→ TEA TAPR fall 2026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65760" y="6601968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707070"/>
                </a:solidFill>
                <a:latin typeface="Calibri"/>
              </a:rPr>
              <a:t>Troy SD K-5 ELA — Executive Summary  •  github.com/akarpo/tsd-k5ela-choice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0515600" y="6601968"/>
            <a:ext cx="13716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0" i="0">
                <a:solidFill>
                  <a:srgbClr val="707070"/>
                </a:solidFill>
                <a:latin typeface="Calibri"/>
              </a:rPr>
              <a:t>21 / 29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Appendix — Methodology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75488"/>
            <a:ext cx="114300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CDDEE"/>
                </a:solidFill>
                <a:latin typeface="Calibri"/>
              </a:rPr>
              <a:t>Datasets, metrics, time windows, district universe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6012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F3A5F"/>
                </a:solidFill>
                <a:latin typeface="Calibri"/>
              </a:rPr>
              <a:t>Primary metric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325880"/>
            <a:ext cx="548640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333333"/>
                </a:solidFill>
                <a:latin typeface="Calibri"/>
              </a:rPr>
              <a:t>SEDA cohort-standardized score (cs): NAEP-anchored grade-level units. 0.0 = at-grade national norm; +1.0 = one grade above national norm.</a:t>
            </a:r>
          </a:p>
          <a:p>
            <a:pPr algn="l"/>
            <a:r>
              <a:rPr sz="120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 algn="l"/>
            <a:r>
              <a:rPr sz="1200" b="0" i="0">
                <a:solidFill>
                  <a:srgbClr val="333333"/>
                </a:solidFill>
                <a:latin typeface="Calibri"/>
              </a:rPr>
              <a:t>This is the only metric that is genuinely cross-state comparable in absolute terms — it normalizes M-STEP, CAASPP, STAAR, LEAP, MAAP, TCAP, NJSLA, SBA, OST against a common NAEP-anchored scale.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01752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F3A5F"/>
                </a:solidFill>
                <a:latin typeface="Calibri"/>
              </a:rPr>
              <a:t>Time windows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3383280"/>
            <a:ext cx="548640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333333"/>
                </a:solidFill>
                <a:latin typeface="Consolas"/>
              </a:rPr>
              <a:t>Pre-COVID baseline:  2017-2019 (3-year mean)</a:t>
            </a:r>
          </a:p>
          <a:p>
            <a:pPr algn="l"/>
            <a:r>
              <a:rPr sz="1200" b="0" i="0">
                <a:solidFill>
                  <a:srgbClr val="333333"/>
                </a:solidFill>
                <a:latin typeface="Consolas"/>
              </a:rPr>
              <a:t>Post-COVID window:  2022-2025 (4-year mean)</a:t>
            </a:r>
          </a:p>
          <a:p>
            <a:pPr algn="l"/>
            <a:r>
              <a:rPr sz="1200" b="0" i="0">
                <a:solidFill>
                  <a:srgbClr val="333333"/>
                </a:solidFill>
                <a:latin typeface="Consolas"/>
              </a:rPr>
              <a:t>Δ = post − pre (units: grade levels)</a:t>
            </a:r>
          </a:p>
          <a:p>
            <a:pPr algn="l"/>
            <a:r>
              <a:rPr sz="1200" b="0" i="0">
                <a:solidFill>
                  <a:srgbClr val="333333"/>
                </a:solidFill>
                <a:latin typeface="Consolas"/>
              </a:rPr>
              <a:t/>
            </a:r>
          </a:p>
          <a:p>
            <a:pPr algn="l"/>
            <a:r>
              <a:rPr sz="1200" b="0" i="0">
                <a:solidFill>
                  <a:srgbClr val="333333"/>
                </a:solidFill>
                <a:latin typeface="Consolas"/>
              </a:rPr>
              <a:t>2020 and 2021 omitted from SEDA — state tests were canceled or partially administered nationwide. This is the SEDA team's standard recovery-window convention.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502920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F3A5F"/>
                </a:solidFill>
                <a:latin typeface="Calibri"/>
              </a:rPr>
              <a:t>Grade pooling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5394960"/>
            <a:ext cx="54864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333333"/>
                </a:solidFill>
                <a:latin typeface="Calibri"/>
              </a:rPr>
              <a:t>G3-G5 ELA only. Pooled within district × year, weighted by tested-student count per grade. Math excluded (this analysis is about ELA).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96012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F3A5F"/>
                </a:solidFill>
                <a:latin typeface="Calibri"/>
              </a:rPr>
              <a:t>District universe — 50 targeted, 49 with valid SEDA Δ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1325880"/>
            <a:ext cx="5486400" cy="457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333333"/>
                </a:solidFill>
                <a:latin typeface="Calibri"/>
              </a:rPr>
              <a:t>•  Troy SD + 7 MI affluent peers    (8)</a:t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alibri"/>
              </a:rPr>
              <a:t>   (Bloomfield Hills, Birmingham, Northville, Novi, Rochester, Walled Lake, West Bloomfield)</a:t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alibri"/>
              </a:rPr>
              <a:t>•  4 CA workbook peers + 4 CA outperformers    (8)</a:t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alibri"/>
              </a:rPr>
              <a:t>   (Palo Alto, Milpitas, Walnut Valley, Dublin + Modesto, Sanger, Garden Grove, Long Beach)</a:t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alibri"/>
              </a:rPr>
              <a:t>•  6 TX districts    (6)</a:t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alibri"/>
              </a:rPr>
              <a:t>   (Aldine, Brownsville, Coppell, Plano, Frisco, Spring Branch)</a:t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alibri"/>
              </a:rPr>
              <a:t>•  3 NJ peers + 3 WA SoR-shift peers    (6)</a:t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alibri"/>
              </a:rPr>
              <a:t>   (WW-Plainsboro, Millburn, Princeton + Bellevue, Issaquah, Lake Washington)</a:t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alibri"/>
              </a:rPr>
              <a:t>•  Steubenville (OH gold standard) + Detroit DPSCD (MI in-state)    (2)</a:t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alibri"/>
              </a:rPr>
              <a:t>•  15 additional Education Scorecard 2026 DOTR districts    (15)</a:t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alibri"/>
              </a:rPr>
              <a:t>   (CT, DE, GA, IA, ID, IN, KY, MD, MO, MS, NC, NH, SD, TN, WI — Detroit + Spring Branch already counted)</a:t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alibri"/>
              </a:rPr>
              <a:t>•  2 DOTR Reading-Only adds    (2)   (West Baton Rouge LA, Roanoke County VA — Modesto already in CA)</a:t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alibri"/>
              </a:rPr>
              <a:t>•  3 sustained / early-SoR comparators    (3)   (Seaford DE, Valley Stream 30 NY, Bethlehem PA)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0" y="5852160"/>
            <a:ext cx="54864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1F3A5F"/>
                </a:solidFill>
                <a:latin typeface="Calibri"/>
              </a:rPr>
              <a:t>Counts referenced elsewhere in the deck: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6080760"/>
            <a:ext cx="54864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1">
                <a:solidFill>
                  <a:srgbClr val="333333"/>
                </a:solidFill>
                <a:latin typeface="Calibri"/>
              </a:rPr>
              <a:t>20 = ELA-relevant DOTR districts (17 Math+Reading + 3 Reading-only).  28 = predecessor state-test analysis (raw % proficient on M-STEP/CAASPP/STAAR/etc., before SEDA expansion) — see reports/quantitative_analysis.md.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" y="6601968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707070"/>
                </a:solidFill>
                <a:latin typeface="Calibri"/>
              </a:rPr>
              <a:t>Troy SD K-5 ELA — Executive Summary  •  github.com/akarpo/tsd-k5ela-choice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515600" y="6601968"/>
            <a:ext cx="13716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0" i="0">
                <a:solidFill>
                  <a:srgbClr val="707070"/>
                </a:solidFill>
                <a:latin typeface="Calibri"/>
              </a:rPr>
              <a:t>22 / 29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Appendix — Troy vs. 504 level-matched peers: post-COVID decline (SEDA 2025.1)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75488"/>
            <a:ext cx="114300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CDDEE"/>
                </a:solidFill>
                <a:latin typeface="Calibri"/>
              </a:rPr>
              <a:t>2019 → 2025 change analysis  •  Pre-COVID baseline ±0.25 of Troy, enrollment ≥150/grade-year</a:t>
            </a:r>
          </a:p>
        </p:txBody>
      </p:sp>
      <p:pic>
        <p:nvPicPr>
          <p:cNvPr id="5" name="Picture 4" descr="chart_seda_ela_pe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868680"/>
            <a:ext cx="7589520" cy="3761671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046720" y="914400"/>
            <a:ext cx="39319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F3A5F"/>
                </a:solidFill>
                <a:latin typeface="Calibri"/>
              </a:rPr>
              <a:t>Key findings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46720" y="1371600"/>
            <a:ext cx="10972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B02121"/>
                </a:solidFill>
                <a:latin typeface="Calibri"/>
              </a:rPr>
              <a:t>504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0" y="1371600"/>
            <a:ext cx="283464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  <a:latin typeface="Calibri"/>
              </a:rPr>
              <a:t>level-matched peer districts nationwide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20" y="2057400"/>
            <a:ext cx="10972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B02121"/>
                </a:solidFill>
                <a:latin typeface="Calibri"/>
              </a:rPr>
              <a:t>81 / 504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0" y="2057400"/>
            <a:ext cx="283464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  <a:latin typeface="Calibri"/>
              </a:rPr>
              <a:t>Troy's Δ rank (16th percentile) — bottom sixth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46720" y="2743200"/>
            <a:ext cx="10972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B02121"/>
                </a:solidFill>
                <a:latin typeface="Calibri"/>
              </a:rPr>
              <a:t>-0.252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0" y="2743200"/>
            <a:ext cx="283464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  <a:latin typeface="Calibri"/>
              </a:rPr>
              <a:t>Troy's post-COVID Δ (grade levels vs national norm)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0" y="3429000"/>
            <a:ext cx="10972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B02121"/>
                </a:solidFill>
                <a:latin typeface="Calibri"/>
              </a:rPr>
              <a:t>-0.107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0" y="3429000"/>
            <a:ext cx="283464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  <a:latin typeface="Calibri"/>
              </a:rPr>
              <a:t>Peer median Δ — Troy underperforms by 0.145 grade levels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46720" y="4114800"/>
            <a:ext cx="39319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F3A5F"/>
                </a:solidFill>
                <a:latin typeface="Calibri"/>
              </a:rPr>
              <a:t>Subgroup Δ ranks — higher rank = worse decline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46720" y="4480560"/>
            <a:ext cx="15087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333333"/>
                </a:solidFill>
                <a:latin typeface="Calibri"/>
              </a:rPr>
              <a:t>All Students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555480" y="4480560"/>
            <a:ext cx="10515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B02121"/>
                </a:solidFill>
                <a:latin typeface="Calibri"/>
              </a:rPr>
              <a:t>424 / 504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607040" y="4480560"/>
            <a:ext cx="9144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1">
                <a:solidFill>
                  <a:srgbClr val="B02121"/>
                </a:solidFill>
                <a:latin typeface="Calibri"/>
              </a:rPr>
              <a:t>84th pct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46720" y="4718304"/>
            <a:ext cx="15087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333333"/>
                </a:solidFill>
                <a:latin typeface="Calibri"/>
              </a:rPr>
              <a:t>Asian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555480" y="4718304"/>
            <a:ext cx="10515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B02121"/>
                </a:solidFill>
                <a:latin typeface="Calibri"/>
              </a:rPr>
              <a:t>243 / 265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607040" y="4718304"/>
            <a:ext cx="9144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1">
                <a:solidFill>
                  <a:srgbClr val="B02121"/>
                </a:solidFill>
                <a:latin typeface="Calibri"/>
              </a:rPr>
              <a:t>92nd pct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046720" y="4956048"/>
            <a:ext cx="15087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333333"/>
                </a:solidFill>
                <a:latin typeface="Calibri"/>
              </a:rPr>
              <a:t>White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555480" y="4956048"/>
            <a:ext cx="10515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B02121"/>
                </a:solidFill>
                <a:latin typeface="Calibri"/>
              </a:rPr>
              <a:t>401 / 496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607040" y="4956048"/>
            <a:ext cx="9144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1">
                <a:solidFill>
                  <a:srgbClr val="B02121"/>
                </a:solidFill>
                <a:latin typeface="Calibri"/>
              </a:rPr>
              <a:t>81st pct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46720" y="5193792"/>
            <a:ext cx="15087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333333"/>
                </a:solidFill>
                <a:latin typeface="Calibri"/>
              </a:rPr>
              <a:t>Black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555480" y="5193792"/>
            <a:ext cx="10515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B02121"/>
                </a:solidFill>
                <a:latin typeface="Calibri"/>
              </a:rPr>
              <a:t>114 / 156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07040" y="5193792"/>
            <a:ext cx="9144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1">
                <a:solidFill>
                  <a:srgbClr val="B02121"/>
                </a:solidFill>
                <a:latin typeface="Calibri"/>
              </a:rPr>
              <a:t>73rd pct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046720" y="5431536"/>
            <a:ext cx="15087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333333"/>
                </a:solidFill>
                <a:latin typeface="Calibri"/>
              </a:rPr>
              <a:t>Hispanic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555480" y="5431536"/>
            <a:ext cx="10515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1F7A3D"/>
                </a:solidFill>
                <a:latin typeface="Calibri"/>
              </a:rPr>
              <a:t>99 / 321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607040" y="5431536"/>
            <a:ext cx="9144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1">
                <a:solidFill>
                  <a:srgbClr val="1F7A3D"/>
                </a:solidFill>
                <a:latin typeface="Calibri"/>
              </a:rPr>
              <a:t>31st pct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046720" y="5669280"/>
            <a:ext cx="15087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333333"/>
                </a:solidFill>
                <a:latin typeface="Calibri"/>
              </a:rPr>
              <a:t>Econ Disadv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555480" y="5669280"/>
            <a:ext cx="10515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333333"/>
                </a:solidFill>
                <a:latin typeface="Calibri"/>
              </a:rPr>
              <a:t>208 / 444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607040" y="5669280"/>
            <a:ext cx="9144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1">
                <a:solidFill>
                  <a:srgbClr val="333333"/>
                </a:solidFill>
                <a:latin typeface="Calibri"/>
              </a:rPr>
              <a:t>47th pct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046720" y="5907024"/>
            <a:ext cx="15087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333333"/>
                </a:solidFill>
                <a:latin typeface="Calibri"/>
              </a:rPr>
              <a:t>Not Econ Disadv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555480" y="5907024"/>
            <a:ext cx="10515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B02121"/>
                </a:solidFill>
                <a:latin typeface="Calibri"/>
              </a:rPr>
              <a:t>428 / 495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607040" y="5907024"/>
            <a:ext cx="9144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1">
                <a:solidFill>
                  <a:srgbClr val="B02121"/>
                </a:solidFill>
                <a:latin typeface="Calibri"/>
              </a:rPr>
              <a:t>86th pct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046720" y="6217920"/>
            <a:ext cx="39319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1">
                <a:solidFill>
                  <a:srgbClr val="707070"/>
                </a:solidFill>
                <a:latin typeface="Calibri"/>
              </a:rPr>
              <a:t>Peers derived independently from Math (44% overlap). Troy ELA baseline</a:t>
            </a:r>
          </a:p>
          <a:p>
            <a:pPr algn="l"/>
            <a:r>
              <a:rPr sz="850" b="0" i="1">
                <a:solidFill>
                  <a:srgbClr val="707070"/>
                </a:solidFill>
                <a:latin typeface="Calibri"/>
              </a:rPr>
              <a:t>(+0.729) lower than Math (+0.937) — different peer universe.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65760" y="6601968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707070"/>
                </a:solidFill>
                <a:latin typeface="Calibri"/>
              </a:rPr>
              <a:t>Troy SD K-5 ELA — Executive Summary  •  github.com/akarpo/tsd-k5ela-choice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515600" y="6601968"/>
            <a:ext cx="13716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0" i="0">
                <a:solidFill>
                  <a:srgbClr val="707070"/>
                </a:solidFill>
                <a:latin typeface="Calibri"/>
              </a:rPr>
              <a:t>23 / 29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Appendix — Troy dropped from top-third to bottom 40% on the ELA leaderboard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75488"/>
            <a:ext cx="114300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CDDEE"/>
                </a:solidFill>
                <a:latin typeface="Calibri"/>
              </a:rPr>
              <a:t>Absolute performance level among 504 peers — not just change, but where Troy sits now</a:t>
            </a:r>
          </a:p>
        </p:txBody>
      </p:sp>
      <p:pic>
        <p:nvPicPr>
          <p:cNvPr id="5" name="Picture 4" descr="chart_seda_scat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868680"/>
            <a:ext cx="5669280" cy="4157472"/>
          </a:xfrm>
          <a:prstGeom prst="rect">
            <a:avLst/>
          </a:prstGeom>
        </p:spPr>
      </p:pic>
      <p:pic>
        <p:nvPicPr>
          <p:cNvPr id="6" name="Picture 5" descr="chart_seda_rank_shif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26480" y="868680"/>
            <a:ext cx="5760720" cy="4224528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274320" y="5029200"/>
            <a:ext cx="11612880" cy="1371600"/>
          </a:xfrm>
          <a:prstGeom prst="rect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5074920"/>
            <a:ext cx="109728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F3A5F"/>
                </a:solidFill>
                <a:latin typeface="Calibri"/>
              </a:rPr>
              <a:t>Every subgroup: pre-COVID rank → post-COVID rank (among 504 level-matched peers, 1 = highest)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5321808"/>
            <a:ext cx="14630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F3A5F"/>
                </a:solidFill>
                <a:latin typeface="Calibri"/>
              </a:rPr>
              <a:t>Subgroup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77440" y="5321808"/>
            <a:ext cx="14630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F3A5F"/>
                </a:solidFill>
                <a:latin typeface="Calibri"/>
              </a:rPr>
              <a:t>Pre Rank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0" y="5321808"/>
            <a:ext cx="14630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F3A5F"/>
                </a:solidFill>
                <a:latin typeface="Calibri"/>
              </a:rPr>
              <a:t>Post Rank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760720" y="5321808"/>
            <a:ext cx="14630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F3A5F"/>
                </a:solidFill>
                <a:latin typeface="Calibri"/>
              </a:rPr>
              <a:t>Shift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132320" y="5321808"/>
            <a:ext cx="14630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F3A5F"/>
                </a:solidFill>
                <a:latin typeface="Calibri"/>
              </a:rPr>
              <a:t>Pre Level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0" y="5321808"/>
            <a:ext cx="14630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F3A5F"/>
                </a:solidFill>
                <a:latin typeface="Calibri"/>
              </a:rPr>
              <a:t>Post Level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241280" y="5321808"/>
            <a:ext cx="14630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F3A5F"/>
                </a:solidFill>
                <a:latin typeface="Calibri"/>
              </a:rPr>
              <a:t>Δ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5532120"/>
            <a:ext cx="1463040" cy="1554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333333"/>
                </a:solidFill>
                <a:latin typeface="Calibri"/>
              </a:rPr>
              <a:t>All Students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377440" y="5532120"/>
            <a:ext cx="1463040" cy="1554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333333"/>
                </a:solidFill>
                <a:latin typeface="Calibri"/>
              </a:rPr>
              <a:t>171 / 504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114800" y="5532120"/>
            <a:ext cx="1463040" cy="1554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333333"/>
                </a:solidFill>
                <a:latin typeface="Calibri"/>
              </a:rPr>
              <a:t>313 / 504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760720" y="5532120"/>
            <a:ext cx="1463040" cy="1554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B02121"/>
                </a:solidFill>
                <a:latin typeface="Calibri"/>
              </a:rPr>
              <a:t>▼ 142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132320" y="5532120"/>
            <a:ext cx="1463040" cy="1554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333333"/>
                </a:solidFill>
                <a:latin typeface="Calibri"/>
              </a:rPr>
              <a:t>+0.729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86800" y="5532120"/>
            <a:ext cx="1463040" cy="1554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333333"/>
                </a:solidFill>
                <a:latin typeface="Calibri"/>
              </a:rPr>
              <a:t>+0.476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241280" y="5532120"/>
            <a:ext cx="1463040" cy="1554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333333"/>
                </a:solidFill>
                <a:latin typeface="Calibri"/>
              </a:rPr>
              <a:t>-0.252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5646420"/>
            <a:ext cx="1463040" cy="1554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333333"/>
                </a:solidFill>
                <a:latin typeface="Calibri"/>
              </a:rPr>
              <a:t>Asian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377440" y="5646420"/>
            <a:ext cx="1463040" cy="1554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333333"/>
                </a:solidFill>
                <a:latin typeface="Calibri"/>
              </a:rPr>
              <a:t>106 / 284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14800" y="5646420"/>
            <a:ext cx="1463040" cy="1554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333333"/>
                </a:solidFill>
                <a:latin typeface="Calibri"/>
              </a:rPr>
              <a:t>221 / 294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760720" y="5646420"/>
            <a:ext cx="1463040" cy="1554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B02121"/>
                </a:solidFill>
                <a:latin typeface="Calibri"/>
              </a:rPr>
              <a:t>▼ 115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132320" y="5646420"/>
            <a:ext cx="1463040" cy="1554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333333"/>
                </a:solidFill>
                <a:latin typeface="Calibri"/>
              </a:rPr>
              <a:t>+1.089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686800" y="5646420"/>
            <a:ext cx="1463040" cy="1554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333333"/>
                </a:solidFill>
                <a:latin typeface="Calibri"/>
              </a:rPr>
              <a:t>+0.753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241280" y="5646420"/>
            <a:ext cx="1463040" cy="1554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333333"/>
                </a:solidFill>
                <a:latin typeface="Calibri"/>
              </a:rPr>
              <a:t>-0.336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7200" y="5760720"/>
            <a:ext cx="1463040" cy="1554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333333"/>
                </a:solidFill>
                <a:latin typeface="Calibri"/>
              </a:rPr>
              <a:t>White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377440" y="5760720"/>
            <a:ext cx="1463040" cy="1554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333333"/>
                </a:solidFill>
                <a:latin typeface="Calibri"/>
              </a:rPr>
              <a:t>373 / 503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114800" y="5760720"/>
            <a:ext cx="1463040" cy="1554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333333"/>
                </a:solidFill>
                <a:latin typeface="Calibri"/>
              </a:rPr>
              <a:t>432 / 497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760720" y="5760720"/>
            <a:ext cx="1463040" cy="1554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B02121"/>
                </a:solidFill>
                <a:latin typeface="Calibri"/>
              </a:rPr>
              <a:t>▼ 59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132320" y="5760720"/>
            <a:ext cx="1463040" cy="1554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333333"/>
                </a:solidFill>
                <a:latin typeface="Calibri"/>
              </a:rPr>
              <a:t>+0.592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686800" y="5760720"/>
            <a:ext cx="1463040" cy="1554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333333"/>
                </a:solidFill>
                <a:latin typeface="Calibri"/>
              </a:rPr>
              <a:t>+0.362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241280" y="5760720"/>
            <a:ext cx="1463040" cy="1554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333333"/>
                </a:solidFill>
                <a:latin typeface="Calibri"/>
              </a:rPr>
              <a:t>-0.230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57200" y="5875020"/>
            <a:ext cx="1463040" cy="1554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333333"/>
                </a:solidFill>
                <a:latin typeface="Calibri"/>
              </a:rPr>
              <a:t>Black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377440" y="5875020"/>
            <a:ext cx="1463040" cy="1554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333333"/>
                </a:solidFill>
                <a:latin typeface="Calibri"/>
              </a:rPr>
              <a:t>124 / 175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114800" y="5875020"/>
            <a:ext cx="1463040" cy="1554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333333"/>
                </a:solidFill>
                <a:latin typeface="Calibri"/>
              </a:rPr>
              <a:t>147 / 179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760720" y="5875020"/>
            <a:ext cx="1463040" cy="1554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333333"/>
                </a:solidFill>
                <a:latin typeface="Calibri"/>
              </a:rPr>
              <a:t>▼ 23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132320" y="5875020"/>
            <a:ext cx="1463040" cy="1554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333333"/>
                </a:solidFill>
                <a:latin typeface="Calibri"/>
              </a:rPr>
              <a:t>-0.054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686800" y="5875020"/>
            <a:ext cx="1463040" cy="1554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333333"/>
                </a:solidFill>
                <a:latin typeface="Calibri"/>
              </a:rPr>
              <a:t>-0.324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241280" y="5875020"/>
            <a:ext cx="1463040" cy="1554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333333"/>
                </a:solidFill>
                <a:latin typeface="Calibri"/>
              </a:rPr>
              <a:t>-0.270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57200" y="5989320"/>
            <a:ext cx="1463040" cy="1554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333333"/>
                </a:solidFill>
                <a:latin typeface="Calibri"/>
              </a:rPr>
              <a:t>Hispanic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377440" y="5989320"/>
            <a:ext cx="1463040" cy="1554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333333"/>
                </a:solidFill>
                <a:latin typeface="Calibri"/>
              </a:rPr>
              <a:t>230 / 331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114800" y="5989320"/>
            <a:ext cx="1463040" cy="1554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333333"/>
                </a:solidFill>
                <a:latin typeface="Calibri"/>
              </a:rPr>
              <a:t>197 / 376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760720" y="5989320"/>
            <a:ext cx="1463040" cy="1554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1F7A3D"/>
                </a:solidFill>
                <a:latin typeface="Calibri"/>
              </a:rPr>
              <a:t>▲ 33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132320" y="5989320"/>
            <a:ext cx="1463040" cy="1554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333333"/>
                </a:solidFill>
                <a:latin typeface="Calibri"/>
              </a:rPr>
              <a:t>+0.160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686800" y="5989320"/>
            <a:ext cx="1463040" cy="1554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333333"/>
                </a:solidFill>
                <a:latin typeface="Calibri"/>
              </a:rPr>
              <a:t>+0.127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0241280" y="5989320"/>
            <a:ext cx="1463040" cy="1554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333333"/>
                </a:solidFill>
                <a:latin typeface="Calibri"/>
              </a:rPr>
              <a:t>-0.033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57200" y="6103620"/>
            <a:ext cx="1463040" cy="1554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333333"/>
                </a:solidFill>
                <a:latin typeface="Calibri"/>
              </a:rPr>
              <a:t>Not Econ Disadv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2377440" y="6103620"/>
            <a:ext cx="1463040" cy="1554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333333"/>
                </a:solidFill>
                <a:latin typeface="Calibri"/>
              </a:rPr>
              <a:t>155 / 503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114800" y="6103620"/>
            <a:ext cx="1463040" cy="1554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333333"/>
                </a:solidFill>
                <a:latin typeface="Calibri"/>
              </a:rPr>
              <a:t>325 / 495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5760720" y="6103620"/>
            <a:ext cx="1463040" cy="1554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B02121"/>
                </a:solidFill>
                <a:latin typeface="Calibri"/>
              </a:rPr>
              <a:t>▼ 170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132320" y="6103620"/>
            <a:ext cx="1463040" cy="1554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333333"/>
                </a:solidFill>
                <a:latin typeface="Calibri"/>
              </a:rPr>
              <a:t>+0.846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8686800" y="6103620"/>
            <a:ext cx="1463040" cy="1554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333333"/>
                </a:solidFill>
                <a:latin typeface="Calibri"/>
              </a:rPr>
              <a:t>+0.595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0241280" y="6103620"/>
            <a:ext cx="1463040" cy="1554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333333"/>
                </a:solidFill>
                <a:latin typeface="Calibri"/>
              </a:rPr>
              <a:t>-0.251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57200" y="6217920"/>
            <a:ext cx="1463040" cy="1554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333333"/>
                </a:solidFill>
                <a:latin typeface="Calibri"/>
              </a:rPr>
              <a:t>Econ Disadv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2377440" y="6217920"/>
            <a:ext cx="1463040" cy="1554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333333"/>
                </a:solidFill>
                <a:latin typeface="Calibri"/>
              </a:rPr>
              <a:t>313 / 449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114800" y="6217920"/>
            <a:ext cx="1463040" cy="1554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333333"/>
                </a:solidFill>
                <a:latin typeface="Calibri"/>
              </a:rPr>
              <a:t>318 / 461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5760720" y="6217920"/>
            <a:ext cx="1463040" cy="1554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333333"/>
                </a:solidFill>
                <a:latin typeface="Calibri"/>
              </a:rPr>
              <a:t>▼ 5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7132320" y="6217920"/>
            <a:ext cx="1463040" cy="1554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333333"/>
                </a:solidFill>
                <a:latin typeface="Calibri"/>
              </a:rPr>
              <a:t>+0.012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8686800" y="6217920"/>
            <a:ext cx="1463040" cy="1554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333333"/>
                </a:solidFill>
                <a:latin typeface="Calibri"/>
              </a:rPr>
              <a:t>-0.133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0241280" y="6217920"/>
            <a:ext cx="1463040" cy="1554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333333"/>
                </a:solidFill>
                <a:latin typeface="Calibri"/>
              </a:rPr>
              <a:t>-0.145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65760" y="6601968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707070"/>
                </a:solidFill>
                <a:latin typeface="Calibri"/>
              </a:rPr>
              <a:t>Troy SD K-5 ELA — Executive Summary  •  github.com/akarpo/tsd-k5ela-choice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0515600" y="6601968"/>
            <a:ext cx="13716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0" i="0">
                <a:solidFill>
                  <a:srgbClr val="707070"/>
                </a:solidFill>
                <a:latin typeface="Calibri"/>
              </a:rPr>
              <a:t>24 / 29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References (1 of 5) — Primary datasets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75488"/>
            <a:ext cx="114300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CDDEE"/>
                </a:solidFill>
                <a:latin typeface="Calibri"/>
              </a:rPr>
              <a:t>Each cited claim in the deck is anchored to one of these sources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914400"/>
            <a:ext cx="502920" cy="38404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969264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914400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1F3A5F"/>
                </a:solidFill>
                <a:latin typeface="Calibri"/>
              </a:rPr>
              <a:t>Stanford Education Data Archive 2025.1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1115568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333333"/>
                </a:solidFill>
                <a:latin typeface="Calibri"/>
              </a:rPr>
              <a:t>Reardon, S. F., et al. (2026). SEDA v2025.1. https://edopportunity.org/trends/data/downloads/  •  Coverage 2009-2025; cohort-standardized scale anchored to NAEP.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1325880"/>
            <a:ext cx="502920" cy="38404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" y="1380744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1325880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1F3A5F"/>
                </a:solidFill>
                <a:latin typeface="Calibri"/>
              </a:rPr>
              <a:t>SEDA 6.0 (geographic district file)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1527048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333333"/>
                </a:solidFill>
                <a:latin typeface="Calibri"/>
              </a:rPr>
              <a:t>Reardon, S. F., et al. (2026). SEDA v6.0. https://edopportunity.org/opportunity/data/downloads/  •  Coverage 2009-2019; used to validate pre-COVID baseline.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65760" y="1737360"/>
            <a:ext cx="502920" cy="38404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65760" y="1792224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5840" y="1737360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1F3A5F"/>
                </a:solidFill>
                <a:latin typeface="Calibri"/>
              </a:rPr>
              <a:t>Education Scorecard 2026 "Districts on the Rise"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5840" y="1938528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333333"/>
                </a:solidFill>
                <a:latin typeface="Calibri"/>
              </a:rPr>
              <a:t>Harvard / Stanford / Dartmouth. https://educationscorecard.org/districts-on-the-rise/  •  17 demographically-adjusted post-COVID outperformer districts.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65760" y="2148840"/>
            <a:ext cx="502920" cy="38404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65760" y="2203704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05840" y="2148840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1F3A5F"/>
                </a:solidFill>
                <a:latin typeface="Calibri"/>
              </a:rPr>
              <a:t>Troy achievement workbook (8 districts)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05840" y="2350008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333333"/>
                </a:solidFill>
                <a:latin typeface="Calibri"/>
              </a:rPr>
              <a:t>tsd-achievement.karpowitsch.org master workbook  •  G3-G7 × subgroup × year, 2019-2025, 5,497 demographic cells.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5760" y="2560320"/>
            <a:ext cx="502920" cy="38404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5760" y="2615184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05840" y="2560320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1F3A5F"/>
                </a:solidFill>
                <a:latin typeface="Calibri"/>
              </a:rPr>
              <a:t>CAASPP Smarter Balanced Research Files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05840" y="2761488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333333"/>
                </a:solidFill>
                <a:latin typeface="Calibri"/>
              </a:rPr>
              <a:t>https://caaspp-elpac.ets.org/caaspp/ResearchFileListSB  •  CA district-level ELA, 2019-2025; used for Modesto, Sanger, Garden Grove, Long Beach.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65760" y="2971800"/>
            <a:ext cx="502920" cy="38404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65760" y="3026664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05840" y="2971800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1F3A5F"/>
                </a:solidFill>
                <a:latin typeface="Calibri"/>
              </a:rPr>
              <a:t>Texas TAPR / TEA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05840" y="3172968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333333"/>
                </a:solidFill>
                <a:latin typeface="Calibri"/>
              </a:rPr>
              <a:t>https://rptsvr1.tea.texas.gov/perfreport/tapr/  •  STAAR reading G3-G5 for Aldine, Brownsville, Spring Branch, Plano, Frisco, Coppell.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65760" y="3383280"/>
            <a:ext cx="502920" cy="38404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65760" y="3438144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7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05840" y="3383280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1F3A5F"/>
                </a:solidFill>
                <a:latin typeface="Calibri"/>
              </a:rPr>
              <a:t>Louisiana DOE LEAP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05840" y="3584448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333333"/>
                </a:solidFill>
                <a:latin typeface="Calibri"/>
              </a:rPr>
              <a:t>https://doe.louisiana.gov/students/assessments/  •  West Baton Rouge Parish 2022-2025 LEAP Mastery+.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3794760"/>
            <a:ext cx="502920" cy="38404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3849624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8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05840" y="3794760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1F3A5F"/>
                </a:solidFill>
                <a:latin typeface="Calibri"/>
              </a:rPr>
              <a:t>Mississippi DOE MAAP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05840" y="3995928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333333"/>
                </a:solidFill>
                <a:latin typeface="Calibri"/>
              </a:rPr>
              <a:t>https://reports.mdek12.org/  •  Starkville-Oktibbeha 2019-2025 (via tpcref.org compilation).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65760" y="4206240"/>
            <a:ext cx="502920" cy="38404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65760" y="4261104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9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05840" y="4206240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1F3A5F"/>
                </a:solidFill>
                <a:latin typeface="Calibri"/>
              </a:rPr>
              <a:t>Tennessee Department of Education TCAP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05840" y="4407408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333333"/>
                </a:solidFill>
                <a:latin typeface="Calibri"/>
              </a:rPr>
              <a:t>https://www.tn.gov/education/  •  Johnson City Schools 2019-2025 district assessment files.</a:t>
            </a:r>
          </a:p>
        </p:txBody>
      </p:sp>
      <p:sp>
        <p:nvSpPr>
          <p:cNvPr id="41" name="Rectangle 40"/>
          <p:cNvSpPr/>
          <p:nvPr/>
        </p:nvSpPr>
        <p:spPr>
          <a:xfrm>
            <a:off x="365760" y="4617720"/>
            <a:ext cx="502920" cy="38404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365760" y="4672584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10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05840" y="4617720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1F3A5F"/>
                </a:solidFill>
                <a:latin typeface="Calibri"/>
              </a:rPr>
              <a:t>Michigan School Data CEPI / M-STEP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05840" y="4818888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333333"/>
                </a:solidFill>
                <a:latin typeface="Calibri"/>
              </a:rPr>
              <a:t>https://www.mischooldata.org/  •  Troy SD trajectory + statewide G3-G5 averages.</a:t>
            </a:r>
          </a:p>
        </p:txBody>
      </p:sp>
      <p:sp>
        <p:nvSpPr>
          <p:cNvPr id="45" name="Rectangle 44"/>
          <p:cNvSpPr/>
          <p:nvPr/>
        </p:nvSpPr>
        <p:spPr>
          <a:xfrm>
            <a:off x="365760" y="5029200"/>
            <a:ext cx="502920" cy="38404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365760" y="5084064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11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05840" y="5029200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1F3A5F"/>
                </a:solidFill>
                <a:latin typeface="Calibri"/>
              </a:rPr>
              <a:t>Ohio Department of Education / OST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05840" y="5230368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333333"/>
                </a:solidFill>
                <a:latin typeface="Calibri"/>
              </a:rPr>
              <a:t>education.ohio.gov  •  Steubenville City Schools + statewide G3-G5 OST averages.</a:t>
            </a:r>
          </a:p>
        </p:txBody>
      </p:sp>
      <p:sp>
        <p:nvSpPr>
          <p:cNvPr id="49" name="Rectangle 48"/>
          <p:cNvSpPr/>
          <p:nvPr/>
        </p:nvSpPr>
        <p:spPr>
          <a:xfrm>
            <a:off x="365760" y="5440680"/>
            <a:ext cx="502920" cy="38404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365760" y="5495544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12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005840" y="5440680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1F3A5F"/>
                </a:solidFill>
                <a:latin typeface="Calibri"/>
              </a:rPr>
              <a:t>Washington OSPI Smarter Balanced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005840" y="5641848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333333"/>
                </a:solidFill>
                <a:latin typeface="Calibri"/>
              </a:rPr>
              <a:t>https://washingtonstatereportcard.ospi.k12.wa.us/  •  Bellevue / Issaquah / Lake Washington SBA.</a:t>
            </a:r>
          </a:p>
        </p:txBody>
      </p:sp>
      <p:sp>
        <p:nvSpPr>
          <p:cNvPr id="53" name="Rectangle 52"/>
          <p:cNvSpPr/>
          <p:nvPr/>
        </p:nvSpPr>
        <p:spPr>
          <a:xfrm>
            <a:off x="365760" y="5852160"/>
            <a:ext cx="502920" cy="38404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365760" y="5907024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13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005840" y="5852160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1F3A5F"/>
                </a:solidFill>
                <a:latin typeface="Calibri"/>
              </a:rPr>
              <a:t>Oakland County 115 — MI affluent peer 2025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005840" y="6053328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333333"/>
                </a:solidFill>
                <a:latin typeface="Calibri"/>
              </a:rPr>
              <a:t>https://oaklandcounty115.com/2025/09/14/test-results-show-reading-proficiency-among-third-and-fourth-graders-across-oakland-county/  •  G3+G4 ELA 2025 head-to-head.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65760" y="6601968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707070"/>
                </a:solidFill>
                <a:latin typeface="Calibri"/>
              </a:rPr>
              <a:t>Troy SD K-5 ELA — Executive Summary  •  github.com/akarpo/tsd-k5ela-choice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0515600" y="6601968"/>
            <a:ext cx="13716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0" i="0">
                <a:solidFill>
                  <a:srgbClr val="707070"/>
                </a:solidFill>
                <a:latin typeface="Calibri"/>
              </a:rPr>
              <a:t>25 / 29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References (2 of 5) — Curriculum evidence sources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75488"/>
            <a:ext cx="114300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CDDEE"/>
                </a:solidFill>
                <a:latin typeface="Calibri"/>
              </a:rPr>
              <a:t>EdReports / Reading League / ESSA / WWC / MDE / Knowledge Matters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914400"/>
            <a:ext cx="502920" cy="73152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1115568"/>
            <a:ext cx="5029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960120"/>
            <a:ext cx="106984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F3A5F"/>
                </a:solidFill>
                <a:latin typeface="Calibri"/>
              </a:rPr>
              <a:t>EdReports.org curriculum reviews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1261872"/>
            <a:ext cx="106984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333333"/>
                </a:solidFill>
                <a:latin typeface="Calibri"/>
              </a:rPr>
              <a:t>https://edreports.org/  •  Green/Yellow/Red gateway ratings: Text Quality / Building Knowledge / Foundational Skills / Usability. v2.0 rubric (2024-25) explicitly assesses SoR alignment.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1783080"/>
            <a:ext cx="502920" cy="73152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" y="1984248"/>
            <a:ext cx="5029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1828800"/>
            <a:ext cx="106984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F3A5F"/>
                </a:solidFill>
                <a:latin typeface="Calibri"/>
              </a:rPr>
              <a:t>The Reading League — Curriculum Navigation Reports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2130552"/>
            <a:ext cx="106984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333333"/>
                </a:solidFill>
                <a:latin typeface="Calibri"/>
              </a:rPr>
              <a:t>https://www.thereadingleague.org/curriculum-navigation-reports/  •  SoR-only evaluation: "red flag practices" (three-cueing, leveled-text decoding, lack of phoneme-grapheme systematicity).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65760" y="2651760"/>
            <a:ext cx="502920" cy="73152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65760" y="2852928"/>
            <a:ext cx="5029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5840" y="2697480"/>
            <a:ext cx="106984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F3A5F"/>
                </a:solidFill>
                <a:latin typeface="Calibri"/>
              </a:rPr>
              <a:t>Evidence for ESSA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5840" y="2999232"/>
            <a:ext cx="106984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333333"/>
                </a:solidFill>
                <a:latin typeface="Calibri"/>
              </a:rPr>
              <a:t>https://www.evidenceforessa.org/  •  ESSA tiers (Strong, Moderate, Promising, Rationale) for K-5 ELA programs. Used for 95 Phonics (ESSA Strong), IMSE OG+ (Promising), etc.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65760" y="3520440"/>
            <a:ext cx="502920" cy="73152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65760" y="3721608"/>
            <a:ext cx="5029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17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05840" y="3566160"/>
            <a:ext cx="106984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F3A5F"/>
                </a:solidFill>
                <a:latin typeface="Calibri"/>
              </a:rPr>
              <a:t>What Works Clearinghouse / IES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05840" y="3867912"/>
            <a:ext cx="106984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333333"/>
                </a:solidFill>
                <a:latin typeface="Calibri"/>
              </a:rPr>
              <a:t>https://ies.ed.gov/ncee/wwc/  •  Federal evidence registry. Reviewed Orton-Gillingham-based interventions; found insufficient qualifying studies.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5760" y="4389120"/>
            <a:ext cx="502920" cy="73152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5760" y="4590288"/>
            <a:ext cx="5029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18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05840" y="4434840"/>
            <a:ext cx="106984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F3A5F"/>
                </a:solidFill>
                <a:latin typeface="Calibri"/>
              </a:rPr>
              <a:t>Michigan MDE Section 35m Tier-1 list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05840" y="4736592"/>
            <a:ext cx="106984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333333"/>
                </a:solidFill>
                <a:latin typeface="Calibri"/>
              </a:rPr>
              <a:t>https://www.michigan.gov/mde/services/academic-standards/literacy/literacy-grants/section-35m  •  State-approved K-5 evidence-based ELA curricula (Dec 2025 release).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65760" y="5257800"/>
            <a:ext cx="502920" cy="73152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65760" y="5458968"/>
            <a:ext cx="5029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19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05840" y="5303520"/>
            <a:ext cx="106984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F3A5F"/>
                </a:solidFill>
                <a:latin typeface="Calibri"/>
              </a:rPr>
              <a:t>Knowledge Matters Campaign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05840" y="5605272"/>
            <a:ext cx="106984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333333"/>
                </a:solidFill>
                <a:latin typeface="Calibri"/>
              </a:rPr>
              <a:t>https://knowledgematterscampaign.org/  •  Recognized knowledge-building K-5 ELA programs: CKLA, EL Education, Wit &amp; Wisdom, ARC Core, Bookworms, Fishtank.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65760" y="6601968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707070"/>
                </a:solidFill>
                <a:latin typeface="Calibri"/>
              </a:rPr>
              <a:t>Troy SD K-5 ELA — Executive Summary  •  github.com/akarpo/tsd-k5ela-choice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515600" y="6601968"/>
            <a:ext cx="13716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0" i="0">
                <a:solidFill>
                  <a:srgbClr val="707070"/>
                </a:solidFill>
                <a:latin typeface="Calibri"/>
              </a:rPr>
              <a:t>26 / 29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References (3 of 5) — Science of Reading research &amp; journalism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75488"/>
            <a:ext cx="114300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CDDEE"/>
                </a:solidFill>
                <a:latin typeface="Calibri"/>
              </a:rPr>
              <a:t>Independent scholarly + investigative sources cited in mechanism slide and curriculum evaluation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914400"/>
            <a:ext cx="502920" cy="50292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1024128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20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914400"/>
            <a:ext cx="106984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F3A5F"/>
                </a:solidFill>
                <a:latin typeface="Calibri"/>
              </a:rPr>
              <a:t>Emily Hanford / APM Reports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1143000"/>
            <a:ext cx="1069848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333333"/>
                </a:solidFill>
                <a:latin typeface="Calibri"/>
              </a:rPr>
              <a:t>"Sold a Story" podcast series + investigations. https://features.apmreports.org/sold-a-story/  •  Documented Calkins UoS / F&amp;P / Reading Recovery critiques.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1463040"/>
            <a:ext cx="502920" cy="50292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" y="1572768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21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1463040"/>
            <a:ext cx="106984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F3A5F"/>
                </a:solidFill>
                <a:latin typeface="Calibri"/>
              </a:rPr>
              <a:t>APM Reports — EdReports &amp; SoR (March 2025)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1691640"/>
            <a:ext cx="1069848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333333"/>
                </a:solidFill>
                <a:latin typeface="Calibri"/>
              </a:rPr>
              <a:t>https://www.apmreports.org/story/2025/03/06/edreports-reading-curriculum-reviews-science-of-reading  •  Investigation of EdReports all-green ratings on basal programs (Wonders, myView, Into Reading).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65760" y="2011680"/>
            <a:ext cx="502920" cy="50292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65760" y="2121408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22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5840" y="2011680"/>
            <a:ext cx="106984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F3A5F"/>
                </a:solidFill>
                <a:latin typeface="Calibri"/>
              </a:rPr>
              <a:t>Natalie Wexler — The Knowledge Gap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5840" y="2240280"/>
            <a:ext cx="1069848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333333"/>
                </a:solidFill>
                <a:latin typeface="Calibri"/>
              </a:rPr>
              <a:t>Avery (2019). https://nataliewexler.com/the-knowledge-gap/  •  Framework that comprehension depends on background knowledge built via coherent content sequence.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65760" y="2560320"/>
            <a:ext cx="502920" cy="50292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65760" y="2670048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23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05840" y="2560320"/>
            <a:ext cx="106984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F3A5F"/>
                </a:solidFill>
                <a:latin typeface="Calibri"/>
              </a:rPr>
              <a:t>Tim Shanahan — Shanahan on Literacy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05840" y="2788920"/>
            <a:ext cx="1069848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333333"/>
                </a:solidFill>
                <a:latin typeface="Calibri"/>
              </a:rPr>
              <a:t>https://www.shanahanonliteracy.com/  •  Reading research and instructional practice. Strategy instruction critique cited in mechanism slide.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5760" y="3108960"/>
            <a:ext cx="502920" cy="50292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5760" y="3218688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24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05840" y="3108960"/>
            <a:ext cx="106984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F3A5F"/>
                </a:solidFill>
                <a:latin typeface="Calibri"/>
              </a:rPr>
              <a:t>Mark Seidenberg — Language at the Speed of Sight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05840" y="3337560"/>
            <a:ext cx="1069848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333333"/>
                </a:solidFill>
                <a:latin typeface="Calibri"/>
              </a:rPr>
              <a:t>Basic Books (2017). https://seidenbergreading.net/  •  Cognitive science of reading; critique of balanced literacy.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65760" y="3657600"/>
            <a:ext cx="502920" cy="50292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65760" y="3767328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25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05840" y="3657600"/>
            <a:ext cx="106984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F3A5F"/>
                </a:solidFill>
                <a:latin typeface="Calibri"/>
              </a:rPr>
              <a:t>Lane et al. (2025) — UFLI Foundations RRQ study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05840" y="3886200"/>
            <a:ext cx="1069848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333333"/>
                </a:solidFill>
                <a:latin typeface="Calibri"/>
              </a:rPr>
              <a:t>Reading Research Quarterly. https://ila.onlinelibrary.wiley.com/doi/10.1002/rrq.607  •  ES &gt; 1.0 SD on early-literacy outcomes; districtwide Florida pilot.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65760" y="4206240"/>
            <a:ext cx="502920" cy="50292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65760" y="4315968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26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05840" y="4206240"/>
            <a:ext cx="106984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F3A5F"/>
                </a:solidFill>
                <a:latin typeface="Calibri"/>
              </a:rPr>
              <a:t>Karin Chenoweth — Districts That Succeed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05840" y="4434840"/>
            <a:ext cx="1069848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333333"/>
                </a:solidFill>
                <a:latin typeface="Calibri"/>
              </a:rPr>
              <a:t>Harvard Education Press (2021)  •  Sustained-outperformer district case studies (Steubenville, Seaford, Lane OK, etc.).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4754880"/>
            <a:ext cx="502920" cy="50292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4864608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27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05840" y="4754880"/>
            <a:ext cx="106984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F3A5F"/>
                </a:solidFill>
                <a:latin typeface="Calibri"/>
              </a:rPr>
              <a:t>Success for All Foundation — Steubenville case study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05840" y="4983480"/>
            <a:ext cx="1069848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333333"/>
                </a:solidFill>
                <a:latin typeface="Calibri"/>
              </a:rPr>
              <a:t>https://www.successforall.org/wp-content/uploads/2025/05/CS_Steubenville-1.pdf  •  25-year SFA implementation; 93-100% G3 reading proficient.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65760" y="5303520"/>
            <a:ext cx="502920" cy="50292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65760" y="5413248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28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05840" y="5303520"/>
            <a:ext cx="106984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F3A5F"/>
                </a:solidFill>
                <a:latin typeface="Calibri"/>
              </a:rPr>
              <a:t>The 74 Million — Steubenville coverage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05840" y="5532120"/>
            <a:ext cx="1069848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333333"/>
                </a:solidFill>
                <a:latin typeface="Calibri"/>
              </a:rPr>
              <a:t>https://www.the74million.org/article/why-steubenville-ohio-might-be-the-best-school-district-in-america/  •  Independent journalism on Steubenville.</a:t>
            </a:r>
          </a:p>
        </p:txBody>
      </p:sp>
      <p:sp>
        <p:nvSpPr>
          <p:cNvPr id="41" name="Rectangle 40"/>
          <p:cNvSpPr/>
          <p:nvPr/>
        </p:nvSpPr>
        <p:spPr>
          <a:xfrm>
            <a:off x="365760" y="5852160"/>
            <a:ext cx="502920" cy="50292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365760" y="5961888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29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05840" y="5852160"/>
            <a:ext cx="106984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F3A5F"/>
                </a:solidFill>
                <a:latin typeface="Calibri"/>
              </a:rPr>
              <a:t>Karen Vaites — Southern Surge analysis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05840" y="6080760"/>
            <a:ext cx="1069848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333333"/>
                </a:solidFill>
                <a:latin typeface="Calibri"/>
              </a:rPr>
              <a:t>https://www.karenvaites.org/p/the-southern-surge-understanding  •  Mississippi / Louisiana / Tennessee NAEP gains tied to SoR adoption.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65760" y="6601968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707070"/>
                </a:solidFill>
                <a:latin typeface="Calibri"/>
              </a:rPr>
              <a:t>Troy SD K-5 ELA — Executive Summary  •  github.com/akarpo/tsd-k5ela-choice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0515600" y="6601968"/>
            <a:ext cx="13716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0" i="0">
                <a:solidFill>
                  <a:srgbClr val="707070"/>
                </a:solidFill>
                <a:latin typeface="Calibri"/>
              </a:rPr>
              <a:t>27 / 29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References (4 of 5) — District case-study sources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75488"/>
            <a:ext cx="114300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CDDEE"/>
                </a:solidFill>
                <a:latin typeface="Calibri"/>
              </a:rPr>
              <a:t>Specific districts cited in the deck: adoption + outcomes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914400"/>
            <a:ext cx="502920" cy="36576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96012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30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914400"/>
            <a:ext cx="10698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1F3A5F"/>
                </a:solidFill>
                <a:latin typeface="Calibri"/>
              </a:rPr>
              <a:t>Kentucky Teacher — Marion County coverage (May 2026)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1097280"/>
            <a:ext cx="10698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333333"/>
                </a:solidFill>
                <a:latin typeface="Calibri"/>
              </a:rPr>
              <a:t>https://www.kentuckyteacher.org/news/2026/05/kentucky-ranks-among-nations-best-for-student-recovery-5th-in-reading-8th-in-mathematics/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1298448"/>
            <a:ext cx="502920" cy="36576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" y="1344168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31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1298448"/>
            <a:ext cx="10698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1F3A5F"/>
                </a:solidFill>
                <a:latin typeface="Calibri"/>
              </a:rPr>
              <a:t>Kentucky Reading Academies / Lexia LETRS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1481328"/>
            <a:ext cx="10698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333333"/>
                </a:solidFill>
                <a:latin typeface="Calibri"/>
              </a:rPr>
              <a:t>https://www.lexialearning.com/kentucky-letrs  •  https://www.education.ky.gov/curriculum/EarlyLiteracy/Pages/ky_reading_Academies.aspx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65760" y="1682496"/>
            <a:ext cx="502920" cy="36576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65760" y="1728216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32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5840" y="1682496"/>
            <a:ext cx="10698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1F3A5F"/>
                </a:solidFill>
                <a:latin typeface="Calibri"/>
              </a:rPr>
              <a:t>Education Scorecard PDFs — case studies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5840" y="1865376"/>
            <a:ext cx="10698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333333"/>
                </a:solidFill>
                <a:latin typeface="Calibri"/>
              </a:rPr>
              <a:t>Marion County: https://educationscorecard.org/wp-content/uploads/2026/05/KY_Marion-County_Case-Study.pdf  •  20 DOTR district PDFs in /research/escorecard_pdfs/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65760" y="2066544"/>
            <a:ext cx="502920" cy="36576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65760" y="2112264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33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05840" y="2066544"/>
            <a:ext cx="10698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1F3A5F"/>
                </a:solidFill>
                <a:latin typeface="Calibri"/>
              </a:rPr>
              <a:t>Fond du Lac SD — Strategic Plan + Studer Education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05840" y="2249424"/>
            <a:ext cx="10698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333333"/>
                </a:solidFill>
                <a:latin typeface="Calibri"/>
              </a:rPr>
              <a:t>https://www.fonddulac.k12.wi.us/page/strategic-plan  •  Aug 2022 strategic plan; CKLA + Amplify ELA + Bridges + TCI + Mystery Science stack.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5760" y="2450592"/>
            <a:ext cx="502920" cy="36576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5760" y="2496312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34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05840" y="2450592"/>
            <a:ext cx="10698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1F3A5F"/>
                </a:solidFill>
                <a:latin typeface="Calibri"/>
              </a:rPr>
              <a:t>UVA-PLE / Darden Partnership for Leaders in Education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05840" y="2633472"/>
            <a:ext cx="10698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333333"/>
                </a:solidFill>
                <a:latin typeface="Calibri"/>
              </a:rPr>
              <a:t>https://www.darden.virginia.edu/uva-ple/  •  Leadership and instructional-redesign partnership underlying Fond du Lac's turnaround.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65760" y="2834640"/>
            <a:ext cx="502920" cy="36576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65760" y="288036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35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05840" y="2834640"/>
            <a:ext cx="10698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1F3A5F"/>
                </a:solidFill>
                <a:latin typeface="Calibri"/>
              </a:rPr>
              <a:t>Palo Alto USD — Every Student Reads Initiative (ESRI)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05840" y="3017520"/>
            <a:ext cx="10698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333333"/>
                </a:solidFill>
                <a:latin typeface="Calibri"/>
              </a:rPr>
              <a:t>https://www.pausd.org/learning/esri  •  Exited Calkins UoS 2021; mandatory Orton-Gillingham K-3 training.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65760" y="3218688"/>
            <a:ext cx="502920" cy="36576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65760" y="3264408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36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05840" y="3218688"/>
            <a:ext cx="10698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1F3A5F"/>
                </a:solidFill>
                <a:latin typeface="Calibri"/>
              </a:rPr>
              <a:t>Spring Branch ISD — Texas STR framework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05840" y="3401568"/>
            <a:ext cx="10698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333333"/>
                </a:solidFill>
                <a:latin typeface="Calibri"/>
              </a:rPr>
              <a:t>https://www.springbranchisd.com/studentsfamilies/literacy  •  TX Science of Teaching Reading state mandate.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3602736"/>
            <a:ext cx="502920" cy="36576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3648456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37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05840" y="3602736"/>
            <a:ext cx="10698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1F3A5F"/>
                </a:solidFill>
                <a:latin typeface="Calibri"/>
              </a:rPr>
              <a:t>West Baton Rouge / LA DOE Wit &amp; Wisdom adoption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05840" y="3785616"/>
            <a:ext cx="10698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333333"/>
                </a:solidFill>
                <a:latin typeface="Calibri"/>
              </a:rPr>
              <a:t>https://doe.louisiana.gov/docs/default-source/curricular-resources/great-minds-pbc---wit-wisdom-with-fundations-and-geodes-ela-grades-k-3-(-2023).pdf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65760" y="3986784"/>
            <a:ext cx="502920" cy="36576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65760" y="4032504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38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05840" y="3986784"/>
            <a:ext cx="10698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1F3A5F"/>
                </a:solidFill>
                <a:latin typeface="Calibri"/>
              </a:rPr>
              <a:t>WI Act 20 / Wisconsin Reads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05840" y="4169664"/>
            <a:ext cx="10698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333333"/>
                </a:solidFill>
                <a:latin typeface="Calibri"/>
              </a:rPr>
              <a:t>https://dpi.wi.gov/wi-reads/curriculum  •  State science-of-reading mandate (2023) with approved curriculum list.</a:t>
            </a:r>
          </a:p>
        </p:txBody>
      </p:sp>
      <p:sp>
        <p:nvSpPr>
          <p:cNvPr id="41" name="Rectangle 40"/>
          <p:cNvSpPr/>
          <p:nvPr/>
        </p:nvSpPr>
        <p:spPr>
          <a:xfrm>
            <a:off x="365760" y="4370832"/>
            <a:ext cx="502920" cy="36576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365760" y="4416552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39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05840" y="4370832"/>
            <a:ext cx="10698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1F3A5F"/>
                </a:solidFill>
                <a:latin typeface="Calibri"/>
              </a:rPr>
              <a:t>Tennessee Department of Education — Reading 360 + HQIM mandate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05840" y="4553712"/>
            <a:ext cx="10698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333333"/>
                </a:solidFill>
                <a:latin typeface="Calibri"/>
              </a:rPr>
              <a:t>https://www.tn.gov/education/reading-360.html  •  State SoR PD (60 hours) + approved K-5 curriculum list.</a:t>
            </a:r>
          </a:p>
        </p:txBody>
      </p:sp>
      <p:sp>
        <p:nvSpPr>
          <p:cNvPr id="45" name="Rectangle 44"/>
          <p:cNvSpPr/>
          <p:nvPr/>
        </p:nvSpPr>
        <p:spPr>
          <a:xfrm>
            <a:off x="365760" y="4754880"/>
            <a:ext cx="502920" cy="36576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365760" y="480060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40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05840" y="4754880"/>
            <a:ext cx="10698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1F3A5F"/>
                </a:solidFill>
                <a:latin typeface="Calibri"/>
              </a:rPr>
              <a:t>EdWeek — "Inside the Long Beach Way" (2007)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05840" y="4937760"/>
            <a:ext cx="10698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333333"/>
                </a:solidFill>
                <a:latin typeface="Calibri"/>
              </a:rPr>
              <a:t>https://www.edweek.org/leadership/inside-the-long-beach-way/2007/09  •  Carl Cohn era Open Court tradition documented.</a:t>
            </a:r>
          </a:p>
        </p:txBody>
      </p:sp>
      <p:sp>
        <p:nvSpPr>
          <p:cNvPr id="49" name="Rectangle 48"/>
          <p:cNvSpPr/>
          <p:nvPr/>
        </p:nvSpPr>
        <p:spPr>
          <a:xfrm>
            <a:off x="365760" y="5138928"/>
            <a:ext cx="502920" cy="36576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365760" y="5184648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41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005840" y="5138928"/>
            <a:ext cx="10698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1F3A5F"/>
                </a:solidFill>
                <a:latin typeface="Calibri"/>
              </a:rPr>
              <a:t>Amplify — Aldine ISD CKLA adoption (Jul 2020)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005840" y="5321808"/>
            <a:ext cx="10698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333333"/>
                </a:solidFill>
                <a:latin typeface="Calibri"/>
              </a:rPr>
              <a:t>https://amplify.com/news/aldine-isd-adopts-amplifys-integrated-early-literacy-suite-supports-students-in-learning-to-read-confidently-by-third-grade/</a:t>
            </a:r>
          </a:p>
        </p:txBody>
      </p:sp>
      <p:sp>
        <p:nvSpPr>
          <p:cNvPr id="53" name="Rectangle 52"/>
          <p:cNvSpPr/>
          <p:nvPr/>
        </p:nvSpPr>
        <p:spPr>
          <a:xfrm>
            <a:off x="365760" y="5522976"/>
            <a:ext cx="502920" cy="36576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365760" y="5568696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42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005840" y="5522976"/>
            <a:ext cx="10698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1F3A5F"/>
                </a:solidFill>
                <a:latin typeface="Calibri"/>
              </a:rPr>
              <a:t>Detroit DPSCD + EL Education — Skillman Foundation grant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005840" y="5705856"/>
            <a:ext cx="10698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333333"/>
                </a:solidFill>
                <a:latin typeface="Calibri"/>
              </a:rPr>
              <a:t>https://www.skillman.org/blog/standardswork-receives-grant-to-support-implementation-of-transformative-literacy-curriculum-in-detroit-public-schools/  •  https://www.detroitk12.org/academics/core-curriculum/english-language-arts-and-literacy</a:t>
            </a:r>
          </a:p>
        </p:txBody>
      </p:sp>
      <p:sp>
        <p:nvSpPr>
          <p:cNvPr id="57" name="Rectangle 56"/>
          <p:cNvSpPr/>
          <p:nvPr/>
        </p:nvSpPr>
        <p:spPr>
          <a:xfrm>
            <a:off x="365760" y="5907024"/>
            <a:ext cx="502920" cy="36576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365760" y="5952744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43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005840" y="5907024"/>
            <a:ext cx="10698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1F3A5F"/>
                </a:solidFill>
                <a:latin typeface="Calibri"/>
              </a:rPr>
              <a:t>NYC Reads — Chalkbeat / EdWeek / K-12 Dive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005840" y="6089904"/>
            <a:ext cx="10698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333333"/>
                </a:solidFill>
                <a:latin typeface="Calibri"/>
              </a:rPr>
              <a:t>Chalkbeat: https://www.chalkbeat.org/newyork/2025/07/07/nyc-reads-solves-screener-data-eric-adams-school-curriculum-mandate/  •  EdWeek: Phase 1 vs Phase 2 confidence data (Jul 2025).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365760" y="6601968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707070"/>
                </a:solidFill>
                <a:latin typeface="Calibri"/>
              </a:rPr>
              <a:t>Troy SD K-5 ELA — Executive Summary  •  github.com/akarpo/tsd-k5ela-choice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0515600" y="6601968"/>
            <a:ext cx="13716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0" i="0">
                <a:solidFill>
                  <a:srgbClr val="707070"/>
                </a:solidFill>
                <a:latin typeface="Calibri"/>
              </a:rPr>
              <a:t>28 / 29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References (5 of 5) — Project artifacts + how to verify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75488"/>
            <a:ext cx="114300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CDDEE"/>
                </a:solidFill>
                <a:latin typeface="Calibri"/>
              </a:rPr>
              <a:t>Every claim is reproducible from the public GitHub repository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868680"/>
            <a:ext cx="11430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F3A5F"/>
                </a:solidFill>
                <a:latin typeface="Consolas"/>
              </a:rPr>
              <a:t>github.com/akarpo/tsd-k5ela-choice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280160"/>
            <a:ext cx="5852160" cy="5029200"/>
          </a:xfrm>
          <a:prstGeom prst="rect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355080" y="1280160"/>
            <a:ext cx="5486400" cy="5029200"/>
          </a:xfrm>
          <a:prstGeom prst="rect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14173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F7A3D"/>
                </a:solidFill>
                <a:latin typeface="Calibri"/>
              </a:rPr>
              <a:t>Web presentation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737360"/>
            <a:ext cx="3291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333333"/>
                </a:solidFill>
                <a:latin typeface="Consolas"/>
              </a:rPr>
              <a:t>README.md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977640" y="1737360"/>
            <a:ext cx="20116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707070"/>
                </a:solidFill>
                <a:latin typeface="Calibri"/>
              </a:rPr>
              <a:t>Project README + slide map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1975104"/>
            <a:ext cx="3291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333333"/>
                </a:solidFill>
                <a:latin typeface="Consolas"/>
              </a:rPr>
              <a:t>index.html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977640" y="1975104"/>
            <a:ext cx="20116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707070"/>
                </a:solidFill>
                <a:latin typeface="Calibri"/>
              </a:rPr>
              <a:t>Vanilla-JS slide viewer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2212848"/>
            <a:ext cx="3291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333333"/>
                </a:solidFill>
                <a:latin typeface="Consolas"/>
              </a:rPr>
              <a:t>slides/*.png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977640" y="2212848"/>
            <a:ext cx="20116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707070"/>
                </a:solidFill>
                <a:latin typeface="Calibri"/>
              </a:rPr>
              <a:t>28 rendered slide PNGs (144 DPI)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2450592"/>
            <a:ext cx="3291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333333"/>
                </a:solidFill>
                <a:latin typeface="Consolas"/>
              </a:rPr>
              <a:t>deck/Troy_K5_ELA_Executive_Summary.pptx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977640" y="2450592"/>
            <a:ext cx="20116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707070"/>
                </a:solidFill>
                <a:latin typeface="Calibri"/>
              </a:rPr>
              <a:t>Source PowerPoint deck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2825496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F7A3D"/>
                </a:solidFill>
                <a:latin typeface="Calibri"/>
              </a:rPr>
              <a:t>Reproducibility pipeline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3145536"/>
            <a:ext cx="3291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333333"/>
                </a:solidFill>
                <a:latin typeface="Consolas"/>
              </a:rPr>
              <a:t>analysis/extract_seda_subset.py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977640" y="3145536"/>
            <a:ext cx="20116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707070"/>
                </a:solidFill>
                <a:latin typeface="Calibri"/>
              </a:rPr>
              <a:t>SEDA 2025.1 → 50-district subset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3383280"/>
            <a:ext cx="3291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333333"/>
                </a:solidFill>
                <a:latin typeface="Consolas"/>
              </a:rPr>
              <a:t>analysis/compute_deltas.py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977640" y="3383280"/>
            <a:ext cx="20116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707070"/>
                </a:solidFill>
                <a:latin typeface="Calibri"/>
              </a:rPr>
              <a:t>Pre/post-COVID Δ matrix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3621024"/>
            <a:ext cx="3291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333333"/>
                </a:solidFill>
                <a:latin typeface="Consolas"/>
              </a:rPr>
              <a:t>analysis/build_deck.py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977640" y="3621024"/>
            <a:ext cx="20116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707070"/>
                </a:solidFill>
                <a:latin typeface="Calibri"/>
              </a:rPr>
              <a:t>Builds the .pptx deck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" y="3858768"/>
            <a:ext cx="3291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333333"/>
                </a:solidFill>
                <a:latin typeface="Consolas"/>
              </a:rPr>
              <a:t>docs/REPRODUCIBILITY.md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977640" y="3858768"/>
            <a:ext cx="20116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707070"/>
                </a:solidFill>
                <a:latin typeface="Calibri"/>
              </a:rPr>
              <a:t>How to reproduce in 3 commands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" y="4096512"/>
            <a:ext cx="3291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333333"/>
                </a:solidFill>
                <a:latin typeface="Consolas"/>
              </a:rPr>
              <a:t>docs/METHODOLOGY.md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977640" y="4096512"/>
            <a:ext cx="20116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707070"/>
                </a:solidFill>
                <a:latin typeface="Calibri"/>
              </a:rPr>
              <a:t>Metrics, time windows, district universe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" y="4334256"/>
            <a:ext cx="3291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333333"/>
                </a:solidFill>
                <a:latin typeface="Consolas"/>
              </a:rPr>
              <a:t>docs/DISTRICT_UNIVERSE.md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977640" y="4334256"/>
            <a:ext cx="20116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707070"/>
                </a:solidFill>
                <a:latin typeface="Calibri"/>
              </a:rPr>
              <a:t>All 50 districts with NCES LEA IDs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92240" y="14173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F7A3D"/>
                </a:solidFill>
                <a:latin typeface="Calibri"/>
              </a:rPr>
              <a:t>Processed data (data/)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629400" y="1737360"/>
            <a:ext cx="3291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333333"/>
                </a:solidFill>
                <a:latin typeface="Consolas"/>
              </a:rPr>
              <a:t>seda_2025_pooled.json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966960" y="1737360"/>
            <a:ext cx="20116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707070"/>
                </a:solidFill>
                <a:latin typeface="Calibri"/>
              </a:rPr>
              <a:t>SEDA cs G3-G5 pooled by year × subgroup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629400" y="1975104"/>
            <a:ext cx="3291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333333"/>
                </a:solidFill>
                <a:latin typeface="Consolas"/>
              </a:rPr>
              <a:t>seda_2025_state.json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966960" y="1975104"/>
            <a:ext cx="20116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707070"/>
                </a:solidFill>
                <a:latin typeface="Calibri"/>
              </a:rPr>
              <a:t>State-level SEDA averages by year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629400" y="2212848"/>
            <a:ext cx="3291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333333"/>
                </a:solidFill>
                <a:latin typeface="Consolas"/>
              </a:rPr>
              <a:t>seda_subgroup_delta.csv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966960" y="2212848"/>
            <a:ext cx="20116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707070"/>
                </a:solidFill>
                <a:latin typeface="Calibri"/>
              </a:rPr>
              <a:t>Pre/post-COVID Δ per subgroup × district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629400" y="2450592"/>
            <a:ext cx="3291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333333"/>
                </a:solidFill>
                <a:latin typeface="Consolas"/>
              </a:rPr>
              <a:t>master_dataset.csv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966960" y="2450592"/>
            <a:ext cx="20116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707070"/>
                </a:solidFill>
                <a:latin typeface="Calibri"/>
              </a:rPr>
              <a:t>2,544 rows: dist × year × grade × subgroup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629400" y="2688336"/>
            <a:ext cx="3291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333333"/>
                </a:solidFill>
                <a:latin typeface="Consolas"/>
              </a:rPr>
              <a:t>seda_2009_2025_extract.csv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966960" y="2688336"/>
            <a:ext cx="20116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707070"/>
                </a:solidFill>
                <a:latin typeface="Calibri"/>
              </a:rPr>
              <a:t>Raw SEDA 2025.1 extract (50 dists × G3-G5)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629400" y="2926080"/>
            <a:ext cx="3291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333333"/>
                </a:solidFill>
                <a:latin typeface="Consolas"/>
              </a:rPr>
              <a:t>troy_swd_ela.csv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966960" y="2926080"/>
            <a:ext cx="20116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707070"/>
                </a:solidFill>
                <a:latin typeface="Calibri"/>
              </a:rPr>
              <a:t>Troy SWD M-STEP %prof, G3-G5 2015-25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492240" y="3300984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F7A3D"/>
                </a:solidFill>
                <a:latin typeface="Calibri"/>
              </a:rPr>
              <a:t>Supporting reports (reports/)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629400" y="3621024"/>
            <a:ext cx="3291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333333"/>
                </a:solidFill>
                <a:latin typeface="Consolas"/>
              </a:rPr>
              <a:t>synthesis.md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966960" y="3621024"/>
            <a:ext cx="20116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707070"/>
                </a:solidFill>
                <a:latin typeface="Calibri"/>
              </a:rPr>
              <a:t>Master synthesis report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629400" y="3858768"/>
            <a:ext cx="3291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333333"/>
                </a:solidFill>
                <a:latin typeface="Consolas"/>
              </a:rPr>
              <a:t>quantitative_analysis.md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966960" y="3858768"/>
            <a:ext cx="20116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707070"/>
                </a:solidFill>
                <a:latin typeface="Calibri"/>
              </a:rPr>
              <a:t>28-district state-test analysis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629400" y="4096512"/>
            <a:ext cx="3291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333333"/>
                </a:solidFill>
                <a:latin typeface="Consolas"/>
              </a:rPr>
              <a:t>education_scorecard_2026_dotr.md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966960" y="4096512"/>
            <a:ext cx="20116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707070"/>
                </a:solidFill>
                <a:latin typeface="Calibri"/>
              </a:rPr>
              <a:t>20 DOTR outperformer case studies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629400" y="4334256"/>
            <a:ext cx="3291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333333"/>
                </a:solidFill>
                <a:latin typeface="Consolas"/>
              </a:rPr>
              <a:t>curriculum_evaluations.md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966960" y="4334256"/>
            <a:ext cx="20116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707070"/>
                </a:solidFill>
                <a:latin typeface="Calibri"/>
              </a:rPr>
              <a:t>14 Section 35m curricula evaluated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629400" y="4572000"/>
            <a:ext cx="3291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333333"/>
                </a:solidFill>
                <a:latin typeface="Consolas"/>
              </a:rPr>
              <a:t>collab_lit_ufli_pressure_test.md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966960" y="4572000"/>
            <a:ext cx="20116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707070"/>
                </a:solidFill>
                <a:latin typeface="Calibri"/>
              </a:rPr>
              <a:t>Collab Lit + UFLI critique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65760" y="6601968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707070"/>
                </a:solidFill>
                <a:latin typeface="Calibri"/>
              </a:rPr>
              <a:t>Troy SD K-5 ELA — Executive Summary  •  github.com/akarpo/tsd-k5ela-choice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0515600" y="6601968"/>
            <a:ext cx="13716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0" i="0">
                <a:solidFill>
                  <a:srgbClr val="707070"/>
                </a:solidFill>
                <a:latin typeface="Calibri"/>
              </a:rPr>
              <a:t>29 / 29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