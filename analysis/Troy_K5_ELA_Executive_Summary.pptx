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Repo: github.com/akarpo/tsd-k5ela-choice    Live: tsd-k5ela-choice.karpowitsch.org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7432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(grade-level units)</a:t>
            </a:r>
          </a:p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† small-N subgroup (~3-4% of Troy)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3749039"/>
            <a:ext cx="3566160" cy="2423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38404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160520"/>
            <a:ext cx="329184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53944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1148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 gain 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Spring Branch ISD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TX STR³⁶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Palo Alto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ESRI³⁵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W&amp;W³⁷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Johnson City 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TN HQIM³⁹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100% of districts in this tier run structured-literacy programs.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Next-strongest gainer outside this tier: Frisco ISD (TX, BL) at +0.097.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1965960"/>
            <a:ext cx="3703320" cy="41148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Moderate gain   (+0.05 to +0.10)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Frisco ISD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Milpitas USD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Issaquah 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 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Dublin USD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Bench+Heggerty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Coppell ISD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Princeton 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 (NJ peer)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Mix of BL, Benchmark-Advance, and recently-adopted structured literacy.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965960"/>
            <a:ext cx="3703320" cy="41148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 or declined   (Δ &lt; +0.05)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Detroit DPSCD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EL Ed (SoR)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Aldine ISD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Baltimore 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W&amp;W (SoR)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Fond du Lac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Seaford 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−0.180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56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Bookworms (SoR)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356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Calkins UoS (BL)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36 of 49 had Δ &lt; 0; 3 held flat (Bloomfield Hills, Starkville, Dover). SoR alone is necessary but not sufficient — recovery also needs sustained PD, universal screeners, and a 2-3-year cohort lag (slide 19).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087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7731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07492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19 of 20  =  95% SoR-aligned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2764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Pre-COVID expected vs post-COVID actual (SEDA cs Δ).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0"/>
            <a:ext cx="7406640" cy="54487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914400"/>
            <a:ext cx="4434840" cy="55778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9601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Pre→Post COVID Δ  (expected pre-COVID in parens)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28016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28016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8349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Asian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7018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White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5687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Black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54533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554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(0.73)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8349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-0.35 (1.10)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7018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35687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(-0.05)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1828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(0.17)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8349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+0.07 (0.43)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7018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-0.12 (0.38)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35687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(-0.28)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103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(0.56)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8349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-0.17 (0.76)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47018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(0.57)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35687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(0.07)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3774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(0.57)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8349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(0.73)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47018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35687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(-0.08)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26517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-0.09 (0.71)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8349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-0.28 (1.17)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7018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(0.65)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35687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9260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(0.54)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8349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(0.93)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47018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(0.59)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35687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-0.06 (0.07)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32004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(0.47)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58349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(0.78)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47018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+0.08 (0.46)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5687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-0.45 (0.00)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40" y="361188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361188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6968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Hisp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EconDis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Not-ECD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35240" y="387705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0" y="38862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6968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(0.16)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2124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-0.15 (0.01)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(0.85)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0" y="4160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(-0.09)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2124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(-0.28)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-0.20 (0.41)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44348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-0.11 (0.23)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-0.16 (-0.08)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(0.64)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0" y="47091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+0.16 (0.16)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2124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(-0.07)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-0.05 (0.62)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4983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+0.23 (0.29)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2124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+0.02 (-0.04)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7280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(0.76)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80960" y="5257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(0.58)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2124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(-0.02)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7280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-0.01 (0.59)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0" y="5532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2124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+0.01 (-0.21)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7280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+0.04 (0.54)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Students-with-Disabilities subgroup tells the same story — only louder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MI School Data M-STEP %Adv+Prof¹⁰ (different metric from SEDA cs scale — direct MDE source for Troy SWD)</a:t>
            </a:r>
          </a:p>
        </p:txBody>
      </p:sp>
      <p:pic>
        <p:nvPicPr>
          <p:cNvPr id="5" name="Picture 4" descr="chart_swd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3368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83879" y="914400"/>
            <a:ext cx="3931920" cy="27432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987552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Pre→Post-COVID Δ  (M-STEP %Adv+Prof)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02121"/>
                </a:solidFill>
                <a:latin typeface="Calibri"/>
              </a:rPr>
              <a:t>Troy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F3A5F"/>
                </a:solidFill>
                <a:latin typeface="Calibri"/>
              </a:rPr>
              <a:t>Peer-7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Gap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352044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−3.8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−7.9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B02121"/>
                </a:solidFill>
                <a:latin typeface="Consolas"/>
              </a:rPr>
              <a:t>−1.6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−0.1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−1.5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−4.6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+0.7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−5.3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8892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G3: Troy SWD fell 3× faster than peers.</a:t>
            </a:r>
          </a:p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G5: Peers gained; Troy fell.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3429000"/>
            <a:ext cx="3931920" cy="2651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493008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35204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Troy SWD G3: 37% pre-COVID → 25% today.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Peer-7 SWD G3: 35% → 31% (held much better).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Pre-COVID Troy SWD ≈ Peer-7 SWD.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Post-COVID Troy SWD sits 4–7pp BELOW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SoR is engineered for struggling readers.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The students who benefit MOST from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 falling FASTEST at Troy vs. same-state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Refutes "regression-to-mean" — SWD students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aren't high-achievers regressing.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199632"/>
            <a:ext cx="114300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245352"/>
            <a:ext cx="1143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Two independent sources converge: SEDA cs scale (49 districts) and MDE M-STEP %prof (Troy subgroups) both say the SoR-relevant subgroups are falling fastest.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835535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914400"/>
            <a:ext cx="5486400" cy="5349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051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71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33756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937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15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50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16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94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17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18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989320"/>
            <a:ext cx="1143000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035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19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21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MDE-approved K-3 screeners: mCLASS/DIBELS 8, Amira, MAP Reading Fluency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22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23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vs. 504 level-matched peers, K-5 ELA (SEDA 2025.1)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baseline ±0.25 of Troy, enrollment ≥150/grade-year, complete 2017-2025 data</a:t>
            </a:r>
          </a:p>
        </p:txBody>
      </p:sp>
      <p:pic>
        <p:nvPicPr>
          <p:cNvPr id="5" name="Picture 4" descr="chart_seda_ela_pe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758952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9144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Key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716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504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716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level-matched peer districts nationwide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0574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81 / 504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574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rank (16th percentile) — bottom sixth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7432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7432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post-COVID Δ (grade levels vs national norm)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290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-0.107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34290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Peer median Δ — Troy underperforms by 0.145 grade levels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20624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Subgroup ranks (vs peers with data)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6177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46177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81 / 504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461772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16th pct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9834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Asian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498348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21 / 257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49834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8th pct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53492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White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534924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96 / 496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53492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19th pct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7150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Econ Disadvantaged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0" y="571500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229 / 429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57150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53rd pct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61264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Peers derived independently from the Math analysis (44% overlap).</a:t>
            </a:r>
          </a:p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Troy's ELA baseline (+0.729) is lower than Math (+0.937) — different peer universe.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24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25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26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27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28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is reproducible from the public 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github.com/akarpo/tsd-k5ela-choice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Web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Project README + slide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Vanilla-JS slide 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slides/*.png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 rendered slide PNGs (144 DPI)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deck/Troy_K5_ELA_Executive_Summary.pptx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Source PowerPoint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Reproducibility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analysis/extract_seda_subset.py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→ 50-district subset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analysis/compute_deltas.py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analysis/build_deck.py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Builds the .pptx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docs/REPRODUCIBILITY.md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How to reproduce in 3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docs/METHODOLOGY.md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Metrics, time windows, district universe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docs/DISTRICT_UNIVERSE.md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50 districts with NCES LEA 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Processed data (data/)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seda_2025_pooled.json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seda_2025_state.json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State-level SEDA averages by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seda_subgroup_delta.csv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master_dataset.csv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6883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seda_2009_2025_extract.csv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6883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Raw SEDA 2025.1 extract (50 dists × G3-G5)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29260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troy_swd_ela.csv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9260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SWD M-STEP %prof, G3-G5 2015-25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3009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Supporting reports (reports/)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synthesis.md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quantitative_analysis.md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state-test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education_scorecard_2026_dotr.md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curriculum_evaluations.md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14 Section 35m curricula evaluated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collab_lit_ufli_pressure_test.md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5720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