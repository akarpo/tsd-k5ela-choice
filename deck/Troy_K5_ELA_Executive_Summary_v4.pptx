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v4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Project folder: /Users/Alex/Downloads/tsd-k5ela/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4 of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districts that GAINED post-COVID¹ on the SEDA scale run structured-literacy programs.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333333"/>
                </a:solidFill>
                <a:latin typeface="Consolas"/>
              </a:rPr>
              <a:t>Spring Branch ISD³⁶  •  Palo Alto USD³⁵</a:t>
            </a:r>
          </a:p>
          <a:p>
            <a:pPr algn="ctr"/>
            <a:r>
              <a:rPr sz="1050" b="0" i="0">
                <a:solidFill>
                  <a:srgbClr val="333333"/>
                </a:solidFill>
                <a:latin typeface="Consolas"/>
              </a:rPr>
              <a:t>West Baton Rouge³⁷  •  Johnson City TN³⁹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of Troy's stronger alternatives have direct post-COVID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CKLA →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→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→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2860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972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63040"/>
            <a:ext cx="32918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All Students:  −0.36 grade levels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Asian:                −0.46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White:                 −0.29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Not-ECD:           −0.37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EconDis:            −0.25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Hispanic:           −0.10</a:t>
            </a:r>
          </a:p>
          <a:p>
            <a:pPr algn="l"/>
            <a:r>
              <a:rPr sz="1400" b="0" i="0">
                <a:solidFill>
                  <a:srgbClr val="333333"/>
                </a:solidFill>
                <a:latin typeface="Consolas"/>
              </a:rPr>
              <a:t>Black:                  −0.15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4290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5661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39319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749807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48. Sikeston R-6 (MO):  −0.275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47. Detroit DPSCD:  −0.259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46. Troy SD:                  −0.253 ◄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45. Bethlehem Area SD: −0.246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44. West Bloomfield: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1.  Spring Branch ISD:  +0.284¹  (TX STR³⁶)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2.  Palo Alto USD:           +0.132¹  (ESRI³⁵)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3.  West Baton Rouge:  +0.132¹  (W&amp;W³⁷)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4.  Johnson City TN:     +0.121¹  (TN HQIM³⁹)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5.  Frisco ISD:                  +0.097¹  (BL; TX state lifted⁶)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The variable that differs is curriculum.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Pre/Post-COVID Δ (MI affluent peers)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Bloomfield Hills:  +0.026 ← best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Birmingham PS:    −0.017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Walled Lake:           −0.089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PS:         −0.087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Novi CSD:                  −0.103  (49% Asian)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Rochester CSD:        −0.215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Bloomfield:    −0.243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SD:                    −0.253 ◄ worst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2025 G4 ELA M-STEP¹⁰,¹³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4251960"/>
            <a:ext cx="32918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Birmingham (4% Asian):       75.4%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Bloomfield Hills (9%):           70.6%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Novi (49% Asian):                  68.5%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Rochester (17%):                    67.9%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Troy SD (37% Asian):           66.3%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5852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at G4 sits BELOW four MI peers with smaller Asian populations.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Troy's worst subgroup declines are the affluent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Across 7 SEDA subgroups, Troy ranks bottom-5 on 5 of them — including the demographics affluence should protect</a:t>
            </a:r>
          </a:p>
        </p:txBody>
      </p:sp>
      <p:pic>
        <p:nvPicPr>
          <p:cNvPr id="5" name="Picture 4" descr="chart15_troy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315200" cy="46551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863840" y="914400"/>
            <a:ext cx="411480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051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Troy SEDA Δ rank per subgroup¹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463040"/>
            <a:ext cx="38404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Subgroup        Rank      Δ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Asian            34/35   −0.347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White            44/46   −0.231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Not-ECD         42/46   −0.252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All                  47/49   −0.253  ◄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Black            27/33   −0.274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EconDis         32/47   −0.147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>Hispanic     12/39   −0.031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onsolas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5029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The pattern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53949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MORE affluent the subgroup, the WORSE Troy's decline.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exact inverse of what "demographics protect against COVID disruption" predicts.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999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99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993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132320" cy="6537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914400"/>
            <a:ext cx="429768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0515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41732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9718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3337560"/>
            <a:ext cx="4023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93776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303520"/>
            <a:ext cx="4023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K-2 Acadience/DIBELS with intervention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District universe (N = 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5120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Troy SD (subject district) + 7 MI affluent peers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4 CA workbook peers + 4 CA outperformers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6 TX districts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3 NJ peers + 3 WA SoR-shift peers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Steubenville (OH gold standard)  + Detroit (MI in-state outperformer)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•  17 Education Scorecard 2026 DOTR outperformers across KY, LA, MS, TN, GA, MD, WI, DE, VA, CT, NY, PA, IN, MO, NC, NH, IA, ID, 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in the deck is reproducible from these local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/Users/Alex/Downloads/tsd-k5ela/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Synthesis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Troy_K5_ELA_Executive_Summary_v4.pptx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This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3500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Quantitative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research/quantitative_analysis.md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40" y="26700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analysis + 6 charts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9077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research/seda_2025_analysis.md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40" y="29077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pre/post-COVID + subgroup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research/master_dataset.csv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research/seda_2025_pooled.json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research/seda_subgroup_delta.csv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research/charts/*.png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19 visualization PNGs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23367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Curriculum evidence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537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curriculum-evidence/curriculum_evaluations.md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40" y="45537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14 Section 35m curricula evaluated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914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curriculum-evidence/collab_lit_ufli_pressure_test.md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40" y="4791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District research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district-profiles/peer_district_cases.md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Peer-district transitions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district-profiles/education_scorecard_2026_dotr.md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district-profiles/sustained_outperformers.md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17 sustained-outperformer districts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research/escorecard_pdfs/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official Ed Scorecard PDFs + text extracts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Raw data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research/G3-G7_Achievement_Data.xlsx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Original Troy workbook (8 districts)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research/seda/seda_admindist_long_cs_2025.1.csv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national file (88 MB)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research/seda/seda_state_long_cs_2025.1.csv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state averages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research/raw_data_*.csv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Per-region district CSVs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research/seda_2025_state.json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 SEDA averages keyed by state+year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7141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Build &amp; reproducibility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7914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build_deck_v4.py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7914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Python script that builds this deck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29400" y="50292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research/district_universe.md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60" y="50292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Universe definition (50 districts)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0" y="526694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research/troy_data_brief.md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66960" y="526694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M-STEP trajectory + subgroup tables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53796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SD K-5 ELA — Executive Summary v4 (with citations + appendix)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707070"/>
                </a:solidFill>
                <a:latin typeface="Calibri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