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Troy SD K-5 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CCDDEE"/>
                </a:solidFill>
                <a:latin typeface="Calibri"/>
              </a:rPr>
              <a:t>The Quantitative Case for Curriculum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AABBCC"/>
                </a:solidFill>
                <a:latin typeface="Calibri"/>
              </a:rPr>
              <a:t>Pressure-testing Collaborative Literacy + UFLI Foundations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2286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Executive Summary v4 — Citations + 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AABBCC"/>
                </a:solidFill>
                <a:latin typeface="Calibri"/>
              </a:rPr>
              <a:t>Prepared May 2026  •  50-district national benchmark  •  2009-2025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8AACC"/>
                </a:solidFill>
                <a:latin typeface="Calibri"/>
              </a:rPr>
              <a:t>Project folder: /Users/Alex/Downloads/tsd-k5ela/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question — and the one-line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Three independent pieces of evidence converge on the same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07070"/>
                </a:solidFill>
                <a:latin typeface="Calibri"/>
              </a:rP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333333"/>
                </a:solidFill>
                <a:latin typeface="Calibri"/>
              </a:rPr>
              <a:t>Is Collaborative Literacy 3rd Ed. + UFLI Foundations the right K-5 ELA choice for Troy's balanced-literacy → Science of Reading transition?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2121"/>
                </a:solidFill>
                <a:latin typeface="Calibri"/>
              </a:rPr>
              <a:t>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B02121"/>
                </a:solidFill>
                <a:latin typeface="Calibri"/>
              </a:rPr>
              <a:t>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69748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333333"/>
                </a:solidFill>
                <a:latin typeface="Calibri"/>
              </a:rPr>
              <a:t>The evidence converges from three independent directions: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11880"/>
            <a:ext cx="3703320" cy="278892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611880"/>
            <a:ext cx="3703320" cy="54864"/>
          </a:xfrm>
          <a:prstGeom prst="rect">
            <a:avLst/>
          </a:prstGeom>
          <a:solidFill>
            <a:srgbClr val="B0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B02121"/>
                </a:solidFill>
                <a:latin typeface="Calibri"/>
              </a:rPr>
              <a:t>0 of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54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333333"/>
                </a:solidFill>
                <a:latin typeface="Calibri"/>
              </a:rPr>
              <a:t>outperformer + peer districts¹ use Collaborative Literacy as their K-5 core.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5532120"/>
            <a:ext cx="2423160" cy="22860"/>
          </a:xfrm>
          <a:prstGeom prst="rect">
            <a:avLst/>
          </a:prstGeom>
          <a:solidFill>
            <a:srgbClr val="B0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333333"/>
                </a:solidFill>
                <a:latin typeface="Calibri"/>
              </a:rPr>
              <a:t>There is no national precedent for the combination Troy is considering.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0" y="3611880"/>
            <a:ext cx="3703320" cy="27889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0" y="3611880"/>
            <a:ext cx="3703320" cy="5486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1F7A3D"/>
                </a:solidFill>
                <a:latin typeface="Calibri"/>
              </a:rPr>
              <a:t>19 of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754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Education Scorecard 2026³ ELA-relevant outperformer districts run, supplement, or are transitioning to SoR-aligned curricula.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5532120"/>
            <a:ext cx="2423160" cy="228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562356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Demographic-adjusted gain methodology — Harvard, Stanford, Dartmouth.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alibri"/>
              </a:rPr>
              <a:t>Only Wayne County NC stayed in pure balanced literacy.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28431" y="3611880"/>
            <a:ext cx="3703320" cy="27889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28431" y="3611880"/>
            <a:ext cx="3703320" cy="54864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1311" y="379476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1F7A3D"/>
                </a:solidFill>
                <a:latin typeface="Calibri"/>
              </a:rPr>
              <a:t>3 of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11311" y="475488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of Troy's stronger alternatives have named district adoptions with recovery evidence.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68511" y="5532120"/>
            <a:ext cx="2423160" cy="228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1" y="5623560"/>
            <a:ext cx="3337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Amplify CKLA — Marion Co KY³⁰, Fond du Lac WI³³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EL Education — Detroit DPSCD⁴²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Consolas"/>
              </a:rPr>
              <a:t>Wit &amp; Wisdom — W. Baton Rouge³⁷, Baltimore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 / 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First, the honest pre-COVID picture — Troy gained on aggregate, but subgroups were uneven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SEDA cohort-standardized scale (cs): NAEP-anchored grade-level units. +1.0 = one grade above national norm.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Why this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Any argument for change has to start by acknowledging what's true: pre-COVID, Troy was healthy on the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only metric that compares across state tests fairly¹⁻². Calkins UoS didn't break Troy historically.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Pretending otherwise undermines the credibility of the post-COVID case (which IS strong).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5486400" cy="38404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Troy SD 2009 → 2019 on SEDA cs scale²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51206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All Students:      +0.486 → +0.747   (+0.26)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Asian:             +0.712 → +1.063   (+0.35)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White:             +0.450 → +0.609   (+0.16)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Black:             −0.070 → −0.160   (−0.09)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Hispanic*:         +0.340 → +0.033   (−0.31)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Econ Disadv:       −0.210 → +0.078   (+0.29)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•  Not-Econ Disadv:   +0.552 → +0.853   (+0.30)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* Hispanic suppressed pre-2011 (N&lt;10); baseline is 2011.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49240"/>
            <a:ext cx="5120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Aggregate gains went to Asian, White, Not-ECD, and EconDis subgroups. Black + Hispanic subgroups stagnated or slipped slightly — the pre-COVID story was uneven.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377440"/>
            <a:ext cx="5486400" cy="38404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5146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What this rules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5120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•  "Calkins UoS has been failing Troy for a decade."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Mostly false. Aggregate + affluent gains 2009-2019.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(Caveat: Black + Hispanic subgroups stagnated.)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•  "This is a long-running trend that COVID exposed."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False. 2019 was Troy's peak on the aggregate scale.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•  "Troy was on a declining trajectory."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False. Troy outperformed every MI affluent peer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    on aggregate 2009-2019.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case for change is NOT retrospective.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collapse is post-COVID (2019→2025) — and it hit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every subgroup.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3 / 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post-COVID collapse is the real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Troy's 2019 peak was +0.747. By 2025: +0.387. Lost 16 years of slow gains in 3 years.</a:t>
            </a:r>
          </a:p>
        </p:txBody>
      </p:sp>
      <p:pic>
        <p:nvPicPr>
          <p:cNvPr id="5" name="Picture 4" descr="chart10_troy_2009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4185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60120"/>
            <a:ext cx="3566160" cy="228600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972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From 2019 peak to 2025¹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63040"/>
            <a:ext cx="3291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onsolas"/>
              </a:rPr>
              <a:t>All Students    −0.36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onsolas"/>
              </a:rPr>
              <a:t>Asian           −0.46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onsolas"/>
              </a:rPr>
              <a:t>White           −0.29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onsolas"/>
              </a:rPr>
              <a:t>Not-ECD         −0.37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onsolas"/>
              </a:rPr>
              <a:t>EconDis         −0.25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onsolas"/>
              </a:rPr>
              <a:t>Hispanic        −0.10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onsolas"/>
              </a:rPr>
              <a:t>Black           −0.15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onsolas"/>
              </a:rPr>
              <a:t>(grade-level units)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3429000"/>
            <a:ext cx="3566160" cy="2743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5661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Four straight years of decline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393192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2022:  +0.605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2023:  +0.526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2024:  +0.390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2025:  +0.387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The 2025 Troy score (+0.387) is BELOW Troy's 2009 score (+0.486).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Sixteen years of slow gains erased in three years — and recovery has not started.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4 / 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Of 50 demographically-comparable + outperformer districts, Troy ranks 47 of 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Pre-COVID (2017-19 mean) vs Post-COVID (2022-25 mean) on SEDA cohort-standardized RLA scale</a:t>
            </a:r>
          </a:p>
        </p:txBody>
      </p:sp>
      <p:pic>
        <p:nvPicPr>
          <p:cNvPr id="5" name="Picture 4" descr="chart11_seda_pre_post_cov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498079" cy="74980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46720" y="914400"/>
            <a:ext cx="393192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051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Bottom 5 districts (Δ pre→post)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141732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48  Sikeston R-6         −0.275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47  Detroit DPSCD        −0.259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46  Troy SD              −0.253  ◄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45  Bethlehem Area SD    −0.246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44  West Bloomfield      −0.243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788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Top 5 districts (Δ pre→post)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154680"/>
            <a:ext cx="3657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1  Spring Branch ISD    +0.284  (TX STR³⁶)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2  Palo Alto USD        +0.132  (ESRI³⁵)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3  West Baton Rouge     +0.132  (W&amp;W³⁷)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4  Johnson City TN      +0.121  (TN HQIM³⁹)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onsolas"/>
              </a:rPr>
              <a:t>5  Frisco ISD           +0.097  (BL)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45720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937760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Districts that GAINED post-COVID all run structured-literacy cores.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Districts at the bottom either (a) face severe poverty headwinds (Sikeston, Detroit) or (b) are affluent BL districts (Troy, West Bloomfield).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5 / 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comprehensive view — every district, every curriculum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Curriculum alone doesn't determine recovery. But magnitude of gain correlates with structured literacy.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8686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Of 49 districts with sufficient pre/post-COVID data¹: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13 gained on the SEDA scale  •  36 declined  •  Many SoR-adopters also declined — recovery is not automatic.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3703320" cy="41605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965960"/>
            <a:ext cx="3703320" cy="4572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Big gain  (Δ ≥ +0.10)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1F7A3D"/>
                </a:solidFill>
                <a:latin typeface="Calibri"/>
              </a:rPr>
              <a:t>4 districts — ALL 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32461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Spring Branch     +0.284   TX STR³⁶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Palo Alto USD     +0.132   ESRI³⁵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West Baton Rouge  +0.132   W&amp;W³⁷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Johnson City TN   +0.121   TN HQIM³⁹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100% of districts in this tier run structured-literacy programs.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Next-strongest gainer outside this tier: Frisco ISD (TX, BL) at +0.097.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965960"/>
            <a:ext cx="3703320" cy="4160520"/>
          </a:xfrm>
          <a:prstGeom prst="rect">
            <a:avLst/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965960"/>
            <a:ext cx="3703320" cy="457200"/>
          </a:xfrm>
          <a:prstGeom prst="rect">
            <a:avLst/>
          </a:prstGeom>
          <a:solidFill>
            <a:srgbClr val="CC6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Moderate gain  (+0.05 to +0.10)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6032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C6A11"/>
                </a:solidFill>
                <a:latin typeface="Calibri"/>
              </a:rPr>
              <a:t>6 districts — mixed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108960"/>
            <a:ext cx="32461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Frisco ISD        +0.097   BL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Milpitas USD      +0.090   Benchmark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Issaquah SD       +0.087   Benchmark '24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Dublin USD        +0.084   Benchmark+Heggerty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Coppell ISD       +0.068   BL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Princeton PS      +0.060   NJ peer (BL?)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Mix of BL, Benchmark, and recently-adopted SoR.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965960"/>
            <a:ext cx="3703320" cy="416052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1965960"/>
            <a:ext cx="3703320" cy="457200"/>
          </a:xfrm>
          <a:prstGeom prst="rect">
            <a:avLst/>
          </a:prstGeom>
          <a:solidFill>
            <a:srgbClr val="B0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0574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Decliners  (Δ &lt; 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56032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B02121"/>
                </a:solidFill>
                <a:latin typeface="Calibri"/>
              </a:rPr>
              <a:t>36 districts — both types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108960"/>
            <a:ext cx="32461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SoR districts that DECLINED include: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Detroit DPSCD, Aldine, Brownsville, Baltimore,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Bethlehem, Roanoke County, Seaford, Steubenville,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Fond du Lac, Brandywine, Sikeston, East Chicago…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Adopting SoR alone is necessary but not sufficient.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Recovery requires curriculum + sustained PD + screeners + 2-3 year cohort lag (see slide 18).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F3A5F"/>
                </a:solidFill>
                <a:latin typeface="Calibri"/>
              </a:rPr>
              <a:t>Honest finding: SoR doesn't guarantee recovery. But the only districts achieving STRONG recovery so far are SoR-aligned.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6 / 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 second independent benchmark — Education Scorecard 2026 'Districts on the Rise'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Demographic-adjusted gain methodology (Harvard-Stanford-Dartmouth³) — catches outperformers SEDA raw Δ misses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777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What DOTR measures (different from SEDA raw Δ):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Demographic-adjusted gain ≥ 0.3 grade levels in BOTH 2019–2025 AND 2022–2025, with ≥4 demographically-comparable peer districts in-state.  Detroit DPSCD is a DOTR outperformer despite a SEDA raw Δ decline — it gained more than its demographics predicted.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7498079" cy="438912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7498079" cy="3657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947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Math + Reading outperformers (17)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7315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East Hartford CT      Fundations + Heggerty + Fundamentals Unl.   SoR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East Chicago IN       Heggerty + Reading Horizons + SoR coaches    SoR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Marion County KY      Amplify CKLA + LETRS                         SoR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Baltimore City MD     Wit &amp; Wisdom K-8 (2018-)                     SoR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Detroit DPSCD MI      EL Education K-5 (2018-)                     SoR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Starkville MS         MS HQIM (BL→structured shift)                SoR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Pierre SD             Open Court + OG + Heggerty + Barton          SoR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Johnson City TN       TN HQIM (SoR mandate)                        SoR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Spring Branch TX      TX STR framework                             SoR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Fond du Lac WI        Amplify CKLA + DDI + UVA-PLE                 SoR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Dover NH              Knowledge-building shift                     SoR-lean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Brandywine DE         Explicit phonics K-2                         SoR-lean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Sikeston R-6 MO       Teacher-developed + state LETRS              SoR-lean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Atlanta APS GA        Benchmark + HMH (Phase 2 SoR pending)        SoR-trans.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Kuna Joint ID         HMH Into Reading planned 2026-27             SoR-future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College Community IA  MTSS focus (curriculum unclear)              Unclear</a:t>
            </a:r>
          </a:p>
          <a:p>
            <a:pPr algn="l"/>
            <a:r>
              <a:rPr sz="900" b="0" i="0">
                <a:solidFill>
                  <a:srgbClr val="333333"/>
                </a:solidFill>
                <a:latin typeface="Consolas"/>
              </a:rPr>
              <a:t>Wayne County PS NC    Stayed BL                                    BL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874519"/>
            <a:ext cx="3794760" cy="26974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1874519"/>
            <a:ext cx="3794760" cy="36576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94767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Reading-Only outperformers (3)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331720"/>
            <a:ext cx="365760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Modesto City Elem CA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Benchmark Adv + UFLI + LETRS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→ SoR-patched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West Baton Rouge LA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Wit &amp; Wisdom + Wilson Fundations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→ SoR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Roanoke County VA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W&amp;W + Heggerty + Really Great Rdg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  → SoR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1000" y="4709160"/>
            <a:ext cx="3794760" cy="15544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4800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02121"/>
                </a:solidFill>
                <a:latin typeface="Calibri"/>
              </a:rPr>
              <a:t>Summary across both groups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166360"/>
            <a:ext cx="3657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13 districts:  clear SoR-aligned core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5 districts:   SoR-leaning / patched / transitioning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1 district:    future SoR adoption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1 district:    unclear curriculum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• 1 district:    stayed BL  (Wayne County NC)</a:t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19 of 20  =  95% running, patching, or shifting toward SoR-aligned curriculum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3A5F"/>
                </a:solidFill>
                <a:latin typeface="Calibri"/>
              </a:rPr>
              <a:t>Two independent methodologies converge: SEDA raw Δ + Education Scorecard demographic-adjusted gain both point at structured literacy.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7 / 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Of 8 Michigan affluent peers, Troy fell the furthest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Same state, same M-STEP test, similar demographics. The variable that differs is curriculum.</a:t>
            </a:r>
          </a:p>
        </p:txBody>
      </p:sp>
      <p:pic>
        <p:nvPicPr>
          <p:cNvPr id="5" name="Picture 4" descr="chart12_mi_peers_2009_2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4185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Pre/Post-COVID Δ (MI affluent peers)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2918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Bloomfield Hills    +0.026   ← best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Birmingham PS       −0.017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Walled Lake         −0.089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Northville PS       −0.087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Novi CSD            −0.103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Rochester CSD       −0.215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West Bloomfield     −0.243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Troy SD             −0.253   ◄ worst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3886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2025 G4 ELA M-STEP¹⁰,¹³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425196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Birmingham           75.4%   (4% Asian)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Bloomfield Hills     70.6%   (9% Asian)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Novi                 68.5%   (49% Asian)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Rochester            67.9%   (17% Asian)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Troy SD              66.3%   (37% Asian)  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58521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Troy at G4 sits BELOW four MI peers with smaller Asian populations.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8 / 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Troy's worst subgroup declines are the affluent 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Across 7 SEDA subgroups, Troy ranks bottom-5 on 5 of them — including the demographics affluence should protect</a:t>
            </a:r>
          </a:p>
        </p:txBody>
      </p:sp>
      <p:pic>
        <p:nvPicPr>
          <p:cNvPr id="5" name="Picture 4" descr="chart15_troy_subgroup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315200" cy="46551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863840" y="914400"/>
            <a:ext cx="411480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01000" y="105156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Troy SEDA Δ rank per subgroup¹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463040"/>
            <a:ext cx="38404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onsolas"/>
              </a:rPr>
              <a:t>Subgroup        Rank      Δ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onsolas"/>
              </a:rPr>
              <a:t>──────────────────────────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onsolas"/>
              </a:rPr>
              <a:t>Asian            34/35   −0.347  ◄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onsolas"/>
              </a:rPr>
              <a:t>White            44/46   −0.231  ◄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onsolas"/>
              </a:rPr>
              <a:t>Not-ECD         42/46   −0.252  ◄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onsolas"/>
              </a:rPr>
              <a:t>All                  47/49   −0.253  ◄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onsolas"/>
              </a:rPr>
              <a:t>Black            27/33   −0.274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onsolas"/>
              </a:rPr>
              <a:t>EconDis         32/47   −0.147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onsolas"/>
              </a:rPr>
              <a:t>Hispanic     12/39   −0.031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onsola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502920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The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539496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The MORE affluent the subgroup, the WORSE Troy's decline.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This is the exact inverse of what "demographics protect against COVID disruption" predicts.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9 / 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subgroup data refutes the three common defenses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Each common defense of Troy's current trajectory is testable on the SEDA scale¹. Each fails the test.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640080" cy="1645920"/>
          </a:xfrm>
          <a:prstGeom prst="rect">
            <a:avLst/>
          </a:prstGeom>
          <a:solidFill>
            <a:srgbClr val="999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051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"It's the ESL/ELL composition."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087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If true: Hispanic and EL subgroups should be hit hardest.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Data: Troy Hispanic Δ = −0.031. Rank 12 of 39 — best of Troy's subgroups¹.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REFUTED. The Hispanic subgroup is the most resilient at Troy.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834640"/>
            <a:ext cx="640080" cy="1645920"/>
          </a:xfrm>
          <a:prstGeom prst="rect">
            <a:avLst/>
          </a:prstGeom>
          <a:solidFill>
            <a:srgbClr val="9966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803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"It's the disadvantaged students."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3375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If true: EconDis subgroup should be hit harder than Not-ECD.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Data: Troy EconDis Δ = −0.147 (rank 32/47). Troy Not-ECD Δ = −0.252 (rank 42/46)¹.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REFUTED. Not-ECD declined MORE than EconDis.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663440"/>
            <a:ext cx="640080" cy="1645920"/>
          </a:xfrm>
          <a:prstGeom prst="rect">
            <a:avLst/>
          </a:prstGeom>
          <a:solidFill>
            <a:srgbClr val="9933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516636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09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"It's a demographic / COVID story."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16636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If true: Affluent students with home-literacy environments should be PROTECTED.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Data: Troy Asian Δ = −0.347 (34/35), White Δ = −0.231 (44/46) — the affluent subgroups dropped MOST¹.</a:t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REFUTED. Affluence provides no protection at Troy. This points at instruction.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10 / 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Asian subgroup: Troy ranks 34 of 35 districts on post-COVID 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Of 35 districts with Asian-subgroup data in SEDA 2025.1, only Bethlehem Area SD lost more ground.</a:t>
            </a:r>
          </a:p>
        </p:txBody>
      </p:sp>
      <p:pic>
        <p:nvPicPr>
          <p:cNvPr id="5" name="Picture 4" descr="chart17_asian_subgroup_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132320" cy="6537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914400"/>
            <a:ext cx="429768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0515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Asian subgroup top 5 (gainers)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1417320"/>
            <a:ext cx="4023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Spring Branch ISD    +0.717  (TX STR³⁶)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Atlanta APS          +0.390  (SoR PD)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Milpitas USD         +0.281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Johnson City TN      +0.277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Palo Alto USD        +0.269  (ESRI³⁵)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297180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Asian subgroup bottom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3337560"/>
            <a:ext cx="40233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Bethlehem Area SD    −0.426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Troy SD              −0.347  ◄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Northville PS        −0.285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Wayne County PS      −0.264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Modesto City Elem    −0.257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9377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Direct affluent-peer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30352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Palo Alto (Troy's closest demographic match by Asian %) exited Calkins UoS in 2021 via ESRI³⁵.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Result: +0.269 grade-level gain on Asian subgroup. Direct evidence the shift works.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11 / 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Not-Econ-Disadvantaged subgroup: Troy ranks 42 of 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Troy's affluent students dropped −0.252 grade levels post-COVID — more than 90% of districts in our universe.</a:t>
            </a:r>
          </a:p>
        </p:txBody>
      </p:sp>
      <p:pic>
        <p:nvPicPr>
          <p:cNvPr id="5" name="Picture 4" descr="chart16_troy_notecd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7772400" cy="4185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54864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7A3D"/>
                </a:solidFill>
                <a:latin typeface="Calibri"/>
              </a:rPr>
              <a:t>Not-ECD top 5 (recovery)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West Baton Rouge    +0.315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Spring Branch       +0.193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Palo Alto USD       +0.138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Frisco ISD          +0.133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Issaquah SD         +0.124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92608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Not-ECD bottom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29184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Bethlehem Area      −0.326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Wayne County PS     −0.302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Seaford SD          −0.301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Brandywine SD       −0.267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onsolas"/>
              </a:rPr>
              <a:t>Troy SD             −0.252  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846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5212080"/>
            <a:ext cx="3291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These are the families with the most home-literacy resources. If Troy's curriculum design were sound, these are the kids who should recover first. They're recovering last.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12 / 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CKLA-adopting districts on the MDE-approved list are leapfrogging their states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Marion County KY and Fond du Lac WI both adopted Amplify CKLA. Both gained vs their state averages while Troy lost ground.</a:t>
            </a:r>
          </a:p>
        </p:txBody>
      </p:sp>
      <p:pic>
        <p:nvPicPr>
          <p:cNvPr id="5" name="Picture 4" descr="chart19_ckla_cohort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772400" cy="3886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26974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State-relative gain after CKLA¹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Marion County KY: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Pre-CKLA vs state    +0.02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Post-CKLA vs state   +0.19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Δ vs state           +0.17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Fond du Lac WI: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Pre-CKLA vs state    −0.02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Post-CKLA vs state   +0.10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  Δ vs state           +0.12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3749039"/>
            <a:ext cx="3566160" cy="26974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8862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Troy on the same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25196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Troy SD MI (Calkins UoS):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Pre-COVID vs state   +0.79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2025 vs state        +0.67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  Δ vs state           −0.11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Troy is losing ~0.11 grade levels relative to MI state.</a:t>
            </a:r>
          </a:p>
          <a:p>
            <a:pPr algn="l"/>
            <a:r>
              <a:rPr sz="1100" b="0" i="0">
                <a:solidFill>
                  <a:srgbClr val="333333"/>
                </a:solidFill>
                <a:latin typeface="Consolas"/>
              </a:rPr>
              <a:t>The two CKLA peers gained +0.12 and +0.17 relative to their states.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13 / 27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How they did it — Marion County KY and Fond du Lac WI playbooks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Both districts adopted Amplify CKLA (Tier-1 on the MI MDE Section 35m approved list¹⁸)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577840" cy="539496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7A3D"/>
                </a:solidFill>
                <a:latin typeface="Calibri"/>
              </a:rPr>
              <a:t>Marion County KY — Chris Brady, Supt.³⁰,³²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~2,937 students  •  61% econ-disadvantaged  •  83% White, 11% Hispanic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28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Curriculum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Amplify CKLA K-5 + Amplify ELA 6-8 (single-vendor vertical alignment). District-wide rollout in 2022-23, aligned with KY Read to Succeed Act of 2022.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066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Teacher PD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99232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LETRS Volumes 1 &amp; 2 via Kentucky Reading Academies³¹ (state-paid, no cost to district) — 44 teachers AND administrators trained since 2022. Principals went through LETRS WITH teachers so they can evaluate foundational instruction in the same vocabulary.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844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Coaching restructure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877056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Coaches moved from building-based to content-driven, operating in 6-9 WEEK CYCLES with teachers on standards-aligned instruction and diagnostic data. The single most unusual structural choice — most rural KY districts kept building-based coaching.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4622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5488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Full district-wide rollout, NOT a pilot. Tech use reduced to reclaim student-teacher engagement time. G3-7 ELA proficient +10pp 2021-22 → 2024-25.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400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Result on SEDA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3270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Pre-CKLA: −0.01 vs KY state. 2024-25: +0.19 vs state. +0.17 grade-level state-relative gain in 3 years. Marion County MS jumped 221→57 in KY state rank.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914400"/>
            <a:ext cx="5577840" cy="539496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0058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7A3D"/>
                </a:solidFill>
                <a:latin typeface="Calibri"/>
              </a:rPr>
              <a:t>Fond du Lac WI — Matt Steinbarth, Supt.³³,³⁴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371600"/>
            <a:ext cx="53035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33333"/>
                </a:solidFill>
                <a:latin typeface="Calibri"/>
              </a:rPr>
              <a:t>~6,457 students  •  49.5% econ-disadvantaged  •  59% White, 21% Hispanic, 9% Black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8288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Curriculum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121408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Amplify CKLA K-5 + Amplify ELA 6-8 + Bridges Math + TCI Social Studies + Mystery Science (K-8 coherent stack). Adoption aligned with August 2022 Strategic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70662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Leadership development partnership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999232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Partnered with the UVA Darden Partnership for Leaders in Education (UVA-PLE)³⁴. Single biggest differentiator: CKLA embedded in a multi-year leadership and instructional-redesign program, NOT adopted as a standalone literacy textbook.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58444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Teacher PD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77056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Weekly Data-Driven Instruction (DDI) cycles trained via UVA-PLE. ~$20M ESSER funds deployed for curriculum + after-school + classroom libraries + AVID. WI Act 20 (2023) added a state legal forcing function³⁸.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46227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75488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Jumped from 375th to 175th of 421 WI districts. "Exceeds Expectations" on 2024-25 WI report card — first time since 2016-17. Highest reading growth of all 421 WI districts 2022-2024.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3400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Leadership transition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5632704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Supt Fleig led the redesign 2022-2025; retired May 2025. Board promoted CAO Matt Steinbarth (25-yr district insider) 7-0 to protect continuity. Credit the turnaround to Fleig + Steinbarth + UVA-PLE.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14 / 27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Recovery is possible — and it tracks with curriculum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Four districts gained post-COVID. All four run structured-literacy programs.</a:t>
            </a:r>
          </a:p>
        </p:txBody>
      </p:sp>
      <p:pic>
        <p:nvPicPr>
          <p:cNvPr id="5" name="Picture 4" descr="chart14_subgroup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772400" cy="4185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9601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Spring Branch ISD (TX)³⁶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234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+0.284 overall / +0.717 Asian / +0.193 Not-ECD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5544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TX STR-aligned framework, K paraprofessionals trained in evidence-based instruction.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21040" y="233172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58200" y="23774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Palo Alto USD (CA)³⁵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651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+0.132 overall / +0.269 Asian / +0.138 Not-ECD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9718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Exited Calkins Units of Study in 2021 via Every Student Reads Initiative. Direct Troy parallel.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374904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3794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West Baton Rouge (LA)³⁷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4069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+0.132 overall / +0.315 Not-ECD / +0.242 White / +0.079 Black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43891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Wit &amp; Wisdom + Wilson Fundations K-3. K-3 literacy 57% → 68% in single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5166360"/>
            <a:ext cx="3566160" cy="13258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5212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7A3D"/>
                </a:solidFill>
                <a:latin typeface="Calibri"/>
              </a:rPr>
              <a:t>Johnson City TN³⁹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54864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33333"/>
                </a:solidFill>
                <a:latin typeface="Consolas"/>
              </a:rPr>
              <a:t>+0.121 overall / +0.277 Asian / +0.165 White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580644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Tennessee HQIM SoR mandate. +22pp above TN state on G4 ELA in 2025.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15 /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Long Beach USD — the natural experiment is now empirically 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Same district, same Carl Cohn-era leadership culture, same demographics. Only the curriculum changed.</a:t>
            </a:r>
          </a:p>
        </p:txBody>
      </p:sp>
      <p:pic>
        <p:nvPicPr>
          <p:cNvPr id="5" name="Picture 4" descr="chart13_post_covid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7772400" cy="418513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321040" y="914400"/>
            <a:ext cx="3566160" cy="2743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05156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Long Beach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1417320"/>
            <a:ext cx="329184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1992-2002 (Cohn era):  Open Court basal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→ Broad Prize 2003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2010s drift:  Teachers College Units of Study (Calkins)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→ same program Troy adopted 2014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Pre/Post-COVID Δ:  −0.076 grade levels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3794760"/>
            <a:ext cx="3566160" cy="260604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39319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B02121"/>
                </a:solidFill>
                <a:latin typeface="Calibri"/>
              </a:rPr>
              <a:t>Why this matters for Troy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4297680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Long Beach is the closest thing to a controlled trial against Calkins UoS in U.S. K-5 ELA data.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Same district. Same insider supt tradition. Same demographics. The pre-COVID period worked.</a:t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Post-COVID, the Calkins-derived core failed to support recovery — same pattern as Troy.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16 / 27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Why balanced literacy fails when school and home reading routines both break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A plain-English causal story that's consistent with every subgroup finding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657600" cy="521208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43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How Calkins UoS works²⁰,²³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Workshop-model, student-led discovery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Leveled-text independent reading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Comprehension strategies (predict, infer, etc.)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Minimal explicit phonics in core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Relies on rich home language environment to fill gaps in explicit instruction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Reading-aloud, book access, parent-supported reading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05840"/>
            <a:ext cx="3657600" cy="52120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143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2121"/>
                </a:solidFill>
                <a:latin typeface="Calibri"/>
              </a:rPr>
              <a:t>What COVID broke²¹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5087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Classroom delivery — interrupted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Home reading routines — disrupted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Book access at home — limited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Parent time for reading — fragmented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Balanced literacy assumed BOTH school AND home would teach reading — when home routines broke down, school's part alone wasn't designed to do the whole job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Most-affluent students had the MOST home reading support to lose, so they fell furthest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05840"/>
            <a:ext cx="3657600" cy="521208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143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Why SoR districts recovered²²,²⁵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508760"/>
            <a:ext cx="3383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Explicit phonics scope and sequence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Decodable texts at K-2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Knowledge-building core that doesn't assume background knowledge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Cohesive sequence — same content in every classroom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Doesn't depend on home support — designed to teach reading in school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•  When classroom delivery returned, the curriculum was still intact and could rebuild skills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17 / 27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Tested hypothesis — does SoR help only early grades, not later ones?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If the 'BL for later grades' hypothesis were correct, BL districts should hold up at G5. They don't.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77724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The 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333333"/>
                </a:solidFill>
                <a:latin typeface="Calibri"/>
              </a:rPr>
              <a:t>"Maybe SoR helps for K-2 phonics, but balanced literacy still has a role at G3-G5 where comprehension + rich text matter more." — pedagogically plausible. Testable on this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5669280" cy="402336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7A3D"/>
                </a:solidFill>
                <a:latin typeface="Calibri"/>
              </a:rPr>
              <a:t>Mean SEDA Δ by grade × curriculum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54864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Type              G3 Δ      G4 Δ      G5 Δ      n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─────────────────────────────────────────────────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SoR-clear         −0.068   −0.085   −0.046    21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SoR-recent/lean   −0.010   −0.048   −0.069     5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Mixed/Benchmark   +0.046   +0.056   +0.064     3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Balanced lit.     −0.127   −0.127   −0.091    15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Reading: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• BL districts decline at EVERY grade — they don't hold up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  better at G5. They decline less, but still decline.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• SoR-clear shows its SMALLEST decline at G5, not G3.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• SoR-recent adopters (Bellevue, Issaquah, Lake Wash.)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  show smallest G3 decline — the cohort effect from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  new-K students reaching G3 in 2024-25.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74519"/>
            <a:ext cx="5623560" cy="4023360"/>
          </a:xfrm>
          <a:prstGeom prst="rect">
            <a:avLst/>
          </a:prstGeom>
          <a:solidFill>
            <a:srgbClr val="E6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7A3D"/>
                </a:solidFill>
                <a:latin typeface="Calibri"/>
              </a:rPr>
              <a:t>Top 5 G5 gainers — 100% SoR-aligned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54864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1  Spring Branch ISD    +0.284   TX STR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2  Johnson City TN      +0.221   TN HQIM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3  West Baton Rouge     +0.207   W&amp;W + Fundations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4  Steubenville City    +0.176   Success for All (25 yr)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5  Starkville-Oktibbeha +0.126   MS HQIM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Top 5 G3 gainers (for comparison):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1  Palo Alto USD        +0.205   SoR (ESRI)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2  West Baton Rouge     +0.142   SoR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3  Milpitas USD         +0.099   Mixed/Benchmark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4  Issaquah SD          +0.087   SoR-recent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5  Dover SD             +0.066   SoR-lean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The strongest G5 gainers are EXCLUSIVELY SoR.</a:t>
            </a:r>
          </a:p>
          <a:p>
            <a:pPr algn="l"/>
            <a:r>
              <a:rPr sz="1000" b="0" i="0">
                <a:solidFill>
                  <a:srgbClr val="333333"/>
                </a:solidFill>
                <a:latin typeface="Consolas"/>
              </a:rPr>
              <a:t>The strongest G3 gainers are 4/5 SoR + 1 mixed.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6035040"/>
            <a:ext cx="11430000" cy="640080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1264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B02121"/>
                </a:solidFill>
                <a:latin typeface="Calibri"/>
              </a:rPr>
              <a:t>Confounders this data can't resolve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008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  <a:latin typeface="Calibri"/>
              </a:rPr>
              <a:t>Cohort effects (today's G5 had K 5 years ago); test-scale differences across grades; COVID hit early grades hardest (K-1 missed in-person foundational year); small samples for SoR-recent and Mixed subcategories.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18 / 27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Curriculum verdict — Troy's options on the MI Section 35m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Ranked by evidence strength + alignment with recovery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521440" cy="36576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00584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Curriculum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005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EdReports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00584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Recovery proof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00584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10058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Grade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25880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4173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Amplify CKLA 3rd 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417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Green¹⁴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417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Aldine⁴¹ G4+11pp; Fond du Lac #1 WI³³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41732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Single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14173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A+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709928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18013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180136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EL Education K-5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1801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Green¹⁴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80136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Detroit DPSCD⁴²; NYC Reads Dist 11⁴³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80136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Single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180136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093976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1854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18541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Wit &amp; Wisdom + Fundations + Geodes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21854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Green¹⁴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18541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West Baton Rouge³⁷; Baltimore W&amp;W since 2018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18541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2-3 vendor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218541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2478024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25694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256946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UFLI Foundations (component)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25694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Not reviewed¹⁴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5694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RRQ 2025 ES &gt;1.0 SD²⁴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256946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Supplement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256946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2862072"/>
            <a:ext cx="115214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29535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2953512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Really Great Reading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29535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196/198¹⁴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295351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NYC Reads foundational core⁴³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29535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Supplement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295351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7A3D"/>
                </a:solidFill>
                <a:latin typeface="Calibri"/>
              </a:rPr>
              <a:t>A−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3246120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3337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33756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(…)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3337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337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333756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155680" y="333756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707070"/>
                </a:solidFill>
                <a:latin typeface="Calibri"/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630168"/>
            <a:ext cx="11521440" cy="384048"/>
          </a:xfrm>
          <a:prstGeom prst="rect">
            <a:avLst/>
          </a:prstGeom>
          <a:solidFill>
            <a:srgbClr val="FC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65760" y="372160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" y="3721608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33333"/>
                </a:solidFill>
                <a:latin typeface="Calibri"/>
              </a:rPr>
              <a:t>Collaborative Literacy 3rd Ed. + UFLI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37216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2016 ed.: Partial¹⁴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37216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Zero of 50 outperformers use it¹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372160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333333"/>
                </a:solidFill>
                <a:latin typeface="Calibri"/>
              </a:rPr>
              <a:t>2-vendor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37216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B02121"/>
                </a:solidFill>
                <a:latin typeface="Calibri"/>
              </a:rPr>
              <a:t>B / B−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014216"/>
            <a:ext cx="11521440" cy="38404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5760" y="410565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1F3A5F"/>
                </a:solidFill>
                <a:latin typeface="Calibri"/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4400" y="4105656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HMH Into Reading 2025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89120" y="41056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All Green (v1.0)¹⁴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41056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Contested by APM Reports²¹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410565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333333"/>
                </a:solidFill>
                <a:latin typeface="Calibri"/>
              </a:rPr>
              <a:t>Single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410565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707070"/>
                </a:solidFill>
                <a:latin typeface="Calibri"/>
              </a:rPr>
              <a:t>B−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02121"/>
                </a:solidFill>
                <a:latin typeface="Calibri"/>
              </a:rPr>
              <a:t>Collab Lit + UFLI is the weakest comprehensive option on the Section 35m list for a district moving OUT of balanced literacy.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65760" y="5349240"/>
            <a:ext cx="11430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Of 50 districts in the post-COVID national benchmark, zero use Collaborative Literacy as their K-5 core.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Of the 4 districts that GAINED on the SEDA scale 2017-19 → 2022-25, all four use structured literacy.</a:t>
            </a:r>
          </a:p>
          <a:p>
            <a:pPr algn="l"/>
            <a:r>
              <a:rPr sz="1250" b="0" i="0">
                <a:solidFill>
                  <a:srgbClr val="333333"/>
                </a:solidFill>
                <a:latin typeface="Calibri"/>
              </a:rPr>
              <a:t>Of Troy's stronger alternatives — CKLA, EL Education, Wit &amp; Wisdom — each has direct post-COVID recovery evidence.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19 / 27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Recommendation — three paths ranked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Each leg of the evidence base points the same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37160" cy="123444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3D"/>
                </a:solidFill>
                <a:latin typeface="Calibri"/>
              </a:rPr>
              <a:t>RECOMMENDED PRIMARY PATH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527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Amplify CKLA 3rd Edition K-5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Single vendor, integrated foundations + knowledge.  All-green EdReports (first ELA program to earn it).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Marion County KY³⁰: +10pp G3-7 ELA 2021-25 with CKLA + LETRS.  Fond du Lac WI³³: #1 reading growth statewide.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286000"/>
            <a:ext cx="137160" cy="123444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7A3D"/>
                </a:solidFill>
                <a:latin typeface="Calibri"/>
              </a:rPr>
              <a:t>STRONG ALTERNATIVE — BEST OF BREED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7860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Wit &amp; Wisdom + Wilson Fundations K-3 + Geodes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718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West Baton Rouge LA³⁷: K-3 literacy 57%→68% in ONE year. Best Not-ECD recovery (+0.315) in our universe.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Roanoke County VA³: closest demographic peer to Troy. Baltimore City: longest urban track record (since 2018).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80"/>
            <a:ext cx="13716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HONORABLE MENTION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0448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EL Education K-5 (+ phonics supplement)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Direct in-state Michigan validator: Detroit DPSCD⁴² adopted 2018, outpaced state.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NYC Reads natural experiment⁴³: District 11 (EL Education) outperformed both Into Reading and Wit &amp; Wisdom.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937760"/>
            <a:ext cx="137160" cy="1234440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07070"/>
                </a:solidFill>
                <a:latin typeface="Calibri"/>
              </a:rPr>
              <a:t>IF TEACHER BUY-IN OR LOCAL POLITICS BLOCKS A CLEAN CHANGE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303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F3A5F"/>
                </a:solidFill>
                <a:latin typeface="Calibri"/>
              </a:rPr>
              <a:t>The least-bad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2356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Keep Collab Lit as a transitional core; drop Making Meaning in G3-5; substitute a knowledge-building supplement.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Use SIPPS for Tier-2 only and UFLI as Tier-1 K-2 phonics (avoid duplication). Commit to a 2-3 year sunset review.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20 / 27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Curriculum is necessary but not sufficient — and what to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Five execution factors + the real-time peer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Five execution factors in every winning district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258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Stack, don't bolt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5506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Knowledge core + systematic phonics + teacher PD as ONE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031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60+ hours structured PD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43230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LETRS most-cited³¹ (3 of 20 DOTRs); brand varies; depth doesn't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036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803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Universal screeners + MTSS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0954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K-2 Acadience/DIBELS with intervention triggers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6576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Plan for a 2-3 year 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98678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Bethlehem K-change 2015 → G3 bounce 2018²⁶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434840"/>
            <a:ext cx="411480" cy="6858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F3A5F"/>
                </a:solidFill>
                <a:latin typeface="Calibri"/>
              </a:rPr>
              <a:t>Fidelity is the binding constraint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764024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333333"/>
                </a:solidFill>
                <a:latin typeface="Calibri"/>
              </a:rPr>
              <a:t>NYC Phase 1 conf 55% vs Phase 2 38%⁴³ = real outcome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914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Track these districts in real time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0" y="132588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13258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Lake Washington WA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16002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Board adoption Spring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18288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Closest demographic peer mid-shift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210312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21031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Bellevue SD WA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3774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Year 2 of ARC Core + UFLI + Heggerty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260604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Year-2 SBA fall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288036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2880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Issaquah SD 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31546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First post-Benchmark Advance SBA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38328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Fall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365760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36576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Palo Alto USD 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9319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Year 5 post-ESRI CAASPP trend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16052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Annual CAASPP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0" y="443484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44348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Fond du Lac WI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7091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Continued CKLA + DDI trajectory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0" y="493776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WI Forward fall 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32320" y="5212080"/>
            <a:ext cx="137160" cy="685800"/>
          </a:xfrm>
          <a:prstGeom prst="rect">
            <a:avLst/>
          </a:prstGeom>
          <a:solidFill>
            <a:srgbClr val="1F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0" y="52120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A5F"/>
                </a:solidFill>
                <a:latin typeface="Calibri"/>
              </a:rPr>
              <a:t>Aldine ISD TX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4864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Calibri"/>
              </a:rPr>
              <a:t>Watch G5+G6 STAAR 2026 (full post-CKLA cohort)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0" y="57150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1F7A3D"/>
                </a:solidFill>
                <a:latin typeface="Calibri"/>
              </a:rPr>
              <a:t>→ TEA TAPR fall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21 / 27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Appendix —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Datasets, metrics, time windows, district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Primary 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SEDA cohort-standardized score (cs): NAEP-anchored grade-level units. 0.0 = at-grade national norm; +1.0 = one grade above national norm.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This is the only metric that is genuinely cross-state comparable in absolute terms — it normalizes M-STEP, CAASPP, STAAR, LEAP, MAAP, TCAP, NJSLA, SBA, OST against a common NAEP-anchored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Time windows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8328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Pre-COVID baseline:  2017-2019 (3-year mean)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Post-COVID window:  2022-2025 (4-year mean)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Δ = post − pre (units: grade levels)</a:t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/>
            </a:r>
          </a:p>
          <a:p>
            <a:pPr algn="l"/>
            <a:r>
              <a:rPr sz="1200" b="0" i="0">
                <a:solidFill>
                  <a:srgbClr val="333333"/>
                </a:solidFill>
                <a:latin typeface="Consolas"/>
              </a:rPr>
              <a:t>2020 and 2021 omitted from SEDA — state tests were canceled or partially administered nationwide. This is the SEDA team's standard recovery-window convention.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F3A5F"/>
                </a:solidFill>
                <a:latin typeface="Calibri"/>
              </a:rPr>
              <a:t>Grade pooling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333333"/>
                </a:solidFill>
                <a:latin typeface="Calibri"/>
              </a:rPr>
              <a:t>G3-G5 ELA only. Pooled within district × year, weighted by tested-student count per grade. Math excluded (this analysis is about ELA).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960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District universe — 50 targeted, 49 with valid SEDA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2588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Troy SD + 7 MI affluent peers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(Bloomfield Hills, Birmingham, Northville, Novi, Rochester, Walled Lake, West Bloomfield)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4 CA workbook peers + 4 CA outperformers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(Palo Alto, Milpitas, Walnut Valley, Dublin + Modesto, Sanger, Garden Grove, Long Beach)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6 TX districts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(Aldine, Brownsville, Coppell, Plano, Frisco, Spring Branch)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3 NJ peers + 3 WA SoR-shift peers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   (WW-Plainsboro, Millburn, Princeton + Bellevue, Issaquah, Lake Washington)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Steubenville (OH gold standard) + Detroit (MI in-state outperformer)</a:t>
            </a:r>
          </a:p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•  17 Education Scorecard 2026 DOTR outperformers across KY, LA, MS, TN, GA, MD, WI, DE, VA, CT, NY, PA, IN, MO, NC, NH, IA, ID, 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58521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F3A5F"/>
                </a:solidFill>
                <a:latin typeface="Calibri"/>
              </a:rPr>
              <a:t>Counts referenced elsewhere in the deck: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08076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333333"/>
                </a:solidFill>
                <a:latin typeface="Calibri"/>
              </a:rPr>
              <a:t>20 = ELA-relevant DOTR districts (17 Math+Reading + 3 Reading-only).  28 = predecessor state-test analysis (raw % proficient on M-STEP/CAASPP/STAAR/etc., before SEDA expansion) — see reports/quantitative_analysis.md.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22 / 27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(1 of 5) — Primary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Each cited claim in the deck is anchored to one of these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92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144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Stanford Education Data Archive 2025.1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155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Reardon, S. F., et al. (2026). SEDA v2025.1. https://edopportunity.org/trends/data/downloads/  •  Coverage 2009-2025; cohort-standardized scale anchored to NAEP.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807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258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SEDA 6.0 (geographic district file)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270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Reardon, S. F., et al. (2026). SEDA v6.0. https://edopportunity.org/opportunity/data/downloads/  •  Coverage 2009-2019; used to validate pre-COVID baseline.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922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7373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Education Scorecard 2026 "Districts on the Rise"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385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Harvard / Stanford / Dartmouth. https://educationscorecard.org/districts-on-the-rise/  •  17 demographically-adjusted post-COVID outperformer districts.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488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2037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1488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Troy achievement workbook (8 districts)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3500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tsd-achievement.karpowitsch.org master workbook  •  G3-G7 × subgroup × year, 2019-2025, 5,497 demographic cells.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603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151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5603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CAASPP Smarter Balanced Research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7614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https://caaspp-elpac.ets.org/caaspp/ResearchFileListSB  •  CA district-level ELA, 2019-2025; used for Modesto, Sanger, Garden Grove, Long Beach.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718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266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9718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Texas TAPR / TEA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1729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https://rptsvr1.tea.texas.gov/perfreport/tapr/  •  STAAR reading G3-G5 for Aldine, Brownsville, Spring Branch, Plano, Frisco, Coppell.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4381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3832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Louisiana DOE LEAP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5844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https://doe.louisiana.gov/students/assessments/  •  West Baton Rouge Parish 2022-2025 LEAP Mastery+.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947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8496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7947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Mississippi DOE MAAP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9959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https://reports.mdek12.org/  •  Starkville-Oktibbeha 2019-2025 (via tpcref.org compilation).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062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2611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2062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Tennessee Department of Education TCAP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4074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https://www.tn.gov/education/  •  Johnson City Schools 2019-2025 district assessment files.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177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6725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6177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Michigan School Data CEPI / M-STEP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8188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https://www.mischooldata.org/  •  Troy SD trajectory + statewide G3-G5 averages.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292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0840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0292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Ohio Department of Education / OST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2303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education.ohio.gov  •  Steubenville City Schools + statewide G3-G5 OST averages.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4406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4955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4406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Washington OSPI Smarter Balanced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6418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https://washingtonstatereportcard.ospi.k12.wa.us/  •  Bellevue / Issaquah / Lake Washington SBA.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8521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9070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8521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F3A5F"/>
                </a:solidFill>
                <a:latin typeface="Calibri"/>
              </a:rPr>
              <a:t>Oakland County 115 — MI affluent peer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60533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  <a:latin typeface="Calibri"/>
              </a:rPr>
              <a:t>https://oaklandcounty115.com/2025/09/14/test-results-show-reading-proficiency-among-third-and-fourth-graders-across-oakland-county/  •  G3+G4 ELA 2025 head-to-head.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23 / 27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(2 of 5) — Curriculum evidence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EdReports / Reading League / ESSA / WWC / MDE / Knowledge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601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EdReports.org curriculum reviews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20700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https://edreports.org/  •  Green/Yellow/Red gateway ratings: Text Quality / Building Knowledge / Foundational Skills / Usability. v2.0 rubric (2024-25) explicitly assesses SoR alignment.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82880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69164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The Reading League — Curriculum Navigation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93852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https://www.thereadingleague.org/curriculum-navigation-reports/  •  SoR-only evaluation: "red flag practices" (three-cueing, leveled-text decoding, lack of phoneme-grapheme systematicity).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7744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6032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4231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Evidence for ESSA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67004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https://www.evidenceforessa.org/  •  ESSA tiers (Strong, Moderate, Promising, Rationale) for K-5 ELA programs. Used for 95 Phonics (ESSA Strong), IMSE OG+ (Promising), etc.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9184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1546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What Works Clearinghouse / 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0156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https://ies.ed.gov/ncee/wwc/  •  Federal evidence registry. Reviewed Orton-Gillingham-based interventions; found insufficient qualifying studies.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8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02336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862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Michigan MDE Section 35m Tier-1 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3308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https://www.michigan.gov/mde/services/academic-standards/literacy/literacy-grants/section-35m  •  State-approved K-5 evidence-based ELA curricula (Dec 2025 release).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572000"/>
            <a:ext cx="502920" cy="64008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754880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61772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alibri"/>
              </a:rPr>
              <a:t>Knowledge Matters Campaign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64608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333333"/>
                </a:solidFill>
                <a:latin typeface="Calibri"/>
              </a:rPr>
              <a:t>https://knowledgematterscampaign.org/  •  Recognized knowledge-building K-5 ELA programs: CKLA, EL Education, Wit &amp; Wisdom, ARC Core, Bookworms, Fishtank.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24 / 27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(3 of 5) — Science of Reading research &amp; journalism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Independent scholarly + investigative sources cited in mechanism slide and curriculum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1440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Emily Hanford / APM Reports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4300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"Sold a Story" podcast series + investigations. https://features.apmreports.org/sold-a-story/  •  Documented Calkins UoS / F&amp;P / Reading Recovery critiques.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APM Reports — EdReports &amp; SoR (March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9164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https://www.apmreports.org/story/2025/03/06/edreports-reading-curriculum-reviews-science-of-reading  •  Investigation of EdReports all-green ratings on basal programs (Wonders, myView, Into Reading).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214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0116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Natalie Wexler — The Knowledge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24028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Avery (2019). https://nataliewexler.com/the-knowledge-gap/  •  Framework that comprehension depends on background knowledge built via coherent content sequence.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6032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700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56032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Tim Shanahan — Shanahan on Literacy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7889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https://www.shanahanonliteracy.com/  •  Reading research and instructional practice. Strategy instruction critique cited in mechanism slide.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10896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2186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10896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Mark Seidenberg — Language at the Speed of 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33756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Basic Books (2017). https://seidenbergreading.net/  •  Cognitive science of reading; critique of balanced literacy.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6732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65760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Lane et al. (2025) — UFLI Foundations RRQ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88620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Reading Research Quarterly. https://ila.onlinelibrary.wiley.com/doi/10.1002/rrq.607  •  ES &gt; 1.0 SD on early-literacy outcomes; districtwide Florida pilot.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20624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31596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0624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Karin Chenoweth — Districts That Succeed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43484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Harvard Education Press (2021)  •  Sustained-outperformer district case studies (Steubenville, Seaford, Lane OK, etc.).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75488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864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7548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Success for All Foundation — Steubenville case 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98348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https://www.successforall.org/wp-content/uploads/2025/05/CS_Steubenville-1.pdf  •  25-year SFA implementation; 93-100% G3 reading proficient.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30352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41324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30352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The 74 Million — Steubenville coverage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553212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https://www.the74million.org/article/why-steubenville-ohio-might-be-the-best-school-district-in-america/  •  Independent journalism on Steubenville.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852160"/>
            <a:ext cx="502920" cy="502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96188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585216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Calibri"/>
              </a:rPr>
              <a:t>Karen Vaites — Southern Surge analysis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6080760"/>
            <a:ext cx="106984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33333"/>
                </a:solidFill>
                <a:latin typeface="Calibri"/>
              </a:rPr>
              <a:t>https://www.karenvaites.org/p/the-southern-surge-understanding  •  Mississippi / Louisiana / Tennessee NAEP gains tied to SoR adoption.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25 /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(4 of 5) — District case-study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Specific districts cited in the deck: adoption +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9692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9144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Kentucky Teacher — Marion County coverage (May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1155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https://www.kentuckyteacher.org/news/2026/05/kentucky-ranks-among-nations-best-for-student-recovery-5th-in-reading-8th-in-mathematics/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807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258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Kentucky Reading Academies / Lexia LETRS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270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https://www.lexialearning.com/kentucky-letrs  •  https://www.education.ky.gov/curriculum/EarlyLiteracy/Pages/ky_reading_Academies.aspx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373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17922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17373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Education Scorecard PDFs — case studies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9385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Marion County: https://educationscorecard.org/wp-content/uploads/2026/05/KY_Marion-County_Case-Study.pdf  •  20 DOTR district PDFs in /research/escorecard_pdfs/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1488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2037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1488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Fond du Lac SD — Strategic Plan + Studer Education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3500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https://www.fonddulac.k12.wi.us/page/strategic-plan  •  Aug 2022 strategic plan; CKLA + Amplify ELA + Bridges + TCI + Mystery Science stack.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5603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151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25603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UVA-PLE / Darden Partnership for Leaders in Education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27614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https://www.darden.virginia.edu/uva-ple/  •  Leadership and instructional-redesign partnership underlying Fond du Lac's turnaround.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718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266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29718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Palo Alto USD — Every Student Reads Initiative (ESRI)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1729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https://www.pausd.org/learning/esri  •  Exited Calkins UoS 2021; mandatory Orton-Gillingham K-3 training.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4381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33832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Spring Branch ISD — Texas STR framework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35844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https://www.springbranchisd.com/studentsfamilies/literacy  •  TX Science of Teaching Reading state mandate.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7947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8496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7947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West Baton Rouge / LA DOE Wit &amp; Wisdom adoption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39959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https://doe.louisiana.gov/docs/default-source/curricular-resources/great-minds-pbc---wit-wisdom-with-fundations-and-geodes-ela-grades-k-3-(-2023).pdf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2062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2611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42062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WI Act 20 / Wisconsin Reads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44074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https://dpi.wi.gov/wi-reads/curriculum  •  State science-of-reading mandate (2023) with approved curriculum list.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61772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67258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461772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Tennessee Department of Education — Reading 360 + HQIM mandate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81888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https://www.tn.gov/education/reading-360.html  •  State SoR PD (60 hours) + approved K-5 curriculum list.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02920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508406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02920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EdWeek — "Inside the Long Beach Way" (2007)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523036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https://www.edweek.org/leadership/inside-the-long-beach-way/2007/09  •  Carl Cohn era Open Court tradition documented.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544068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49554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" y="544068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Amplify — Aldine ISD CKLA adoption (Jul 2020)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5840" y="564184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https://amplify.com/news/aldine-isd-adopts-amplifys-integrated-early-literacy-suite-supports-students-in-learning-to-read-confidently-by-third-grade/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585216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90702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5840" y="585216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Detroit DPSCD + EL Education — Skillman Foundation grant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605332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https://www.skillman.org/blog/standardswork-receives-grant-to-support-implementation-of-transformative-literacy-curriculum-in-detroit-public-schools/  •  https://www.detroitk12.org/academics/core-curriculum/english-language-arts-and-literacy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6263640"/>
            <a:ext cx="502920" cy="384048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65760" y="63185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840" y="6263640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Calibri"/>
              </a:rPr>
              <a:t>NYC Reads — Chalkbeat / EdWeek / K-12 Dive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5840" y="6464808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Chalkbeat: https://www.chalkbeat.org/newyork/2025/07/07/nyc-reads-solves-screener-data-eric-adams-school-curriculum-mandate/  •  EdWeek: Phase 1 vs Phase 2 confidence data (Jul 2025).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26 / 27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References (5 of 5) — Project artifacts + how to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75488"/>
            <a:ext cx="11430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CDDEE"/>
                </a:solidFill>
                <a:latin typeface="Calibri"/>
              </a:rPr>
              <a:t>Every claim in the deck is reproducible from these local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A5F"/>
                </a:solidFill>
                <a:latin typeface="Consolas"/>
              </a:rPr>
              <a:t>/Users/Alex/Downloads/tsd-k5ela/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852160" cy="5029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5080" y="1280160"/>
            <a:ext cx="5486400" cy="5029200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Synthesis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README.md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73736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Master synthesis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7510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Troy_K5_ELA_Executive_Summary_v4.pptx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9751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This deck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35000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Quantitative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700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research/quantitative_analysis.md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6700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Predecessor state-test analysis (28 districts on M-STEP/CAASPP/STAAR raw 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90779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research/seda_2025_analysis.md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9077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SEDA 2025.1 pre/post-COVID + subgroup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14553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research/master_dataset.csv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314553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2,544 rows: dist × year × grade × subgroup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38328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research/seda_2025_pooled.json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40" y="338328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SEDA cs G3-G5 pooled by year × subgroup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62102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research/seda_subgroup_delta.csv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40" y="362102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Pre/post-COVID Δ per subgroup × district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5876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research/charts/*.png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385876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19 visualization PNGs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336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Curriculum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5371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curriculum-evidence/curriculum_evaluations.md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455371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All 14 Section 35m curricula evaluated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9145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curriculum-evidence/collab_lit_ufli_pressure_test.md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40" y="479145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Collab Lit + UFLI critique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417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District 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173736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district-profiles/peer_district_cases.md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173736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Peer-district transitions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197510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district-profiles/education_scorecard_2026_dotr.md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66960" y="197510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20 DOTR outperformer case studies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221284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district-profiles/sustained_outperformers.md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221284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17 sustained-outperformer districts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245059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research/escorecard_pdfs/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245059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20 official Ed Scorecard PDFs + text extracts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28254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Raw 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9400" y="314553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research/G3-G7_Achievement_Data.xlsx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314553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Original Troy workbook (8 districts)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338328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research/seda/seda_admindist_long_cs_2025.1.csv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38328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SEDA 2025.1 national file (88 MB)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362102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research/seda/seda_state_long_cs_2025.1.csv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60" y="362102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SEDA 2025.1 state averages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29400" y="3858768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research/raw_data_*.csv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6960" y="3858768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Per-region district CSVs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409651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research/seda_2025_state.json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4096512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State SEDA averages keyed by state+year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447141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7A3D"/>
                </a:solidFill>
                <a:latin typeface="Calibri"/>
              </a:rPr>
              <a:t>Build &amp; reproducibility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4791456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build_deck_v4.py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479145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Python script that builds this deck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29400" y="5029200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research/district_universe.md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5029200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Universe definition (50 districts)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29400" y="5266944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1" i="0">
                <a:solidFill>
                  <a:srgbClr val="333333"/>
                </a:solidFill>
                <a:latin typeface="Consolas"/>
              </a:rPr>
              <a:t>research/troy_data_brief.md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5266944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M-STEP trajectory + subgroup tables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707070"/>
                </a:solidFill>
                <a:latin typeface="Calibri"/>
              </a:rPr>
              <a:t>Troy SD K-5 ELA — Executive Summary v4 (with citations + appendix)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07070"/>
                </a:solidFill>
                <a:latin typeface="Calibri"/>
              </a:rPr>
              <a:t>27 / 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