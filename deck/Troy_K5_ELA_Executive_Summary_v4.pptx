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v4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Project folder: /Users/Alex/Downloads/tsd-k5ela/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2860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630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(grade-level units)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† small-N subgroup (~3-4% of Troy)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4290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566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9319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749807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572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Big gain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Spring Branch     +0.284   TX STR³⁶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Palo Alto USD     +0.132   ESRI³⁵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West Baton Rouge  +0.132   W&amp;W³⁷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Johnson City TN   +0.121   TN HQIM³⁹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100% of districts in this tier run structured-literacy programs.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Next-strongest gainer outside this tier: Frisco ISD (TX, BL) at +0.097.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965960"/>
            <a:ext cx="3703320" cy="45720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Moderate gain  (+0.05 to +0.10)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Frisco ISD        +0.097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Milpitas USD      +0.090   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Issaquah SD       +0.087   Benchmark '24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Dublin USD        +0.084   Benchmark+Heggerty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Coppell ISD       +0.068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Princeton PS      +0.060   NJ peer (BL?)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 of BL, Benchmark, and recently-adopted SoR.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965960"/>
            <a:ext cx="3703320" cy="45720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Flat or declined  (Δ &lt; +0.05)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36 of 49 districts had Δ &lt; 0; 3 more held flat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(Bloomfield Hills, Starkville, Dover).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SoR districts that DECLINED include: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Detroit DPSCD, Aldine, Brownsville, Baltimore,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Bethlehem, Roanoke County, Seaford, Steubenville,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Fond du Lac, Brandywine, Sikeston, East Chicago…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Adopting SoR alone is necessary but not sufficient.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Recovery requires curriculum + sustained PD + screeners + 2-3 year cohort lag (see slide 18).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54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800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16636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19 of 20  =  95% running, patching, or shifting toward SoR-aligned curriculum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Bloomfield Hills    +0.026   ← best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Birmingham PS       −0.017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Walled Lake         −0.089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Northville PS       −0.087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Novi CSD            −0.103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Rochester CSD       −0.215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West Bloomfield     −0.243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            −0.253   ◄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425196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Birmingham           75.4%   (4%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Bloomfield Hills     70.6%   (9%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Novi                 68.5%   (49%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Rochester            67.9%   (17%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66.3%   (37% Asian)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463040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Subgroup        Rank      Δ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Asian            34/35   −0.347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White            44/46   −0.231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Not-ECD         42/46   −0.252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All                  47/49   −0.253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Black            27/33   −0.274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EconDis         32/47   −0.147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Hispanic     12/39   −0.031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99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99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993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132320" cy="6537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914400"/>
            <a:ext cx="429768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51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41732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718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33756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937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303520"/>
            <a:ext cx="4023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57200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57200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40080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in the deck is reproducible from these local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/Users/Alex/Downloads/tsd-k5ela/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Troy_K5_ELA_Executive_Summary_v4.pptx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This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50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Quantitative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research/quantitative_analysis.md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26700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Predecessor state-test analysis (28 districts on M-STEP/CAASPP/STAAR raw 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077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research/seda_2025_analysis.md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29077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pre/post-COVID + subgroup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research/master_dataset.csv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research/seda_2025_pooled.json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research/seda_subgroup_delta.csv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research/charts/*.png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19 visualization PNGs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336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Curriculum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537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curriculum-evidence/curriculum_evaluations.md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40" y="45537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14 Section 35m curricula evaluated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curriculum-evidence/collab_lit_ufli_pressure_test.md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4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District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district-profiles/peer_district_cases.md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Peer-district transitions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district-profiles/education_scorecard_2026_dotr.md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district-profiles/sustained_outperformers.md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17 sustained-outperformer districts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research/escorecard_pdfs/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official Ed Scorecard PDFs + text extracts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Raw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research/G3-G7_Achievement_Data.xlsx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Original Troy workbook (8 districts)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research/seda/seda_admindist_long_cs_2025.1.csv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national file (88 MB)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research/seda/seda_state_long_cs_2025.1.csv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state averages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research/raw_data_*.csv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Per-region district CSVs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research/seda_2025_state.json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 SEDA averages keyed by state+year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714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Build &amp; reproducibility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build_deck_v4.py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Python script that builds this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50292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research/district_universe.md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60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Universe definition (50 districts)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526694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research/troy_data_brief.md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526694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M-STEP trajectory + subgroup tables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