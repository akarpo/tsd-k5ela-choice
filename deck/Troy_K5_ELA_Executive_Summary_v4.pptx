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v4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Project folder: /Users/Alex/Downloads/tsd-k5ela/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4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districts with the STRONGEST post-COVID recovery¹ (Δ ≥ +0.10 grade levels) all run structured-literacy programs.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Spring Branch³⁶ +0.28  •  Palo Alto³⁵ +0.13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W. Baton Rouge³⁷ +0.13  •  Johnson City³⁹ +0.12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Next-strongest BL gainer: Frisco ISD at +0.097.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of Troy's stronger alternatives have direct post-COVID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CKLA →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→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→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Hispanic        −0.10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(grade-level units)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572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 gain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Spring Branch     +0.284   TX STR³⁶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Palo Alto USD     +0.132   ESRI³⁵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West Baton Rouge  +0.132   W&amp;W³⁷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Johnson City TN   +0.121   TN HQIM³⁹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100% of districts in this tier run structured-literacy programs.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Next-strongest gainer outside this tier: Frisco ISD (TX, BL) at +0.097.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965960"/>
            <a:ext cx="3703320" cy="45720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Moderate gain  (+0.05 to +0.10)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Frisco ISD        +0.097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Milpitas USD      +0.090   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Issaquah SD       +0.087   Benchmark '24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Dublin USD        +0.084   Benchmark+Heggerty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Coppell ISD       +0.068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Princeton PS      +0.060   NJ peer (BL?)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 of BL, Benchmark, and recently-adopted SoR.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965960"/>
            <a:ext cx="3703320" cy="45720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Decliners  (Δ &lt;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2121"/>
                </a:solidFill>
                <a:latin typeface="Calibri"/>
              </a:rPr>
              <a:t>36 districts — both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SoR districts that DECLINED include: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Detroit DPSCD, Aldine, Brownsville, Baltimore,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Bethlehem, Roanoke County, Seaford, Steubenville,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Fond du Lac, Brandywine, Sikeston, East Chicago…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Adopting SoR alone is necessary but not sufficient.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Recovery requires curriculum + sustained PD + screeners + 2-3 year cohort lag (see slide 18).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Bloomfield Hills    +0.026   ← best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Birmingham PS       −0.017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Walled Lake         −0.089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Northville PS       −0.087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Novi CSD            −0.103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Rochester CSD       −0.215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West Bloomfield     −0.243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            −0.253   ◄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2519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Birmingham           75.4%   (4%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Bloomfield Hills     70.6%   (9%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Novi                 68.5%   (49%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Rochester            67.9%   (17%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66.3%   (37% Asian)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District universe (N = 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Troy SD (subject district) + 7 MI affluent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4 CA workbook peers + 4 CA outperformers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6 TX districts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3 NJ peers + 3 WA SoR-shift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Steubenville (OH gold standard)  + Detroit (MI in-state outperformer)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17 Education Scorecard 2026 DOTR outperformers across KY, LA, MS, TN, GA, MD, WI, DE, VA, CT, NY, PA, IN, MO, NC, NH, IA, ID, 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in the deck is reproducible from these local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/Users/Alex/Downloads/tsd-k5ela/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Troy_K5_ELA_Executive_Summary_v4.pptx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Quantitative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research/quantitative_analysis.md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6700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analysis + 6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research/seda_2025_analysis.md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9077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pre/post-COVID + subgroup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research/master_dataset.csv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research/seda_2025_pooled.json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research/seda_subgroup_delta.csv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research/charts/*.png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19 visualization PNGs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Curriculum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curriculum-evidence/curriculum_evaluations.md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45537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14 Section 35m curricula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curriculum-evidence/collab_lit_ufli_pressure_test.md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District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district-profiles/peer_district_cases.md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Peer-district transitions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district-profiles/education_scorecard_2026_dotr.md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district-profiles/sustained_outperformers.md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17 sustained-outperformer districts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research/escorecard_pdfs/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official Ed Scorecard PDFs + text extracts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Raw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research/G3-G7_Achievement_Data.xlsx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Original Troy workbook (8 districts)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research/seda/seda_admindist_long_cs_2025.1.csv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national file (88 MB)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research/seda/seda_state_long_cs_2025.1.csv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state averages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research/raw_data_*.csv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Per-region district CSVs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research/seda_2025_state.json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 SEDA averages keyed by state+year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714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Build &amp; reproducibility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build_deck_v4.py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Python script that builds this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0292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research/district_universe.md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Universe definition (50 districts)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2669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research/troy_data_brief.md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52669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M-STEP trajectory + subgroup tables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