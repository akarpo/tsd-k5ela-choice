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2860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97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63040"/>
            <a:ext cx="32918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(grade-level units)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† small-N subgroup (~3-4% of Troy)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4290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5661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39319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749807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572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Big gain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Spring Branch     +0.284   TX STR³⁶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Palo Alto USD     +0.132   ESRI³⁵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West Baton Rouge  +0.132   W&amp;W³⁷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Johnson City TN   +0.121   TN HQIM³⁹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100% of districts in this tier run structured-literacy programs.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Next-strongest gainer outside this tier: Frisco ISD (TX, BL) at +0.097.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965960"/>
            <a:ext cx="3703320" cy="45720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Moderate gain  (+0.05 to +0.10)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Frisco ISD        +0.097   BL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Milpitas USD      +0.090   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Issaquah SD       +0.087   Benchmark '24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Dublin USD        +0.084   Benchmark+Heggerty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Coppell ISD       +0.068   BL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Princeton PS      +0.060   NJ peer (BL?)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 of BL, Benchmark, and recently-adopted SoR.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965960"/>
            <a:ext cx="3703320" cy="45720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Flat or declined  (Δ &lt; +0.05)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36 of 49 districts had Δ &lt; 0; 3 more held flat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(Bloomfield Hills, Starkville, Dover).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SoR districts that DECLINED include: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Detroit DPSCD, Aldine, Brownsville, Baltimore,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Bethlehem, Roanoke County, Seaford, Steubenville,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Fond du Lac, Brandywine, Sikeston, East Chicago…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Adopting SoR alone is necessary but not sufficient.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Recovery requires curriculum + sustained PD + screeners + 2-3 year cohort lag (see slide 19).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The variable that differs is curriculum.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05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Pre/Post-COVID Δ  (MI affluent peers)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41732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+0.026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7080" y="141732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7A3D"/>
                </a:solidFill>
                <a:latin typeface="Calibri"/>
              </a:rPr>
              <a:t>◄ best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0078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70078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8424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Walled Lake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198424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267712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26771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55117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55117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−0.103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83464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83464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11810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311810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40156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0156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7080" y="340156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02121"/>
                </a:solidFill>
                <a:latin typeface="Calibri"/>
              </a:rPr>
              <a:t>◄ worst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2025 G4 ELA M-STEP¹⁰,¹³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429768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Birmingham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429768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75.4%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27080" y="429768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(4% Asian)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58114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458114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70.6%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27080" y="4581144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(9% Asian)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86460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Novi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486460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68.5%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7080" y="486460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(49% Asian)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148072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Rochester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14807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67.9%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7080" y="5148072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(17% Asian)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543153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43153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  <a:latin typeface="Consolas"/>
              </a:rPr>
              <a:t>66.3%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27080" y="5431536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B02121"/>
                </a:solidFill>
                <a:latin typeface="Calibri"/>
              </a:rPr>
              <a:t>(37% Asian)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5852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B02121"/>
                </a:solidFill>
                <a:latin typeface="Calibri"/>
              </a:rPr>
              <a:t>Troy at G4 sits BELOW four MI peers with smaller Asian populations.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Troy's worst subgroup declines are the affluent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Across 7 SEDA subgroups, Troy ranks bottom-5 on 5 of them — including the demographics affluence should protect</a:t>
            </a:r>
          </a:p>
        </p:txBody>
      </p:sp>
      <p:pic>
        <p:nvPicPr>
          <p:cNvPr id="5" name="Picture 4" descr="chart15_troy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315200" cy="46551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63840" y="914400"/>
            <a:ext cx="411480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051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Troy SEDA Δ rank per subgroup¹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463040"/>
            <a:ext cx="3840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Subgroup        Rank      Δ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Asian            34/35   −0.347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White            44/46   −0.231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Not-ECD         42/46   −0.252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All                  47/49   −0.253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Black            27/33   −0.274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EconDis         32/47   −0.147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Hispanic     12/39   −0.031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5029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The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3949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MORE affluent the subgroup, the WORSE Troy's decline.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exact inverse of what "demographics protect against COVID disruption" predicts.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24408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749039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00584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B02121"/>
                </a:solidFill>
                <a:latin typeface="Calibri"/>
              </a:rPr>
              <a:t>Pre→Post-COVID Δ on M-STEP %Adv+Prof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371600"/>
            <a:ext cx="35204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              SWD     non-SWD   State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Grade 3      −11.6pp   −6.7pp   −5.0pp ◄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Grade 4       −1.6pp   −6.7pp   −2.1pp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Grade 5       −4.6pp   −7.2pp   −2.2pp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G3 SWD fell 1.7× faster than non-SWD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— and at the foundational reading grade.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3611880"/>
            <a:ext cx="3749039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3703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069080"/>
            <a:ext cx="3520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 was 37.1% Adv+Prof pre-COVID; it is now 25.4%.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 Troy SWD G3 was 7.6pp BELOW state All. Today it is 14.4pp BELOW state All — the gap nearly doubled.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specifically engineered for struggling readers: explicit phonics, decodable text, knowledge-building. The students who benefit MOST from SoR are the ones falling fastest at Troy.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the "regression-to-the-mean for high-achievers" defense — SWD students aren't high-achievers.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Two independent sources (SEDA cs scale on 49 districts; MDE M-STEP on Troy subgroups) converge on the same conclusion: the subgroups that should benefit most from SoR are the ones declining fastest under the current curriculum.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999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99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993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132320" cy="6537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914400"/>
            <a:ext cx="429768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0515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41732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9718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33756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937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303520"/>
            <a:ext cx="4023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57200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57200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40080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K-2 Acadience/DIBELS with intervention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